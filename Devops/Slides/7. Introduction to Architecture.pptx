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5" r:id="rId6"/>
    <p:sldId id="266" r:id="rId7"/>
    <p:sldId id="267" r:id="rId8"/>
    <p:sldId id="260" r:id="rId9"/>
    <p:sldId id="261" r:id="rId10"/>
    <p:sldId id="268" r:id="rId11"/>
    <p:sldId id="269" r:id="rId12"/>
    <p:sldId id="270" r:id="rId13"/>
    <p:sldId id="262" r:id="rId14"/>
    <p:sldId id="264" r:id="rId15"/>
    <p:sldId id="26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1C96BD4-5769-5396-8C8D-AC412B288957}" v="1724" dt="2024-11-04T12:09:30.1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9" y="3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2BC0D806-4872-4E59-BA0B-3CA10DD18B91}"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112A4FAF-23CB-4A60-810F-6F6CA70F5C38}">
      <dgm:prSet/>
      <dgm:spPr/>
      <dgm:t>
        <a:bodyPr/>
        <a:lstStyle/>
        <a:p>
          <a:r>
            <a:rPr lang="en-US"/>
            <a:t>Because of these complexities it is very common practice to use specialist software for data management – a Database.</a:t>
          </a:r>
        </a:p>
      </dgm:t>
    </dgm:pt>
    <dgm:pt modelId="{2CC4BECF-F083-46BB-A166-A20073D1D64C}" type="parTrans" cxnId="{9CDDB71A-F30E-40E2-9C23-4DB73C29E0C4}">
      <dgm:prSet/>
      <dgm:spPr/>
      <dgm:t>
        <a:bodyPr/>
        <a:lstStyle/>
        <a:p>
          <a:endParaRPr lang="en-US"/>
        </a:p>
      </dgm:t>
    </dgm:pt>
    <dgm:pt modelId="{5C3530C6-44A6-4397-A39F-FF831ABC7F20}" type="sibTrans" cxnId="{9CDDB71A-F30E-40E2-9C23-4DB73C29E0C4}">
      <dgm:prSet/>
      <dgm:spPr/>
      <dgm:t>
        <a:bodyPr/>
        <a:lstStyle/>
        <a:p>
          <a:endParaRPr lang="en-US"/>
        </a:p>
      </dgm:t>
    </dgm:pt>
    <dgm:pt modelId="{16EB3577-A33D-493C-8F6C-4CB296C165FB}">
      <dgm:prSet/>
      <dgm:spPr/>
      <dgm:t>
        <a:bodyPr/>
        <a:lstStyle/>
        <a:p>
          <a:r>
            <a:rPr lang="en-US"/>
            <a:t>There are many different types of databases – Relational, NoSql, Graph, Vector, Data Warehouses, Data Lakes etc.</a:t>
          </a:r>
        </a:p>
      </dgm:t>
    </dgm:pt>
    <dgm:pt modelId="{AA2196CD-83B3-4924-9597-7CD77F9F7DD0}" type="parTrans" cxnId="{3C126937-2225-4CD8-AA22-FDE595992AEB}">
      <dgm:prSet/>
      <dgm:spPr/>
      <dgm:t>
        <a:bodyPr/>
        <a:lstStyle/>
        <a:p>
          <a:endParaRPr lang="en-US"/>
        </a:p>
      </dgm:t>
    </dgm:pt>
    <dgm:pt modelId="{D4D2C458-DD76-4A13-BBBA-8801DBADF92B}" type="sibTrans" cxnId="{3C126937-2225-4CD8-AA22-FDE595992AEB}">
      <dgm:prSet/>
      <dgm:spPr/>
      <dgm:t>
        <a:bodyPr/>
        <a:lstStyle/>
        <a:p>
          <a:endParaRPr lang="en-US"/>
        </a:p>
      </dgm:t>
    </dgm:pt>
    <dgm:pt modelId="{BC2CE088-042A-4820-92E1-642E29992775}">
      <dgm:prSet/>
      <dgm:spPr/>
      <dgm:t>
        <a:bodyPr/>
        <a:lstStyle/>
        <a:p>
          <a:r>
            <a:rPr lang="en-US"/>
            <a:t>Where there are many users, we also need to split functionality between the user's view and the common data and functionality, so users can be operating on different tasks and have different views.</a:t>
          </a:r>
        </a:p>
      </dgm:t>
    </dgm:pt>
    <dgm:pt modelId="{059EA74C-D90D-4661-8D3B-D8BEAF23609F}" type="parTrans" cxnId="{C503E970-3EA9-4CC3-9B7F-062A2E1ACB16}">
      <dgm:prSet/>
      <dgm:spPr/>
      <dgm:t>
        <a:bodyPr/>
        <a:lstStyle/>
        <a:p>
          <a:endParaRPr lang="en-US"/>
        </a:p>
      </dgm:t>
    </dgm:pt>
    <dgm:pt modelId="{AF2529B8-64F4-4702-A96A-3A057E0D6973}" type="sibTrans" cxnId="{C503E970-3EA9-4CC3-9B7F-062A2E1ACB16}">
      <dgm:prSet/>
      <dgm:spPr/>
      <dgm:t>
        <a:bodyPr/>
        <a:lstStyle/>
        <a:p>
          <a:endParaRPr lang="en-US"/>
        </a:p>
      </dgm:t>
    </dgm:pt>
    <dgm:pt modelId="{39B2ABD7-68C8-4440-864F-30F1CA19E071}" type="pres">
      <dgm:prSet presAssocID="{2BC0D806-4872-4E59-BA0B-3CA10DD18B91}" presName="root" presStyleCnt="0">
        <dgm:presLayoutVars>
          <dgm:dir/>
          <dgm:resizeHandles val="exact"/>
        </dgm:presLayoutVars>
      </dgm:prSet>
      <dgm:spPr/>
    </dgm:pt>
    <dgm:pt modelId="{15F418E0-3E3B-4CA3-9689-0CA021396784}" type="pres">
      <dgm:prSet presAssocID="{112A4FAF-23CB-4A60-810F-6F6CA70F5C38}" presName="compNode" presStyleCnt="0"/>
      <dgm:spPr/>
    </dgm:pt>
    <dgm:pt modelId="{D719947D-7F29-4329-9A10-8BA0628253FE}" type="pres">
      <dgm:prSet presAssocID="{112A4FAF-23CB-4A60-810F-6F6CA70F5C38}" presName="bgRect" presStyleLbl="bgShp" presStyleIdx="0" presStyleCnt="3"/>
      <dgm:spPr/>
    </dgm:pt>
    <dgm:pt modelId="{396FA0AC-4874-4EA0-81A5-6665203D9BCB}" type="pres">
      <dgm:prSet presAssocID="{112A4FAF-23CB-4A60-810F-6F6CA70F5C3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grammer"/>
        </a:ext>
      </dgm:extLst>
    </dgm:pt>
    <dgm:pt modelId="{E9F85432-5B3D-48A9-B71C-022563230DC2}" type="pres">
      <dgm:prSet presAssocID="{112A4FAF-23CB-4A60-810F-6F6CA70F5C38}" presName="spaceRect" presStyleCnt="0"/>
      <dgm:spPr/>
    </dgm:pt>
    <dgm:pt modelId="{5FEA0E7F-6AAB-432D-8129-198E468628CE}" type="pres">
      <dgm:prSet presAssocID="{112A4FAF-23CB-4A60-810F-6F6CA70F5C38}" presName="parTx" presStyleLbl="revTx" presStyleIdx="0" presStyleCnt="3">
        <dgm:presLayoutVars>
          <dgm:chMax val="0"/>
          <dgm:chPref val="0"/>
        </dgm:presLayoutVars>
      </dgm:prSet>
      <dgm:spPr/>
    </dgm:pt>
    <dgm:pt modelId="{C4DCB650-6008-403A-AA19-0F8C34C274DD}" type="pres">
      <dgm:prSet presAssocID="{5C3530C6-44A6-4397-A39F-FF831ABC7F20}" presName="sibTrans" presStyleCnt="0"/>
      <dgm:spPr/>
    </dgm:pt>
    <dgm:pt modelId="{847E8FE5-4465-4F7D-BCB8-46871E418AD1}" type="pres">
      <dgm:prSet presAssocID="{16EB3577-A33D-493C-8F6C-4CB296C165FB}" presName="compNode" presStyleCnt="0"/>
      <dgm:spPr/>
    </dgm:pt>
    <dgm:pt modelId="{F0A7E7D6-5379-465B-B738-5C0217F2389B}" type="pres">
      <dgm:prSet presAssocID="{16EB3577-A33D-493C-8F6C-4CB296C165FB}" presName="bgRect" presStyleLbl="bgShp" presStyleIdx="1" presStyleCnt="3"/>
      <dgm:spPr/>
    </dgm:pt>
    <dgm:pt modelId="{DA316D63-296C-4810-B574-E2D4EF5EA592}" type="pres">
      <dgm:prSet presAssocID="{16EB3577-A33D-493C-8F6C-4CB296C165FB}"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11ED43A5-E752-4784-91B5-2A5480646A68}" type="pres">
      <dgm:prSet presAssocID="{16EB3577-A33D-493C-8F6C-4CB296C165FB}" presName="spaceRect" presStyleCnt="0"/>
      <dgm:spPr/>
    </dgm:pt>
    <dgm:pt modelId="{11674C41-8F19-4648-A957-030957055892}" type="pres">
      <dgm:prSet presAssocID="{16EB3577-A33D-493C-8F6C-4CB296C165FB}" presName="parTx" presStyleLbl="revTx" presStyleIdx="1" presStyleCnt="3">
        <dgm:presLayoutVars>
          <dgm:chMax val="0"/>
          <dgm:chPref val="0"/>
        </dgm:presLayoutVars>
      </dgm:prSet>
      <dgm:spPr/>
    </dgm:pt>
    <dgm:pt modelId="{3A698448-F7DF-4EA3-BEEF-9E077F552FAD}" type="pres">
      <dgm:prSet presAssocID="{D4D2C458-DD76-4A13-BBBA-8801DBADF92B}" presName="sibTrans" presStyleCnt="0"/>
      <dgm:spPr/>
    </dgm:pt>
    <dgm:pt modelId="{8168CBD6-69A5-4B45-B72C-D699FB7EE740}" type="pres">
      <dgm:prSet presAssocID="{BC2CE088-042A-4820-92E1-642E29992775}" presName="compNode" presStyleCnt="0"/>
      <dgm:spPr/>
    </dgm:pt>
    <dgm:pt modelId="{0262F29D-D213-42CE-B1CB-227D9E965925}" type="pres">
      <dgm:prSet presAssocID="{BC2CE088-042A-4820-92E1-642E29992775}" presName="bgRect" presStyleLbl="bgShp" presStyleIdx="2" presStyleCnt="3"/>
      <dgm:spPr/>
    </dgm:pt>
    <dgm:pt modelId="{2C4AFF69-A360-4ED1-B170-59B78F825E15}" type="pres">
      <dgm:prSet presAssocID="{BC2CE088-042A-4820-92E1-642E2999277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lowchart"/>
        </a:ext>
      </dgm:extLst>
    </dgm:pt>
    <dgm:pt modelId="{C3DD48E1-FB2A-4100-992C-46E9DCF00E3E}" type="pres">
      <dgm:prSet presAssocID="{BC2CE088-042A-4820-92E1-642E29992775}" presName="spaceRect" presStyleCnt="0"/>
      <dgm:spPr/>
    </dgm:pt>
    <dgm:pt modelId="{1669CD37-1FFD-4AC9-B3ED-67AC0D776C20}" type="pres">
      <dgm:prSet presAssocID="{BC2CE088-042A-4820-92E1-642E29992775}" presName="parTx" presStyleLbl="revTx" presStyleIdx="2" presStyleCnt="3">
        <dgm:presLayoutVars>
          <dgm:chMax val="0"/>
          <dgm:chPref val="0"/>
        </dgm:presLayoutVars>
      </dgm:prSet>
      <dgm:spPr/>
    </dgm:pt>
  </dgm:ptLst>
  <dgm:cxnLst>
    <dgm:cxn modelId="{9CDDB71A-F30E-40E2-9C23-4DB73C29E0C4}" srcId="{2BC0D806-4872-4E59-BA0B-3CA10DD18B91}" destId="{112A4FAF-23CB-4A60-810F-6F6CA70F5C38}" srcOrd="0" destOrd="0" parTransId="{2CC4BECF-F083-46BB-A166-A20073D1D64C}" sibTransId="{5C3530C6-44A6-4397-A39F-FF831ABC7F20}"/>
    <dgm:cxn modelId="{3C126937-2225-4CD8-AA22-FDE595992AEB}" srcId="{2BC0D806-4872-4E59-BA0B-3CA10DD18B91}" destId="{16EB3577-A33D-493C-8F6C-4CB296C165FB}" srcOrd="1" destOrd="0" parTransId="{AA2196CD-83B3-4924-9597-7CD77F9F7DD0}" sibTransId="{D4D2C458-DD76-4A13-BBBA-8801DBADF92B}"/>
    <dgm:cxn modelId="{FC32F86F-B88C-4A43-B7ED-48839E55670C}" type="presOf" srcId="{16EB3577-A33D-493C-8F6C-4CB296C165FB}" destId="{11674C41-8F19-4648-A957-030957055892}" srcOrd="0" destOrd="0" presId="urn:microsoft.com/office/officeart/2018/2/layout/IconVerticalSolidList"/>
    <dgm:cxn modelId="{C503E970-3EA9-4CC3-9B7F-062A2E1ACB16}" srcId="{2BC0D806-4872-4E59-BA0B-3CA10DD18B91}" destId="{BC2CE088-042A-4820-92E1-642E29992775}" srcOrd="2" destOrd="0" parTransId="{059EA74C-D90D-4661-8D3B-D8BEAF23609F}" sibTransId="{AF2529B8-64F4-4702-A96A-3A057E0D6973}"/>
    <dgm:cxn modelId="{109EB392-4174-459D-A149-59B6D8F41246}" type="presOf" srcId="{2BC0D806-4872-4E59-BA0B-3CA10DD18B91}" destId="{39B2ABD7-68C8-4440-864F-30F1CA19E071}" srcOrd="0" destOrd="0" presId="urn:microsoft.com/office/officeart/2018/2/layout/IconVerticalSolidList"/>
    <dgm:cxn modelId="{FA4D3F94-0220-45FE-8D93-A5142AAC7EEF}" type="presOf" srcId="{112A4FAF-23CB-4A60-810F-6F6CA70F5C38}" destId="{5FEA0E7F-6AAB-432D-8129-198E468628CE}" srcOrd="0" destOrd="0" presId="urn:microsoft.com/office/officeart/2018/2/layout/IconVerticalSolidList"/>
    <dgm:cxn modelId="{DF33DAB9-7285-471E-B028-6F8AEFB3B336}" type="presOf" srcId="{BC2CE088-042A-4820-92E1-642E29992775}" destId="{1669CD37-1FFD-4AC9-B3ED-67AC0D776C20}" srcOrd="0" destOrd="0" presId="urn:microsoft.com/office/officeart/2018/2/layout/IconVerticalSolidList"/>
    <dgm:cxn modelId="{D52D5B58-11D1-48FC-8C76-5DD4F86206EF}" type="presParOf" srcId="{39B2ABD7-68C8-4440-864F-30F1CA19E071}" destId="{15F418E0-3E3B-4CA3-9689-0CA021396784}" srcOrd="0" destOrd="0" presId="urn:microsoft.com/office/officeart/2018/2/layout/IconVerticalSolidList"/>
    <dgm:cxn modelId="{45EF253B-7F9D-4881-8A1C-9C968C39E10A}" type="presParOf" srcId="{15F418E0-3E3B-4CA3-9689-0CA021396784}" destId="{D719947D-7F29-4329-9A10-8BA0628253FE}" srcOrd="0" destOrd="0" presId="urn:microsoft.com/office/officeart/2018/2/layout/IconVerticalSolidList"/>
    <dgm:cxn modelId="{879ED307-A103-4A6F-A977-6402DF64F6C5}" type="presParOf" srcId="{15F418E0-3E3B-4CA3-9689-0CA021396784}" destId="{396FA0AC-4874-4EA0-81A5-6665203D9BCB}" srcOrd="1" destOrd="0" presId="urn:microsoft.com/office/officeart/2018/2/layout/IconVerticalSolidList"/>
    <dgm:cxn modelId="{144F2C87-15C5-49FB-8E5C-943074ED03D8}" type="presParOf" srcId="{15F418E0-3E3B-4CA3-9689-0CA021396784}" destId="{E9F85432-5B3D-48A9-B71C-022563230DC2}" srcOrd="2" destOrd="0" presId="urn:microsoft.com/office/officeart/2018/2/layout/IconVerticalSolidList"/>
    <dgm:cxn modelId="{7E0AB1BD-68D2-4F5A-A620-D7217F7937EA}" type="presParOf" srcId="{15F418E0-3E3B-4CA3-9689-0CA021396784}" destId="{5FEA0E7F-6AAB-432D-8129-198E468628CE}" srcOrd="3" destOrd="0" presId="urn:microsoft.com/office/officeart/2018/2/layout/IconVerticalSolidList"/>
    <dgm:cxn modelId="{F7871482-0730-4CA5-8F9E-6A674BDEB57B}" type="presParOf" srcId="{39B2ABD7-68C8-4440-864F-30F1CA19E071}" destId="{C4DCB650-6008-403A-AA19-0F8C34C274DD}" srcOrd="1" destOrd="0" presId="urn:microsoft.com/office/officeart/2018/2/layout/IconVerticalSolidList"/>
    <dgm:cxn modelId="{A7392926-7416-4F91-A64A-B2098A9978DD}" type="presParOf" srcId="{39B2ABD7-68C8-4440-864F-30F1CA19E071}" destId="{847E8FE5-4465-4F7D-BCB8-46871E418AD1}" srcOrd="2" destOrd="0" presId="urn:microsoft.com/office/officeart/2018/2/layout/IconVerticalSolidList"/>
    <dgm:cxn modelId="{07F5C98A-08D4-4223-B9BC-65BDC7C5D291}" type="presParOf" srcId="{847E8FE5-4465-4F7D-BCB8-46871E418AD1}" destId="{F0A7E7D6-5379-465B-B738-5C0217F2389B}" srcOrd="0" destOrd="0" presId="urn:microsoft.com/office/officeart/2018/2/layout/IconVerticalSolidList"/>
    <dgm:cxn modelId="{E32B1AE0-54EB-465C-8DF2-8789A1AD2D06}" type="presParOf" srcId="{847E8FE5-4465-4F7D-BCB8-46871E418AD1}" destId="{DA316D63-296C-4810-B574-E2D4EF5EA592}" srcOrd="1" destOrd="0" presId="urn:microsoft.com/office/officeart/2018/2/layout/IconVerticalSolidList"/>
    <dgm:cxn modelId="{6C3E7964-7427-46E9-96EF-799E5640E828}" type="presParOf" srcId="{847E8FE5-4465-4F7D-BCB8-46871E418AD1}" destId="{11ED43A5-E752-4784-91B5-2A5480646A68}" srcOrd="2" destOrd="0" presId="urn:microsoft.com/office/officeart/2018/2/layout/IconVerticalSolidList"/>
    <dgm:cxn modelId="{02A4FFEB-6756-451D-BF93-4C855D1C66FE}" type="presParOf" srcId="{847E8FE5-4465-4F7D-BCB8-46871E418AD1}" destId="{11674C41-8F19-4648-A957-030957055892}" srcOrd="3" destOrd="0" presId="urn:microsoft.com/office/officeart/2018/2/layout/IconVerticalSolidList"/>
    <dgm:cxn modelId="{D80C58B4-CB1C-4157-BC8F-77B8F83B07B5}" type="presParOf" srcId="{39B2ABD7-68C8-4440-864F-30F1CA19E071}" destId="{3A698448-F7DF-4EA3-BEEF-9E077F552FAD}" srcOrd="3" destOrd="0" presId="urn:microsoft.com/office/officeart/2018/2/layout/IconVerticalSolidList"/>
    <dgm:cxn modelId="{FFC6FCAF-AD6D-4B31-9F81-931337D0A8A0}" type="presParOf" srcId="{39B2ABD7-68C8-4440-864F-30F1CA19E071}" destId="{8168CBD6-69A5-4B45-B72C-D699FB7EE740}" srcOrd="4" destOrd="0" presId="urn:microsoft.com/office/officeart/2018/2/layout/IconVerticalSolidList"/>
    <dgm:cxn modelId="{279DF824-2A2A-4AD0-B964-4A5AFCF7180B}" type="presParOf" srcId="{8168CBD6-69A5-4B45-B72C-D699FB7EE740}" destId="{0262F29D-D213-42CE-B1CB-227D9E965925}" srcOrd="0" destOrd="0" presId="urn:microsoft.com/office/officeart/2018/2/layout/IconVerticalSolidList"/>
    <dgm:cxn modelId="{FCE6CF30-052A-42E7-9CC0-16A0AC7F2BEA}" type="presParOf" srcId="{8168CBD6-69A5-4B45-B72C-D699FB7EE740}" destId="{2C4AFF69-A360-4ED1-B170-59B78F825E15}" srcOrd="1" destOrd="0" presId="urn:microsoft.com/office/officeart/2018/2/layout/IconVerticalSolidList"/>
    <dgm:cxn modelId="{329DE9DD-54DF-4AAF-A0EA-120CEA6879EC}" type="presParOf" srcId="{8168CBD6-69A5-4B45-B72C-D699FB7EE740}" destId="{C3DD48E1-FB2A-4100-992C-46E9DCF00E3E}" srcOrd="2" destOrd="0" presId="urn:microsoft.com/office/officeart/2018/2/layout/IconVerticalSolidList"/>
    <dgm:cxn modelId="{E6B8A0BD-71E3-4D79-827F-AD2E3B60828D}" type="presParOf" srcId="{8168CBD6-69A5-4B45-B72C-D699FB7EE740}" destId="{1669CD37-1FFD-4AC9-B3ED-67AC0D776C2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19947D-7F29-4329-9A10-8BA0628253FE}">
      <dsp:nvSpPr>
        <dsp:cNvPr id="0" name=""/>
        <dsp:cNvSpPr/>
      </dsp:nvSpPr>
      <dsp:spPr>
        <a:xfrm>
          <a:off x="0" y="531"/>
          <a:ext cx="10515600" cy="124470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6FA0AC-4874-4EA0-81A5-6665203D9BCB}">
      <dsp:nvSpPr>
        <dsp:cNvPr id="0" name=""/>
        <dsp:cNvSpPr/>
      </dsp:nvSpPr>
      <dsp:spPr>
        <a:xfrm>
          <a:off x="376522" y="280590"/>
          <a:ext cx="684586" cy="6845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FEA0E7F-6AAB-432D-8129-198E468628CE}">
      <dsp:nvSpPr>
        <dsp:cNvPr id="0" name=""/>
        <dsp:cNvSpPr/>
      </dsp:nvSpPr>
      <dsp:spPr>
        <a:xfrm>
          <a:off x="1437631" y="531"/>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US" sz="2300" kern="1200"/>
            <a:t>Because of these complexities it is very common practice to use specialist software for data management – a Database.</a:t>
          </a:r>
        </a:p>
      </dsp:txBody>
      <dsp:txXfrm>
        <a:off x="1437631" y="531"/>
        <a:ext cx="9077968" cy="1244702"/>
      </dsp:txXfrm>
    </dsp:sp>
    <dsp:sp modelId="{F0A7E7D6-5379-465B-B738-5C0217F2389B}">
      <dsp:nvSpPr>
        <dsp:cNvPr id="0" name=""/>
        <dsp:cNvSpPr/>
      </dsp:nvSpPr>
      <dsp:spPr>
        <a:xfrm>
          <a:off x="0" y="1556410"/>
          <a:ext cx="10515600" cy="124470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316D63-296C-4810-B574-E2D4EF5EA592}">
      <dsp:nvSpPr>
        <dsp:cNvPr id="0" name=""/>
        <dsp:cNvSpPr/>
      </dsp:nvSpPr>
      <dsp:spPr>
        <a:xfrm>
          <a:off x="376522" y="1836468"/>
          <a:ext cx="684586" cy="6845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1674C41-8F19-4648-A957-030957055892}">
      <dsp:nvSpPr>
        <dsp:cNvPr id="0" name=""/>
        <dsp:cNvSpPr/>
      </dsp:nvSpPr>
      <dsp:spPr>
        <a:xfrm>
          <a:off x="1437631" y="1556410"/>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US" sz="2300" kern="1200"/>
            <a:t>There are many different types of databases – Relational, NoSql, Graph, Vector, Data Warehouses, Data Lakes etc.</a:t>
          </a:r>
        </a:p>
      </dsp:txBody>
      <dsp:txXfrm>
        <a:off x="1437631" y="1556410"/>
        <a:ext cx="9077968" cy="1244702"/>
      </dsp:txXfrm>
    </dsp:sp>
    <dsp:sp modelId="{0262F29D-D213-42CE-B1CB-227D9E965925}">
      <dsp:nvSpPr>
        <dsp:cNvPr id="0" name=""/>
        <dsp:cNvSpPr/>
      </dsp:nvSpPr>
      <dsp:spPr>
        <a:xfrm>
          <a:off x="0" y="3112289"/>
          <a:ext cx="10515600" cy="124470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C4AFF69-A360-4ED1-B170-59B78F825E15}">
      <dsp:nvSpPr>
        <dsp:cNvPr id="0" name=""/>
        <dsp:cNvSpPr/>
      </dsp:nvSpPr>
      <dsp:spPr>
        <a:xfrm>
          <a:off x="376522" y="3392347"/>
          <a:ext cx="684586" cy="6845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669CD37-1FFD-4AC9-B3ED-67AC0D776C20}">
      <dsp:nvSpPr>
        <dsp:cNvPr id="0" name=""/>
        <dsp:cNvSpPr/>
      </dsp:nvSpPr>
      <dsp:spPr>
        <a:xfrm>
          <a:off x="1437631" y="3112289"/>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US" sz="2300" kern="1200"/>
            <a:t>Where there are many users, we also need to split functionality between the user's view and the common data and functionality, so users can be operating on different tasks and have different views.</a:t>
          </a:r>
        </a:p>
      </dsp:txBody>
      <dsp:txXfrm>
        <a:off x="1437631" y="3112289"/>
        <a:ext cx="9077968" cy="124470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11/4/2024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archartme.blogspot.co.uk/2014/11/35-cool-building-facades-featuring.html" TargetMode="External"/><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https://creativecommons.org/licenses/by/3.0/"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op view of a circular staircase">
            <a:extLst>
              <a:ext uri="{FF2B5EF4-FFF2-40B4-BE49-F238E27FC236}">
                <a16:creationId xmlns:a16="http://schemas.microsoft.com/office/drawing/2014/main" id="{B0FE16C2-174F-D1DD-B270-5F80762EE835}"/>
              </a:ext>
            </a:extLst>
          </p:cNvPr>
          <p:cNvPicPr>
            <a:picLocks noChangeAspect="1"/>
          </p:cNvPicPr>
          <p:nvPr/>
        </p:nvPicPr>
        <p:blipFill rotWithShape="1">
          <a:blip r:embed="rId2">
            <a:alphaModFix amt="50000"/>
          </a:blip>
          <a:srcRect t="15728" r="-2" b="-2"/>
          <a:stretch/>
        </p:blipFill>
        <p:spPr>
          <a:xfrm>
            <a:off x="20" y="1"/>
            <a:ext cx="12191980" cy="6857999"/>
          </a:xfrm>
          <a:prstGeom prst="rect">
            <a:avLst/>
          </a:prstGeom>
        </p:spPr>
      </p:pic>
      <p:sp>
        <p:nvSpPr>
          <p:cNvPr id="2" name="Title 1"/>
          <p:cNvSpPr>
            <a:spLocks noGrp="1"/>
          </p:cNvSpPr>
          <p:nvPr>
            <p:ph type="ctrTitle"/>
          </p:nvPr>
        </p:nvSpPr>
        <p:spPr>
          <a:xfrm>
            <a:off x="1524000" y="1122362"/>
            <a:ext cx="9144000" cy="2900518"/>
          </a:xfrm>
        </p:spPr>
        <p:txBody>
          <a:bodyPr>
            <a:normAutofit/>
          </a:bodyPr>
          <a:lstStyle/>
          <a:p>
            <a:r>
              <a:rPr lang="en-US">
                <a:solidFill>
                  <a:srgbClr val="FFFFFF"/>
                </a:solidFill>
                <a:ea typeface="Calibri Light"/>
                <a:cs typeface="Calibri Light"/>
              </a:rPr>
              <a:t>Software Architecture</a:t>
            </a:r>
            <a:endParaRPr lang="en-US">
              <a:solidFill>
                <a:srgbClr val="FFFFFF"/>
              </a:solidFill>
              <a:cs typeface="Calibri Light"/>
            </a:endParaRPr>
          </a:p>
        </p:txBody>
      </p:sp>
      <p:sp>
        <p:nvSpPr>
          <p:cNvPr id="3" name="Subtitle 2"/>
          <p:cNvSpPr>
            <a:spLocks noGrp="1"/>
          </p:cNvSpPr>
          <p:nvPr>
            <p:ph type="subTitle" idx="1"/>
          </p:nvPr>
        </p:nvSpPr>
        <p:spPr>
          <a:xfrm>
            <a:off x="1524000" y="4159404"/>
            <a:ext cx="9144000" cy="1098395"/>
          </a:xfrm>
        </p:spPr>
        <p:txBody>
          <a:bodyPr vert="horz" lIns="91440" tIns="45720" rIns="91440" bIns="45720" rtlCol="0" anchor="t">
            <a:normAutofit/>
          </a:bodyPr>
          <a:lstStyle/>
          <a:p>
            <a:r>
              <a:rPr lang="en-US" dirty="0">
                <a:solidFill>
                  <a:srgbClr val="FFFFFF"/>
                </a:solidFill>
                <a:cs typeface="Calibri"/>
              </a:rPr>
              <a:t>DevOps Lifecycle</a:t>
            </a:r>
            <a:endParaRPr lang="en-US" dirty="0"/>
          </a:p>
        </p:txBody>
      </p: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540F3D-BB25-74EC-A639-DCFF742D0C7D}"/>
              </a:ext>
            </a:extLst>
          </p:cNvPr>
          <p:cNvSpPr>
            <a:spLocks noGrp="1"/>
          </p:cNvSpPr>
          <p:nvPr>
            <p:ph type="title"/>
          </p:nvPr>
        </p:nvSpPr>
        <p:spPr>
          <a:xfrm>
            <a:off x="761803" y="350196"/>
            <a:ext cx="4646904" cy="1624520"/>
          </a:xfrm>
        </p:spPr>
        <p:txBody>
          <a:bodyPr anchor="ctr">
            <a:normAutofit/>
          </a:bodyPr>
          <a:lstStyle/>
          <a:p>
            <a:r>
              <a:rPr lang="en-US" sz="4000">
                <a:ea typeface="Calibri Light"/>
                <a:cs typeface="Calibri Light"/>
              </a:rPr>
              <a:t>What is Software Architecture</a:t>
            </a:r>
            <a:endParaRPr lang="en-US" sz="4000"/>
          </a:p>
        </p:txBody>
      </p:sp>
      <p:sp>
        <p:nvSpPr>
          <p:cNvPr id="3" name="Content Placeholder 2">
            <a:extLst>
              <a:ext uri="{FF2B5EF4-FFF2-40B4-BE49-F238E27FC236}">
                <a16:creationId xmlns:a16="http://schemas.microsoft.com/office/drawing/2014/main" id="{712053EB-1EDC-C424-6289-DB5E56D9780C}"/>
              </a:ext>
            </a:extLst>
          </p:cNvPr>
          <p:cNvSpPr>
            <a:spLocks noGrp="1"/>
          </p:cNvSpPr>
          <p:nvPr>
            <p:ph idx="1"/>
          </p:nvPr>
        </p:nvSpPr>
        <p:spPr>
          <a:xfrm>
            <a:off x="761802" y="2743200"/>
            <a:ext cx="4646905" cy="3613149"/>
          </a:xfrm>
        </p:spPr>
        <p:txBody>
          <a:bodyPr vert="horz" lIns="91440" tIns="45720" rIns="91440" bIns="45720" rtlCol="0" anchor="ctr">
            <a:normAutofit/>
          </a:bodyPr>
          <a:lstStyle/>
          <a:p>
            <a:r>
              <a:rPr lang="en-US" sz="2000">
                <a:ea typeface="Calibri"/>
                <a:cs typeface="Calibri"/>
              </a:rPr>
              <a:t>When we build complex systems, we need to perform some level of design, to understand what it is we need to build.</a:t>
            </a:r>
          </a:p>
          <a:p>
            <a:r>
              <a:rPr lang="en-US" sz="2000">
                <a:ea typeface="Calibri"/>
                <a:cs typeface="Calibri"/>
              </a:rPr>
              <a:t>That design happens at different 'levels':</a:t>
            </a:r>
          </a:p>
          <a:p>
            <a:pPr lvl="1">
              <a:buFont typeface="Courier New" panose="020B0604020202020204" pitchFamily="34" charset="0"/>
              <a:buChar char="o"/>
            </a:pPr>
            <a:r>
              <a:rPr lang="en-US" sz="2000">
                <a:ea typeface="Calibri"/>
                <a:cs typeface="Calibri"/>
              </a:rPr>
              <a:t>High Level Design</a:t>
            </a:r>
          </a:p>
          <a:p>
            <a:pPr lvl="1">
              <a:buFont typeface="Courier New" panose="020B0604020202020204" pitchFamily="34" charset="0"/>
              <a:buChar char="o"/>
            </a:pPr>
            <a:r>
              <a:rPr lang="en-US" sz="2000">
                <a:ea typeface="Calibri"/>
                <a:cs typeface="Calibri"/>
              </a:rPr>
              <a:t>Detailed Design</a:t>
            </a:r>
          </a:p>
          <a:p>
            <a:endParaRPr lang="en-US" sz="2000">
              <a:ea typeface="Calibri"/>
              <a:cs typeface="Calibri"/>
            </a:endParaRPr>
          </a:p>
        </p:txBody>
      </p:sp>
      <p:pic>
        <p:nvPicPr>
          <p:cNvPr id="5" name="Picture 4" descr="Person writing on a notepad">
            <a:extLst>
              <a:ext uri="{FF2B5EF4-FFF2-40B4-BE49-F238E27FC236}">
                <a16:creationId xmlns:a16="http://schemas.microsoft.com/office/drawing/2014/main" id="{4EBA328C-7940-1EE4-C9C5-22DA4EF36562}"/>
              </a:ext>
            </a:extLst>
          </p:cNvPr>
          <p:cNvPicPr>
            <a:picLocks noChangeAspect="1"/>
          </p:cNvPicPr>
          <p:nvPr/>
        </p:nvPicPr>
        <p:blipFill rotWithShape="1">
          <a:blip r:embed="rId2"/>
          <a:srcRect l="17550" r="11836" b="-7"/>
          <a:stretch/>
        </p:blipFill>
        <p:spPr>
          <a:xfrm>
            <a:off x="6096000" y="1"/>
            <a:ext cx="6102825" cy="6858000"/>
          </a:xfrm>
          <a:prstGeom prst="rect">
            <a:avLst/>
          </a:prstGeom>
        </p:spPr>
      </p:pic>
    </p:spTree>
    <p:extLst>
      <p:ext uri="{BB962C8B-B14F-4D97-AF65-F5344CB8AC3E}">
        <p14:creationId xmlns:p14="http://schemas.microsoft.com/office/powerpoint/2010/main" val="29920510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2" name="Rectangle 11">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E40CB7-07D9-3FF6-40DA-5BD4F1750D16}"/>
              </a:ext>
            </a:extLst>
          </p:cNvPr>
          <p:cNvSpPr>
            <a:spLocks noGrp="1"/>
          </p:cNvSpPr>
          <p:nvPr>
            <p:ph type="title"/>
          </p:nvPr>
        </p:nvSpPr>
        <p:spPr>
          <a:xfrm>
            <a:off x="761803" y="350196"/>
            <a:ext cx="4646904" cy="1624520"/>
          </a:xfrm>
        </p:spPr>
        <p:txBody>
          <a:bodyPr anchor="ctr">
            <a:normAutofit/>
          </a:bodyPr>
          <a:lstStyle/>
          <a:p>
            <a:r>
              <a:rPr lang="en-US" sz="4000">
                <a:ea typeface="Calibri Light"/>
                <a:cs typeface="Calibri Light"/>
              </a:rPr>
              <a:t>High Level Design</a:t>
            </a:r>
          </a:p>
        </p:txBody>
      </p:sp>
      <p:sp>
        <p:nvSpPr>
          <p:cNvPr id="3" name="Content Placeholder 2">
            <a:extLst>
              <a:ext uri="{FF2B5EF4-FFF2-40B4-BE49-F238E27FC236}">
                <a16:creationId xmlns:a16="http://schemas.microsoft.com/office/drawing/2014/main" id="{C96BCD95-D10C-3B3B-D922-A3C290D5D783}"/>
              </a:ext>
            </a:extLst>
          </p:cNvPr>
          <p:cNvSpPr>
            <a:spLocks noGrp="1"/>
          </p:cNvSpPr>
          <p:nvPr>
            <p:ph idx="1"/>
          </p:nvPr>
        </p:nvSpPr>
        <p:spPr>
          <a:xfrm>
            <a:off x="761802" y="2743200"/>
            <a:ext cx="4646905" cy="3613149"/>
          </a:xfrm>
        </p:spPr>
        <p:txBody>
          <a:bodyPr vert="horz" lIns="91440" tIns="45720" rIns="91440" bIns="45720" rtlCol="0" anchor="ctr">
            <a:normAutofit/>
          </a:bodyPr>
          <a:lstStyle/>
          <a:p>
            <a:r>
              <a:rPr lang="en-US" sz="2000">
                <a:ea typeface="Calibri"/>
                <a:cs typeface="Calibri"/>
              </a:rPr>
              <a:t>High Level Design includes:</a:t>
            </a:r>
          </a:p>
          <a:p>
            <a:pPr lvl="1">
              <a:buFont typeface="Courier New" panose="020B0604020202020204" pitchFamily="34" charset="0"/>
              <a:buChar char="o"/>
            </a:pPr>
            <a:r>
              <a:rPr lang="en-US" sz="2000">
                <a:ea typeface="Calibri"/>
                <a:cs typeface="Calibri"/>
              </a:rPr>
              <a:t>How to break down a system into different parts or components</a:t>
            </a:r>
          </a:p>
          <a:p>
            <a:pPr lvl="1">
              <a:buFont typeface="Courier New" panose="020B0604020202020204" pitchFamily="34" charset="0"/>
              <a:buChar char="o"/>
            </a:pPr>
            <a:r>
              <a:rPr lang="en-US" sz="2000">
                <a:ea typeface="Calibri"/>
                <a:cs typeface="Calibri"/>
              </a:rPr>
              <a:t>Ensuring the system is robust</a:t>
            </a:r>
          </a:p>
          <a:p>
            <a:pPr lvl="1">
              <a:buFont typeface="Courier New" panose="020B0604020202020204" pitchFamily="34" charset="0"/>
              <a:buChar char="o"/>
            </a:pPr>
            <a:r>
              <a:rPr lang="en-US" sz="2000">
                <a:ea typeface="Calibri"/>
                <a:cs typeface="Calibri"/>
              </a:rPr>
              <a:t>Ensuring the system can 'scale', e.g. when a lot of users are added</a:t>
            </a:r>
          </a:p>
          <a:p>
            <a:pPr lvl="1">
              <a:buFont typeface="Courier New" panose="020B0604020202020204" pitchFamily="34" charset="0"/>
              <a:buChar char="o"/>
            </a:pPr>
            <a:r>
              <a:rPr lang="en-US" sz="2000">
                <a:ea typeface="Calibri"/>
                <a:cs typeface="Calibri"/>
              </a:rPr>
              <a:t>Ensuring the system is secure</a:t>
            </a:r>
          </a:p>
          <a:p>
            <a:pPr lvl="1">
              <a:buFont typeface="Courier New" panose="020B0604020202020204" pitchFamily="34" charset="0"/>
              <a:buChar char="o"/>
            </a:pPr>
            <a:r>
              <a:rPr lang="en-US" sz="2000">
                <a:ea typeface="Calibri"/>
                <a:cs typeface="Calibri"/>
              </a:rPr>
              <a:t>Ensuring the system can grow, without breaking</a:t>
            </a:r>
          </a:p>
        </p:txBody>
      </p:sp>
      <p:pic>
        <p:nvPicPr>
          <p:cNvPr id="4" name="Picture 3" descr="A building with a curved wall&#10;&#10;Description automatically generated">
            <a:extLst>
              <a:ext uri="{FF2B5EF4-FFF2-40B4-BE49-F238E27FC236}">
                <a16:creationId xmlns:a16="http://schemas.microsoft.com/office/drawing/2014/main" id="{B3076304-5970-C43F-92E9-6A58AE41C235}"/>
              </a:ext>
            </a:extLst>
          </p:cNvPr>
          <p:cNvPicPr>
            <a:picLocks noChangeAspect="1"/>
          </p:cNvPicPr>
          <p:nvPr/>
        </p:nvPicPr>
        <p:blipFill rotWithShape="1">
          <a:blip r:embed="rId2">
            <a:extLst>
              <a:ext uri="{837473B0-CC2E-450A-ABE3-18F120FF3D39}">
                <a1611:picAttrSrcUrl xmlns:a1611="http://schemas.microsoft.com/office/drawing/2016/11/main" r:id="rId3"/>
              </a:ext>
            </a:extLst>
          </a:blip>
          <a:srcRect t="9025" b="15966"/>
          <a:stretch/>
        </p:blipFill>
        <p:spPr>
          <a:xfrm>
            <a:off x="6096000" y="1"/>
            <a:ext cx="6102825" cy="6858000"/>
          </a:xfrm>
          <a:prstGeom prst="rect">
            <a:avLst/>
          </a:prstGeom>
        </p:spPr>
      </p:pic>
      <p:sp>
        <p:nvSpPr>
          <p:cNvPr id="5" name="TextBox 4">
            <a:extLst>
              <a:ext uri="{FF2B5EF4-FFF2-40B4-BE49-F238E27FC236}">
                <a16:creationId xmlns:a16="http://schemas.microsoft.com/office/drawing/2014/main" id="{B0983E4B-141A-6B72-6EEF-D1F93EBE3672}"/>
              </a:ext>
            </a:extLst>
          </p:cNvPr>
          <p:cNvSpPr txBox="1"/>
          <p:nvPr/>
        </p:nvSpPr>
        <p:spPr>
          <a:xfrm>
            <a:off x="9997581" y="6657946"/>
            <a:ext cx="2201244" cy="200055"/>
          </a:xfrm>
          <a:prstGeom prst="rect">
            <a:avLst/>
          </a:prstGeom>
          <a:solidFill>
            <a:srgbClr val="000000"/>
          </a:solidFill>
        </p:spPr>
        <p:txBody>
          <a:bodyPr wrap="none">
            <a:spAutoFit/>
          </a:bodyPr>
          <a:lstStyle/>
          <a:p>
            <a:pPr algn="r">
              <a:spcAft>
                <a:spcPts val="600"/>
              </a:spcAft>
            </a:pPr>
            <a:r>
              <a:rPr lang="en-US" sz="700">
                <a:solidFill>
                  <a:srgbClr val="FFFFFF"/>
                </a:solidFill>
                <a:hlinkClick r:id="rId3">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a:extLst>
                    <a:ext uri="{A12FA001-AC4F-418D-AE19-62706E023703}">
                      <ahyp:hlinkClr xmlns:ahyp="http://schemas.microsoft.com/office/drawing/2018/hyperlinkcolor" val="tx"/>
                    </a:ext>
                  </a:extLst>
                </a:hlinkClick>
              </a:rPr>
              <a:t>CC BY</a:t>
            </a:r>
            <a:r>
              <a:rPr lang="en-US" sz="700">
                <a:solidFill>
                  <a:srgbClr val="FFFFFF"/>
                </a:solidFill>
              </a:rPr>
              <a:t>.</a:t>
            </a:r>
          </a:p>
        </p:txBody>
      </p:sp>
    </p:spTree>
    <p:extLst>
      <p:ext uri="{BB962C8B-B14F-4D97-AF65-F5344CB8AC3E}">
        <p14:creationId xmlns:p14="http://schemas.microsoft.com/office/powerpoint/2010/main" val="5553842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2" name="Rectangle 11">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CB24CD-BD26-90FD-F81E-FE8F83727F16}"/>
              </a:ext>
            </a:extLst>
          </p:cNvPr>
          <p:cNvSpPr>
            <a:spLocks noGrp="1"/>
          </p:cNvSpPr>
          <p:nvPr>
            <p:ph type="title"/>
          </p:nvPr>
        </p:nvSpPr>
        <p:spPr>
          <a:xfrm>
            <a:off x="761803" y="350196"/>
            <a:ext cx="4646904" cy="1624520"/>
          </a:xfrm>
        </p:spPr>
        <p:txBody>
          <a:bodyPr anchor="ctr">
            <a:normAutofit/>
          </a:bodyPr>
          <a:lstStyle/>
          <a:p>
            <a:r>
              <a:rPr lang="en-US" sz="4000">
                <a:ea typeface="Calibri Light"/>
                <a:cs typeface="Calibri Light"/>
              </a:rPr>
              <a:t>Detailed Design</a:t>
            </a:r>
            <a:endParaRPr lang="en-US" sz="4000"/>
          </a:p>
        </p:txBody>
      </p:sp>
      <p:sp>
        <p:nvSpPr>
          <p:cNvPr id="3" name="Content Placeholder 2">
            <a:extLst>
              <a:ext uri="{FF2B5EF4-FFF2-40B4-BE49-F238E27FC236}">
                <a16:creationId xmlns:a16="http://schemas.microsoft.com/office/drawing/2014/main" id="{AAA728CA-32CE-D2B7-659A-5622692CD303}"/>
              </a:ext>
            </a:extLst>
          </p:cNvPr>
          <p:cNvSpPr>
            <a:spLocks noGrp="1"/>
          </p:cNvSpPr>
          <p:nvPr>
            <p:ph idx="1"/>
          </p:nvPr>
        </p:nvSpPr>
        <p:spPr>
          <a:xfrm>
            <a:off x="761802" y="2743200"/>
            <a:ext cx="4646905" cy="3613149"/>
          </a:xfrm>
        </p:spPr>
        <p:txBody>
          <a:bodyPr vert="horz" lIns="91440" tIns="45720" rIns="91440" bIns="45720" rtlCol="0" anchor="ctr">
            <a:normAutofit/>
          </a:bodyPr>
          <a:lstStyle/>
          <a:p>
            <a:r>
              <a:rPr lang="en-US" sz="2000" dirty="0">
                <a:ea typeface="Calibri"/>
                <a:cs typeface="Calibri"/>
              </a:rPr>
              <a:t>Detailed design includes the following:</a:t>
            </a:r>
          </a:p>
          <a:p>
            <a:pPr lvl="1">
              <a:buFont typeface="Courier New" panose="020B0604020202020204" pitchFamily="34" charset="0"/>
              <a:buChar char="o"/>
            </a:pPr>
            <a:r>
              <a:rPr lang="en-US" sz="2000" dirty="0">
                <a:ea typeface="Calibri"/>
                <a:cs typeface="Calibri"/>
              </a:rPr>
              <a:t>Detail of functional behavior</a:t>
            </a:r>
          </a:p>
          <a:p>
            <a:pPr lvl="1">
              <a:buFont typeface="Courier New" panose="020B0604020202020204" pitchFamily="34" charset="0"/>
              <a:buChar char="o"/>
            </a:pPr>
            <a:r>
              <a:rPr lang="en-US" sz="2000" dirty="0">
                <a:ea typeface="Calibri"/>
                <a:cs typeface="Calibri"/>
              </a:rPr>
              <a:t>User Interface Design</a:t>
            </a:r>
          </a:p>
          <a:p>
            <a:pPr lvl="1">
              <a:buFont typeface="Courier New" panose="020B0604020202020204" pitchFamily="34" charset="0"/>
              <a:buChar char="o"/>
            </a:pPr>
            <a:r>
              <a:rPr lang="en-US" sz="2000" dirty="0">
                <a:ea typeface="Calibri"/>
                <a:cs typeface="Calibri"/>
              </a:rPr>
              <a:t>How code will be structured</a:t>
            </a:r>
          </a:p>
          <a:p>
            <a:pPr lvl="1">
              <a:buFont typeface="Courier New" panose="020B0604020202020204" pitchFamily="34" charset="0"/>
              <a:buChar char="o"/>
            </a:pPr>
            <a:r>
              <a:rPr lang="en-US" sz="2000" dirty="0">
                <a:ea typeface="Calibri"/>
                <a:cs typeface="Calibri"/>
              </a:rPr>
              <a:t>How code can be added without breaking existing code</a:t>
            </a:r>
          </a:p>
          <a:p>
            <a:pPr lvl="1">
              <a:buFont typeface="Courier New" panose="020B0604020202020204" pitchFamily="34" charset="0"/>
              <a:buChar char="o"/>
            </a:pPr>
            <a:endParaRPr lang="en-US" sz="2000" dirty="0">
              <a:ea typeface="Calibri"/>
              <a:cs typeface="Calibri"/>
            </a:endParaRPr>
          </a:p>
        </p:txBody>
      </p:sp>
      <p:pic>
        <p:nvPicPr>
          <p:cNvPr id="5" name="Picture 4" descr="Person writing on a notepad">
            <a:extLst>
              <a:ext uri="{FF2B5EF4-FFF2-40B4-BE49-F238E27FC236}">
                <a16:creationId xmlns:a16="http://schemas.microsoft.com/office/drawing/2014/main" id="{520C035E-2089-F5D0-5DC8-DAAC000AA65C}"/>
              </a:ext>
            </a:extLst>
          </p:cNvPr>
          <p:cNvPicPr>
            <a:picLocks noChangeAspect="1"/>
          </p:cNvPicPr>
          <p:nvPr/>
        </p:nvPicPr>
        <p:blipFill rotWithShape="1">
          <a:blip r:embed="rId2"/>
          <a:srcRect l="17595" r="11881"/>
          <a:stretch/>
        </p:blipFill>
        <p:spPr>
          <a:xfrm>
            <a:off x="6096000" y="1"/>
            <a:ext cx="6102825" cy="6858000"/>
          </a:xfrm>
          <a:prstGeom prst="rect">
            <a:avLst/>
          </a:prstGeom>
        </p:spPr>
      </p:pic>
    </p:spTree>
    <p:extLst>
      <p:ext uri="{BB962C8B-B14F-4D97-AF65-F5344CB8AC3E}">
        <p14:creationId xmlns:p14="http://schemas.microsoft.com/office/powerpoint/2010/main" val="1474314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ABC61-3A38-C2A9-DC4D-67CD179CEC78}"/>
              </a:ext>
            </a:extLst>
          </p:cNvPr>
          <p:cNvSpPr>
            <a:spLocks noGrp="1"/>
          </p:cNvSpPr>
          <p:nvPr>
            <p:ph type="title"/>
          </p:nvPr>
        </p:nvSpPr>
        <p:spPr/>
        <p:txBody>
          <a:bodyPr/>
          <a:lstStyle/>
          <a:p>
            <a:r>
              <a:rPr lang="en-IE" dirty="0"/>
              <a:t>Decoupling</a:t>
            </a:r>
          </a:p>
        </p:txBody>
      </p:sp>
      <p:sp>
        <p:nvSpPr>
          <p:cNvPr id="3" name="Content Placeholder 2">
            <a:extLst>
              <a:ext uri="{FF2B5EF4-FFF2-40B4-BE49-F238E27FC236}">
                <a16:creationId xmlns:a16="http://schemas.microsoft.com/office/drawing/2014/main" id="{CCEFF238-54A0-8FC6-9645-218DB78A8334}"/>
              </a:ext>
            </a:extLst>
          </p:cNvPr>
          <p:cNvSpPr>
            <a:spLocks noGrp="1"/>
          </p:cNvSpPr>
          <p:nvPr>
            <p:ph idx="1"/>
          </p:nvPr>
        </p:nvSpPr>
        <p:spPr/>
        <p:txBody>
          <a:bodyPr vert="horz" lIns="91440" tIns="45720" rIns="91440" bIns="45720" rtlCol="0" anchor="t">
            <a:normAutofit/>
          </a:bodyPr>
          <a:lstStyle/>
          <a:p>
            <a:r>
              <a:rPr lang="en-IE" dirty="0"/>
              <a:t>An important concept in design is decoupling.</a:t>
            </a:r>
          </a:p>
          <a:p>
            <a:r>
              <a:rPr lang="en-IE" dirty="0"/>
              <a:t>This principle attempts to ensure that a change in one part of a system has minimal impact to another part of the system.</a:t>
            </a:r>
            <a:endParaRPr lang="en-IE" dirty="0">
              <a:cs typeface="Calibri"/>
            </a:endParaRPr>
          </a:p>
          <a:p>
            <a:r>
              <a:rPr lang="en-IE" dirty="0">
                <a:cs typeface="Calibri"/>
              </a:rPr>
              <a:t>We want to do this because:</a:t>
            </a:r>
          </a:p>
          <a:p>
            <a:pPr lvl="1">
              <a:buFont typeface="Courier New" panose="020B0604020202020204" pitchFamily="34" charset="0"/>
              <a:buChar char="o"/>
            </a:pPr>
            <a:r>
              <a:rPr lang="en-IE" dirty="0">
                <a:cs typeface="Calibri"/>
              </a:rPr>
              <a:t>The less code that needs to be changed, the quicker and cheaper it is to add new functionality</a:t>
            </a:r>
          </a:p>
          <a:p>
            <a:pPr lvl="1">
              <a:buFont typeface="Courier New" panose="020B0604020202020204" pitchFamily="34" charset="0"/>
              <a:buChar char="o"/>
            </a:pPr>
            <a:r>
              <a:rPr lang="en-IE" dirty="0">
                <a:cs typeface="Calibri"/>
              </a:rPr>
              <a:t>Making changes to existing code can change (break) the behaviour of any linked code.</a:t>
            </a:r>
          </a:p>
          <a:p>
            <a:pPr lvl="1">
              <a:buFont typeface="Courier New" panose="020B0604020202020204" pitchFamily="34" charset="0"/>
              <a:buChar char="o"/>
            </a:pPr>
            <a:r>
              <a:rPr lang="en-IE" dirty="0">
                <a:cs typeface="Calibri"/>
              </a:rPr>
              <a:t>Therefore, changing code means retesting anything linked to the changed code.</a:t>
            </a:r>
          </a:p>
          <a:p>
            <a:endParaRPr lang="en-IE">
              <a:cs typeface="Calibri" panose="020F0502020204030204"/>
            </a:endParaRPr>
          </a:p>
        </p:txBody>
      </p:sp>
    </p:spTree>
    <p:extLst>
      <p:ext uri="{BB962C8B-B14F-4D97-AF65-F5344CB8AC3E}">
        <p14:creationId xmlns:p14="http://schemas.microsoft.com/office/powerpoint/2010/main" val="1454903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32C0A-C3AA-CE4A-5133-536B157FB0E4}"/>
              </a:ext>
            </a:extLst>
          </p:cNvPr>
          <p:cNvSpPr>
            <a:spLocks noGrp="1"/>
          </p:cNvSpPr>
          <p:nvPr>
            <p:ph type="title"/>
          </p:nvPr>
        </p:nvSpPr>
        <p:spPr/>
        <p:txBody>
          <a:bodyPr/>
          <a:lstStyle/>
          <a:p>
            <a:r>
              <a:rPr lang="en-US" dirty="0">
                <a:cs typeface="Calibri Light"/>
              </a:rPr>
              <a:t>Decoupling in Detailed Design</a:t>
            </a:r>
            <a:endParaRPr lang="en-US" dirty="0"/>
          </a:p>
        </p:txBody>
      </p:sp>
      <p:sp>
        <p:nvSpPr>
          <p:cNvPr id="3" name="Content Placeholder 2">
            <a:extLst>
              <a:ext uri="{FF2B5EF4-FFF2-40B4-BE49-F238E27FC236}">
                <a16:creationId xmlns:a16="http://schemas.microsoft.com/office/drawing/2014/main" id="{336DC29E-BA63-FB25-0746-FD6152CB8D7A}"/>
              </a:ext>
            </a:extLst>
          </p:cNvPr>
          <p:cNvSpPr>
            <a:spLocks noGrp="1"/>
          </p:cNvSpPr>
          <p:nvPr>
            <p:ph idx="1"/>
          </p:nvPr>
        </p:nvSpPr>
        <p:spPr/>
        <p:txBody>
          <a:bodyPr vert="horz" lIns="91440" tIns="45720" rIns="91440" bIns="45720" rtlCol="0" anchor="t">
            <a:normAutofit/>
          </a:bodyPr>
          <a:lstStyle/>
          <a:p>
            <a:r>
              <a:rPr lang="en-US" dirty="0">
                <a:cs typeface="Calibri"/>
              </a:rPr>
              <a:t>In detailed design and code we achieve this by:</a:t>
            </a:r>
          </a:p>
          <a:p>
            <a:pPr lvl="1">
              <a:buFont typeface="Courier New" panose="020B0604020202020204" pitchFamily="34" charset="0"/>
              <a:buChar char="o"/>
            </a:pPr>
            <a:r>
              <a:rPr lang="en-US" dirty="0">
                <a:cs typeface="Calibri"/>
              </a:rPr>
              <a:t>Ensuring we add new functionality without changing code we have already written.</a:t>
            </a:r>
          </a:p>
          <a:p>
            <a:pPr lvl="1">
              <a:buFont typeface="Courier New" panose="020B0604020202020204" pitchFamily="34" charset="0"/>
              <a:buChar char="o"/>
            </a:pPr>
            <a:r>
              <a:rPr lang="en-US" dirty="0">
                <a:cs typeface="Calibri"/>
              </a:rPr>
              <a:t>We write code that is general and can be reused in different use cases.</a:t>
            </a:r>
          </a:p>
          <a:p>
            <a:pPr lvl="1">
              <a:buFont typeface="Courier New" panose="020B0604020202020204" pitchFamily="34" charset="0"/>
              <a:buChar char="o"/>
            </a:pPr>
            <a:r>
              <a:rPr lang="en-US" dirty="0">
                <a:cs typeface="Calibri"/>
              </a:rPr>
              <a:t>We employ common 'patterns' of design that are very general in purpose.</a:t>
            </a:r>
          </a:p>
          <a:p>
            <a:pPr lvl="1">
              <a:buFont typeface="Courier New" panose="020B0604020202020204" pitchFamily="34" charset="0"/>
              <a:buChar char="o"/>
            </a:pPr>
            <a:r>
              <a:rPr lang="en-US" dirty="0">
                <a:cs typeface="Calibri"/>
              </a:rPr>
              <a:t>We </a:t>
            </a:r>
            <a:r>
              <a:rPr lang="en-US" dirty="0" err="1">
                <a:cs typeface="Calibri"/>
              </a:rPr>
              <a:t>minimise</a:t>
            </a:r>
            <a:r>
              <a:rPr lang="en-US" dirty="0">
                <a:cs typeface="Calibri"/>
              </a:rPr>
              <a:t> interaction between different parts of the code.</a:t>
            </a:r>
          </a:p>
          <a:p>
            <a:pPr lvl="1">
              <a:buFont typeface="Courier New" panose="020B0604020202020204" pitchFamily="34" charset="0"/>
              <a:buChar char="o"/>
            </a:pPr>
            <a:endParaRPr lang="en-US" dirty="0">
              <a:cs typeface="Calibri"/>
            </a:endParaRPr>
          </a:p>
        </p:txBody>
      </p:sp>
    </p:spTree>
    <p:extLst>
      <p:ext uri="{BB962C8B-B14F-4D97-AF65-F5344CB8AC3E}">
        <p14:creationId xmlns:p14="http://schemas.microsoft.com/office/powerpoint/2010/main" val="1680878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2FCF2-1F02-E7A3-1D9E-775E452BF48E}"/>
              </a:ext>
            </a:extLst>
          </p:cNvPr>
          <p:cNvSpPr>
            <a:spLocks noGrp="1"/>
          </p:cNvSpPr>
          <p:nvPr>
            <p:ph type="title"/>
          </p:nvPr>
        </p:nvSpPr>
        <p:spPr/>
        <p:txBody>
          <a:bodyPr/>
          <a:lstStyle/>
          <a:p>
            <a:r>
              <a:rPr lang="en-US" dirty="0">
                <a:cs typeface="Calibri Light"/>
              </a:rPr>
              <a:t>Decoupling in Architecture</a:t>
            </a:r>
            <a:endParaRPr lang="en-US" dirty="0"/>
          </a:p>
        </p:txBody>
      </p:sp>
      <p:sp>
        <p:nvSpPr>
          <p:cNvPr id="3" name="Content Placeholder 2">
            <a:extLst>
              <a:ext uri="{FF2B5EF4-FFF2-40B4-BE49-F238E27FC236}">
                <a16:creationId xmlns:a16="http://schemas.microsoft.com/office/drawing/2014/main" id="{6B5A87C9-1137-0066-20E4-C4BC8646A543}"/>
              </a:ext>
            </a:extLst>
          </p:cNvPr>
          <p:cNvSpPr>
            <a:spLocks noGrp="1"/>
          </p:cNvSpPr>
          <p:nvPr>
            <p:ph idx="1"/>
          </p:nvPr>
        </p:nvSpPr>
        <p:spPr/>
        <p:txBody>
          <a:bodyPr vert="horz" lIns="91440" tIns="45720" rIns="91440" bIns="45720" rtlCol="0" anchor="t">
            <a:normAutofit/>
          </a:bodyPr>
          <a:lstStyle/>
          <a:p>
            <a:r>
              <a:rPr lang="en-US" dirty="0">
                <a:cs typeface="Calibri"/>
              </a:rPr>
              <a:t>Architecture is more commonly related to how our systems are split into different components.</a:t>
            </a:r>
          </a:p>
          <a:p>
            <a:r>
              <a:rPr lang="en-US" dirty="0">
                <a:cs typeface="Calibri"/>
              </a:rPr>
              <a:t>To improve decoupling we:</a:t>
            </a:r>
          </a:p>
          <a:p>
            <a:pPr lvl="1">
              <a:buFont typeface="Courier New" panose="020B0604020202020204" pitchFamily="34" charset="0"/>
              <a:buChar char="o"/>
            </a:pPr>
            <a:r>
              <a:rPr lang="en-US" dirty="0" err="1">
                <a:cs typeface="Calibri"/>
              </a:rPr>
              <a:t>Minimise</a:t>
            </a:r>
            <a:r>
              <a:rPr lang="en-US" dirty="0">
                <a:cs typeface="Calibri"/>
              </a:rPr>
              <a:t> required interactions between components</a:t>
            </a:r>
          </a:p>
          <a:p>
            <a:pPr lvl="1">
              <a:buFont typeface="Courier New" panose="020B0604020202020204" pitchFamily="34" charset="0"/>
              <a:buChar char="o"/>
            </a:pPr>
            <a:r>
              <a:rPr lang="en-US" dirty="0">
                <a:cs typeface="Calibri"/>
              </a:rPr>
              <a:t>Make interactions between components well defined</a:t>
            </a:r>
          </a:p>
          <a:p>
            <a:pPr lvl="1">
              <a:buFont typeface="Courier New" panose="020B0604020202020204" pitchFamily="34" charset="0"/>
              <a:buChar char="o"/>
            </a:pPr>
            <a:r>
              <a:rPr lang="en-US" dirty="0">
                <a:cs typeface="Calibri"/>
              </a:rPr>
              <a:t>Reduce dependencies on details of each component (e.g. detailed logic, programming language </a:t>
            </a:r>
            <a:r>
              <a:rPr lang="en-US" dirty="0" err="1">
                <a:cs typeface="Calibri"/>
              </a:rPr>
              <a:t>etc</a:t>
            </a:r>
            <a:r>
              <a:rPr lang="en-US" dirty="0">
                <a:cs typeface="Calibri"/>
              </a:rPr>
              <a:t>).</a:t>
            </a:r>
          </a:p>
          <a:p>
            <a:pPr lvl="1">
              <a:buFont typeface="Courier New" panose="020B0604020202020204" pitchFamily="34" charset="0"/>
              <a:buChar char="o"/>
            </a:pPr>
            <a:r>
              <a:rPr lang="en-US" dirty="0">
                <a:cs typeface="Calibri"/>
              </a:rPr>
              <a:t>Allow components to operate independently of each other (so one component can still continue to perform its function even if another component is temporarily unavailable).</a:t>
            </a:r>
          </a:p>
          <a:p>
            <a:pPr lvl="1">
              <a:buFont typeface="Courier New" panose="020B0604020202020204" pitchFamily="34" charset="0"/>
              <a:buChar char="o"/>
            </a:pPr>
            <a:endParaRPr lang="en-US" dirty="0">
              <a:cs typeface="Calibri"/>
            </a:endParaRPr>
          </a:p>
        </p:txBody>
      </p:sp>
    </p:spTree>
    <p:extLst>
      <p:ext uri="{BB962C8B-B14F-4D97-AF65-F5344CB8AC3E}">
        <p14:creationId xmlns:p14="http://schemas.microsoft.com/office/powerpoint/2010/main" val="5806340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illars in shadow">
            <a:extLst>
              <a:ext uri="{FF2B5EF4-FFF2-40B4-BE49-F238E27FC236}">
                <a16:creationId xmlns:a16="http://schemas.microsoft.com/office/drawing/2014/main" id="{BC421F55-E293-F291-4C28-87A2093CFA93}"/>
              </a:ext>
            </a:extLst>
          </p:cNvPr>
          <p:cNvPicPr>
            <a:picLocks noChangeAspect="1"/>
          </p:cNvPicPr>
          <p:nvPr/>
        </p:nvPicPr>
        <p:blipFill rotWithShape="1">
          <a:blip r:embed="rId2"/>
          <a:srcRect l="16193" r="31260" b="-7"/>
          <a:stretch/>
        </p:blipFill>
        <p:spPr>
          <a:xfrm>
            <a:off x="6103027" y="10"/>
            <a:ext cx="6088971" cy="6857990"/>
          </a:xfrm>
          <a:prstGeom prst="rect">
            <a:avLst/>
          </a:prstGeom>
        </p:spPr>
      </p:pic>
      <p:sp useBgFill="1">
        <p:nvSpPr>
          <p:cNvPr id="11" name="Rectangle 10">
            <a:extLst>
              <a:ext uri="{FF2B5EF4-FFF2-40B4-BE49-F238E27FC236}">
                <a16:creationId xmlns:a16="http://schemas.microsoft.com/office/drawing/2014/main" id="{59B296B9-C5A5-4E4F-9B60-C907B5F14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D0300FD3-5AF1-6305-15FA-907807267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2285995"/>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A78299-8CD5-C375-5CC3-AE3275D849CA}"/>
              </a:ext>
            </a:extLst>
          </p:cNvPr>
          <p:cNvSpPr>
            <a:spLocks noGrp="1"/>
          </p:cNvSpPr>
          <p:nvPr>
            <p:ph type="title"/>
          </p:nvPr>
        </p:nvSpPr>
        <p:spPr>
          <a:xfrm>
            <a:off x="761801" y="328512"/>
            <a:ext cx="4778387" cy="1628970"/>
          </a:xfrm>
        </p:spPr>
        <p:txBody>
          <a:bodyPr anchor="ctr">
            <a:normAutofit/>
          </a:bodyPr>
          <a:lstStyle/>
          <a:p>
            <a:r>
              <a:rPr lang="en-US" sz="4000">
                <a:ea typeface="Calibri Light"/>
                <a:cs typeface="Calibri Light"/>
              </a:rPr>
              <a:t>Architecture</a:t>
            </a:r>
            <a:endParaRPr lang="en-US" sz="4000"/>
          </a:p>
        </p:txBody>
      </p:sp>
      <p:sp>
        <p:nvSpPr>
          <p:cNvPr id="3" name="Content Placeholder 2">
            <a:extLst>
              <a:ext uri="{FF2B5EF4-FFF2-40B4-BE49-F238E27FC236}">
                <a16:creationId xmlns:a16="http://schemas.microsoft.com/office/drawing/2014/main" id="{19C8E7C9-628E-68B4-4637-9C2A4F01A1F2}"/>
              </a:ext>
            </a:extLst>
          </p:cNvPr>
          <p:cNvSpPr>
            <a:spLocks noGrp="1"/>
          </p:cNvSpPr>
          <p:nvPr>
            <p:ph idx="1"/>
          </p:nvPr>
        </p:nvSpPr>
        <p:spPr>
          <a:xfrm>
            <a:off x="761801" y="2884929"/>
            <a:ext cx="4659756" cy="3374137"/>
          </a:xfrm>
        </p:spPr>
        <p:txBody>
          <a:bodyPr vert="horz" lIns="91440" tIns="45720" rIns="91440" bIns="45720" rtlCol="0" anchor="ctr">
            <a:normAutofit/>
          </a:bodyPr>
          <a:lstStyle/>
          <a:p>
            <a:r>
              <a:rPr lang="en-US" sz="1700">
                <a:ea typeface="Calibri"/>
                <a:cs typeface="Calibri"/>
              </a:rPr>
              <a:t>Architecture relates to many of the aspect of high-level design.</a:t>
            </a:r>
          </a:p>
          <a:p>
            <a:r>
              <a:rPr lang="en-US" sz="1700">
                <a:ea typeface="Calibri"/>
                <a:cs typeface="Calibri"/>
              </a:rPr>
              <a:t>The first decision to make about the architecture is how many components the system should have.</a:t>
            </a:r>
          </a:p>
          <a:p>
            <a:pPr lvl="1">
              <a:buFont typeface="Courier New" panose="020B0604020202020204" pitchFamily="34" charset="0"/>
              <a:buChar char="o"/>
            </a:pPr>
            <a:r>
              <a:rPr lang="en-US" sz="1700">
                <a:ea typeface="Calibri"/>
                <a:cs typeface="Calibri"/>
              </a:rPr>
              <a:t>In the past systems often had one main component that did most of the work.  These are referred to as Monolithic systems.</a:t>
            </a:r>
          </a:p>
          <a:p>
            <a:pPr lvl="1">
              <a:buFont typeface="Courier New" panose="020B0604020202020204" pitchFamily="34" charset="0"/>
              <a:buChar char="o"/>
            </a:pPr>
            <a:r>
              <a:rPr lang="en-US" sz="1700">
                <a:ea typeface="Calibri"/>
                <a:cs typeface="Calibri"/>
              </a:rPr>
              <a:t>More recently complex systems are split into many components.  There are many different approaches to doing this.</a:t>
            </a:r>
          </a:p>
          <a:p>
            <a:endParaRPr lang="en-US" sz="1700">
              <a:ea typeface="Calibri"/>
              <a:cs typeface="Calibri"/>
            </a:endParaRPr>
          </a:p>
        </p:txBody>
      </p:sp>
    </p:spTree>
    <p:extLst>
      <p:ext uri="{BB962C8B-B14F-4D97-AF65-F5344CB8AC3E}">
        <p14:creationId xmlns:p14="http://schemas.microsoft.com/office/powerpoint/2010/main" val="242078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FE1EC756-41E9-4FD6-AD48-EF46A2813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66F6371-9EA5-9354-29DC-1D07B921F7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290"/>
            <a:ext cx="12192000"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84DDC0-33C1-3D0B-0C03-658A028884C5}"/>
              </a:ext>
            </a:extLst>
          </p:cNvPr>
          <p:cNvSpPr>
            <a:spLocks noGrp="1"/>
          </p:cNvSpPr>
          <p:nvPr>
            <p:ph type="title"/>
          </p:nvPr>
        </p:nvSpPr>
        <p:spPr>
          <a:xfrm>
            <a:off x="761995" y="307447"/>
            <a:ext cx="10693884" cy="1109932"/>
          </a:xfrm>
        </p:spPr>
        <p:txBody>
          <a:bodyPr>
            <a:normAutofit/>
          </a:bodyPr>
          <a:lstStyle/>
          <a:p>
            <a:r>
              <a:rPr lang="en-US" sz="4000">
                <a:ea typeface="Calibri Light"/>
                <a:cs typeface="Calibri Light"/>
              </a:rPr>
              <a:t>Monolithic Architecture</a:t>
            </a:r>
            <a:endParaRPr lang="en-US" sz="4000"/>
          </a:p>
        </p:txBody>
      </p:sp>
      <p:pic>
        <p:nvPicPr>
          <p:cNvPr id="4" name="Picture 3" descr="A screenshot of a computer screen&#10;&#10;Description automatically generated">
            <a:extLst>
              <a:ext uri="{FF2B5EF4-FFF2-40B4-BE49-F238E27FC236}">
                <a16:creationId xmlns:a16="http://schemas.microsoft.com/office/drawing/2014/main" id="{AC85CCCA-E20C-D6CF-1D04-BB9F498888F6}"/>
              </a:ext>
            </a:extLst>
          </p:cNvPr>
          <p:cNvPicPr>
            <a:picLocks noChangeAspect="1"/>
          </p:cNvPicPr>
          <p:nvPr/>
        </p:nvPicPr>
        <p:blipFill>
          <a:blip r:embed="rId2"/>
          <a:stretch>
            <a:fillRect/>
          </a:stretch>
        </p:blipFill>
        <p:spPr>
          <a:xfrm>
            <a:off x="736122" y="2729090"/>
            <a:ext cx="5804955" cy="3033089"/>
          </a:xfrm>
          <a:prstGeom prst="rect">
            <a:avLst/>
          </a:prstGeom>
        </p:spPr>
      </p:pic>
      <p:sp>
        <p:nvSpPr>
          <p:cNvPr id="3" name="Content Placeholder 2">
            <a:extLst>
              <a:ext uri="{FF2B5EF4-FFF2-40B4-BE49-F238E27FC236}">
                <a16:creationId xmlns:a16="http://schemas.microsoft.com/office/drawing/2014/main" id="{DAA01FF5-184F-FD88-372A-B2B506DBC8C7}"/>
              </a:ext>
            </a:extLst>
          </p:cNvPr>
          <p:cNvSpPr>
            <a:spLocks noGrp="1"/>
          </p:cNvSpPr>
          <p:nvPr>
            <p:ph idx="1"/>
          </p:nvPr>
        </p:nvSpPr>
        <p:spPr>
          <a:xfrm>
            <a:off x="7190509" y="2357888"/>
            <a:ext cx="4265370" cy="3902635"/>
          </a:xfrm>
        </p:spPr>
        <p:txBody>
          <a:bodyPr vert="horz" lIns="91440" tIns="45720" rIns="91440" bIns="45720" rtlCol="0" anchor="ctr">
            <a:normAutofit lnSpcReduction="10000"/>
          </a:bodyPr>
          <a:lstStyle/>
          <a:p>
            <a:r>
              <a:rPr lang="en-US" sz="1600" dirty="0">
                <a:ea typeface="Calibri"/>
                <a:cs typeface="Calibri"/>
              </a:rPr>
              <a:t>When software developers only consider functionality (not production), they usually build a monolithic systems – because it is easier to build a system in this way.</a:t>
            </a:r>
          </a:p>
          <a:p>
            <a:r>
              <a:rPr lang="en-US" sz="1600" dirty="0">
                <a:ea typeface="Calibri"/>
                <a:cs typeface="Calibri"/>
              </a:rPr>
              <a:t>However, there are serious drawbacks to this approach when we try to run systems in production.  Just some of the challenges are:</a:t>
            </a:r>
          </a:p>
          <a:p>
            <a:pPr lvl="1">
              <a:buFont typeface="Courier New" panose="020B0604020202020204" pitchFamily="34" charset="0"/>
              <a:buChar char="o"/>
            </a:pPr>
            <a:r>
              <a:rPr lang="en-US" sz="1600" dirty="0">
                <a:ea typeface="Calibri"/>
                <a:cs typeface="Calibri"/>
              </a:rPr>
              <a:t>They generally only have one or a small number of users.</a:t>
            </a:r>
          </a:p>
          <a:p>
            <a:pPr lvl="1">
              <a:buFont typeface="Courier New" panose="020B0604020202020204" pitchFamily="34" charset="0"/>
              <a:buChar char="o"/>
            </a:pPr>
            <a:r>
              <a:rPr lang="en-US" sz="1600" dirty="0">
                <a:ea typeface="Calibri"/>
                <a:cs typeface="Calibri"/>
              </a:rPr>
              <a:t>They are a single point of failure</a:t>
            </a:r>
            <a:endParaRPr lang="en-US" dirty="0"/>
          </a:p>
          <a:p>
            <a:pPr lvl="1">
              <a:buFont typeface="Courier New" panose="020B0604020202020204" pitchFamily="34" charset="0"/>
              <a:buChar char="o"/>
            </a:pPr>
            <a:r>
              <a:rPr lang="en-US" sz="1600" dirty="0">
                <a:ea typeface="Calibri"/>
                <a:cs typeface="Calibri"/>
              </a:rPr>
              <a:t>They are hard to scale (can only find more powerful hardware – limited)</a:t>
            </a:r>
          </a:p>
          <a:p>
            <a:pPr lvl="1">
              <a:buFont typeface="Courier New" panose="020B0604020202020204" pitchFamily="34" charset="0"/>
              <a:buChar char="o"/>
            </a:pPr>
            <a:r>
              <a:rPr lang="en-US" sz="1600" dirty="0">
                <a:ea typeface="Calibri"/>
                <a:cs typeface="Calibri"/>
              </a:rPr>
              <a:t>They are difficult to change – a change in one part may affect others</a:t>
            </a:r>
          </a:p>
          <a:p>
            <a:pPr lvl="1">
              <a:buFont typeface="Courier New" panose="020B0604020202020204" pitchFamily="34" charset="0"/>
              <a:buChar char="o"/>
            </a:pPr>
            <a:r>
              <a:rPr lang="en-US" sz="1600" dirty="0">
                <a:ea typeface="Calibri"/>
                <a:cs typeface="Calibri"/>
              </a:rPr>
              <a:t>It is difficult to deploy new releases – everything needs to change at the same time.</a:t>
            </a:r>
          </a:p>
        </p:txBody>
      </p:sp>
    </p:spTree>
    <p:extLst>
      <p:ext uri="{BB962C8B-B14F-4D97-AF65-F5344CB8AC3E}">
        <p14:creationId xmlns:p14="http://schemas.microsoft.com/office/powerpoint/2010/main" val="277816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B1EE84-C918-4549-8925-3D730BC83B7A}"/>
              </a:ext>
            </a:extLst>
          </p:cNvPr>
          <p:cNvSpPr>
            <a:spLocks noGrp="1"/>
          </p:cNvSpPr>
          <p:nvPr>
            <p:ph type="title"/>
          </p:nvPr>
        </p:nvSpPr>
        <p:spPr>
          <a:xfrm>
            <a:off x="4654296" y="329184"/>
            <a:ext cx="6894576" cy="1783080"/>
          </a:xfrm>
        </p:spPr>
        <p:txBody>
          <a:bodyPr anchor="b">
            <a:normAutofit/>
          </a:bodyPr>
          <a:lstStyle/>
          <a:p>
            <a:r>
              <a:rPr lang="en-US" sz="5400">
                <a:cs typeface="Calibri Light"/>
              </a:rPr>
              <a:t>Three Tier Architecture</a:t>
            </a:r>
            <a:endParaRPr lang="en-US" sz="5400"/>
          </a:p>
        </p:txBody>
      </p:sp>
      <p:pic>
        <p:nvPicPr>
          <p:cNvPr id="5" name="Picture 4" descr="Blue blocks and networks technology background">
            <a:extLst>
              <a:ext uri="{FF2B5EF4-FFF2-40B4-BE49-F238E27FC236}">
                <a16:creationId xmlns:a16="http://schemas.microsoft.com/office/drawing/2014/main" id="{33060CAC-2DAE-B81A-896B-FBA268734081}"/>
              </a:ext>
            </a:extLst>
          </p:cNvPr>
          <p:cNvPicPr>
            <a:picLocks noChangeAspect="1"/>
          </p:cNvPicPr>
          <p:nvPr/>
        </p:nvPicPr>
        <p:blipFill>
          <a:blip r:embed="rId2"/>
          <a:srcRect l="17002" r="49906"/>
          <a:stretch/>
        </p:blipFill>
        <p:spPr>
          <a:xfrm>
            <a:off x="20" y="1"/>
            <a:ext cx="4052522" cy="6858000"/>
          </a:xfrm>
          <a:custGeom>
            <a:avLst/>
            <a:gdLst/>
            <a:ahLst/>
            <a:cxnLst/>
            <a:rect l="l" t="t" r="r" b="b"/>
            <a:pathLst>
              <a:path w="4052542" h="6858000">
                <a:moveTo>
                  <a:pt x="0" y="0"/>
                </a:moveTo>
                <a:lnTo>
                  <a:pt x="4020923" y="0"/>
                </a:lnTo>
                <a:lnTo>
                  <a:pt x="4022656" y="14697"/>
                </a:lnTo>
                <a:cubicBezTo>
                  <a:pt x="4037606" y="98462"/>
                  <a:pt x="4035072" y="183369"/>
                  <a:pt x="4039126" y="267642"/>
                </a:cubicBezTo>
                <a:cubicBezTo>
                  <a:pt x="4043941" y="370699"/>
                  <a:pt x="4037860" y="474136"/>
                  <a:pt x="4035579" y="577446"/>
                </a:cubicBezTo>
                <a:cubicBezTo>
                  <a:pt x="4033805" y="665399"/>
                  <a:pt x="4025063" y="753226"/>
                  <a:pt x="4027724" y="841306"/>
                </a:cubicBezTo>
                <a:cubicBezTo>
                  <a:pt x="4027914" y="844352"/>
                  <a:pt x="4027914" y="847398"/>
                  <a:pt x="4027724" y="850444"/>
                </a:cubicBezTo>
                <a:cubicBezTo>
                  <a:pt x="4019615" y="947281"/>
                  <a:pt x="4019615" y="1044626"/>
                  <a:pt x="4027724" y="1141464"/>
                </a:cubicBezTo>
                <a:cubicBezTo>
                  <a:pt x="4030296" y="1181772"/>
                  <a:pt x="4029574" y="1222221"/>
                  <a:pt x="4025570" y="1262415"/>
                </a:cubicBezTo>
                <a:cubicBezTo>
                  <a:pt x="4021769" y="1313563"/>
                  <a:pt x="4009606" y="1365472"/>
                  <a:pt x="4018348" y="1416238"/>
                </a:cubicBezTo>
                <a:cubicBezTo>
                  <a:pt x="4024037" y="1458058"/>
                  <a:pt x="4027166" y="1500194"/>
                  <a:pt x="4027724" y="1542394"/>
                </a:cubicBezTo>
                <a:cubicBezTo>
                  <a:pt x="4032158" y="1636820"/>
                  <a:pt x="4027977" y="1731753"/>
                  <a:pt x="4026330" y="1826433"/>
                </a:cubicBezTo>
                <a:cubicBezTo>
                  <a:pt x="4024556" y="1936724"/>
                  <a:pt x="4027344" y="2047015"/>
                  <a:pt x="4018475" y="2157432"/>
                </a:cubicBezTo>
                <a:cubicBezTo>
                  <a:pt x="4013597" y="2246629"/>
                  <a:pt x="4013597" y="2336029"/>
                  <a:pt x="4018475" y="2425226"/>
                </a:cubicBezTo>
                <a:cubicBezTo>
                  <a:pt x="4020882" y="2506961"/>
                  <a:pt x="4033172" y="2587934"/>
                  <a:pt x="4031145" y="2670557"/>
                </a:cubicBezTo>
                <a:cubicBezTo>
                  <a:pt x="4028737" y="2766886"/>
                  <a:pt x="4017335" y="2862962"/>
                  <a:pt x="4020882" y="2959546"/>
                </a:cubicBezTo>
                <a:cubicBezTo>
                  <a:pt x="4022529" y="3005617"/>
                  <a:pt x="4022656" y="3051688"/>
                  <a:pt x="4023543" y="3097758"/>
                </a:cubicBezTo>
                <a:cubicBezTo>
                  <a:pt x="4024683" y="3153221"/>
                  <a:pt x="4034692" y="3208556"/>
                  <a:pt x="4029117" y="3263892"/>
                </a:cubicBezTo>
                <a:cubicBezTo>
                  <a:pt x="4019869" y="3356161"/>
                  <a:pt x="3995923" y="3446906"/>
                  <a:pt x="4010873" y="3541459"/>
                </a:cubicBezTo>
                <a:cubicBezTo>
                  <a:pt x="4019108" y="3593495"/>
                  <a:pt x="4028357" y="3645658"/>
                  <a:pt x="4033172" y="3698201"/>
                </a:cubicBezTo>
                <a:cubicBezTo>
                  <a:pt x="4037353" y="3745160"/>
                  <a:pt x="4047868" y="3792881"/>
                  <a:pt x="4039886" y="3839586"/>
                </a:cubicBezTo>
                <a:cubicBezTo>
                  <a:pt x="4033045" y="3879565"/>
                  <a:pt x="4036592" y="3919544"/>
                  <a:pt x="4031271" y="3959523"/>
                </a:cubicBezTo>
                <a:cubicBezTo>
                  <a:pt x="4024303" y="4011939"/>
                  <a:pt x="4020629" y="4065244"/>
                  <a:pt x="4015308" y="4118042"/>
                </a:cubicBezTo>
                <a:cubicBezTo>
                  <a:pt x="4010620" y="4165889"/>
                  <a:pt x="4006946" y="4213610"/>
                  <a:pt x="4019615" y="4258539"/>
                </a:cubicBezTo>
                <a:cubicBezTo>
                  <a:pt x="4050656" y="4371622"/>
                  <a:pt x="4033679" y="4484070"/>
                  <a:pt x="4022023" y="4596391"/>
                </a:cubicBezTo>
                <a:cubicBezTo>
                  <a:pt x="4016321" y="4650965"/>
                  <a:pt x="4007959" y="4708712"/>
                  <a:pt x="4020629" y="4758718"/>
                </a:cubicBezTo>
                <a:cubicBezTo>
                  <a:pt x="4043941" y="4847432"/>
                  <a:pt x="4025697" y="4931705"/>
                  <a:pt x="4015561" y="5016866"/>
                </a:cubicBezTo>
                <a:cubicBezTo>
                  <a:pt x="4003335" y="5100174"/>
                  <a:pt x="4005096" y="5184929"/>
                  <a:pt x="4020756" y="5267654"/>
                </a:cubicBezTo>
                <a:cubicBezTo>
                  <a:pt x="4033172" y="5326035"/>
                  <a:pt x="4033172" y="5385432"/>
                  <a:pt x="4034692" y="5444194"/>
                </a:cubicBezTo>
                <a:cubicBezTo>
                  <a:pt x="4035579" y="5481001"/>
                  <a:pt x="4022023" y="5518441"/>
                  <a:pt x="4013027" y="5555120"/>
                </a:cubicBezTo>
                <a:cubicBezTo>
                  <a:pt x="3996937" y="5621371"/>
                  <a:pt x="3991109" y="5688636"/>
                  <a:pt x="4013027" y="5753237"/>
                </a:cubicBezTo>
                <a:cubicBezTo>
                  <a:pt x="4043561" y="5842713"/>
                  <a:pt x="4061045" y="5932189"/>
                  <a:pt x="4048375" y="6026870"/>
                </a:cubicBezTo>
                <a:cubicBezTo>
                  <a:pt x="4041027" y="6085251"/>
                  <a:pt x="4039380" y="6144902"/>
                  <a:pt x="4028357" y="6202522"/>
                </a:cubicBezTo>
                <a:cubicBezTo>
                  <a:pt x="4010240" y="6298091"/>
                  <a:pt x="4016701" y="6393024"/>
                  <a:pt x="4031145" y="6487196"/>
                </a:cubicBezTo>
                <a:cubicBezTo>
                  <a:pt x="4041293" y="6565885"/>
                  <a:pt x="4042395" y="6645474"/>
                  <a:pt x="4034439" y="6724403"/>
                </a:cubicBezTo>
                <a:lnTo>
                  <a:pt x="4025206" y="6858000"/>
                </a:lnTo>
                <a:lnTo>
                  <a:pt x="0" y="6858000"/>
                </a:lnTo>
                <a:close/>
              </a:path>
            </a:pathLst>
          </a:custGeom>
        </p:spPr>
      </p:pic>
      <p:sp>
        <p:nvSpPr>
          <p:cNvPr id="16" name="sketchy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2395728"/>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BE7E50E-BF98-DCC5-20DE-4EA428E4EAAB}"/>
              </a:ext>
            </a:extLst>
          </p:cNvPr>
          <p:cNvSpPr>
            <a:spLocks noGrp="1"/>
          </p:cNvSpPr>
          <p:nvPr>
            <p:ph idx="1"/>
          </p:nvPr>
        </p:nvSpPr>
        <p:spPr>
          <a:xfrm>
            <a:off x="4654296" y="2706624"/>
            <a:ext cx="6894576" cy="3483864"/>
          </a:xfrm>
        </p:spPr>
        <p:txBody>
          <a:bodyPr vert="horz" lIns="91440" tIns="45720" rIns="91440" bIns="45720" rtlCol="0">
            <a:normAutofit/>
          </a:bodyPr>
          <a:lstStyle/>
          <a:p>
            <a:r>
              <a:rPr lang="en-US" sz="2000" dirty="0">
                <a:cs typeface="Calibri"/>
              </a:rPr>
              <a:t>Monolithic architectures work best for a single user on a single computer (e.g. desktop or laptop).</a:t>
            </a:r>
          </a:p>
          <a:p>
            <a:r>
              <a:rPr lang="en-US" sz="2000" dirty="0">
                <a:cs typeface="Calibri"/>
              </a:rPr>
              <a:t>But many systems rely on having multiple users operate interactively on the same set of data.</a:t>
            </a:r>
          </a:p>
          <a:p>
            <a:r>
              <a:rPr lang="en-US" sz="2000" dirty="0">
                <a:cs typeface="Calibri"/>
              </a:rPr>
              <a:t>Many business applications are highly data driven.  Managing data between multiple users can be complex:</a:t>
            </a:r>
          </a:p>
          <a:p>
            <a:pPr lvl="1">
              <a:buFont typeface="Courier New" panose="020B0604020202020204" pitchFamily="34" charset="0"/>
              <a:buChar char="o"/>
            </a:pPr>
            <a:r>
              <a:rPr lang="en-US" sz="2000" dirty="0">
                <a:cs typeface="Calibri"/>
              </a:rPr>
              <a:t>When one user is modifying data, other users cannot reliably access it.</a:t>
            </a:r>
          </a:p>
          <a:p>
            <a:pPr lvl="1">
              <a:buFont typeface="Courier New" panose="020B0604020202020204" pitchFamily="34" charset="0"/>
              <a:buChar char="o"/>
            </a:pPr>
            <a:r>
              <a:rPr lang="en-US" sz="2000" dirty="0">
                <a:cs typeface="Calibri"/>
              </a:rPr>
              <a:t>When there are lots of users - logic, security  and resource usage becomes complex.</a:t>
            </a:r>
          </a:p>
        </p:txBody>
      </p:sp>
    </p:spTree>
    <p:extLst>
      <p:ext uri="{BB962C8B-B14F-4D97-AF65-F5344CB8AC3E}">
        <p14:creationId xmlns:p14="http://schemas.microsoft.com/office/powerpoint/2010/main" val="10812102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034FDF-FF28-C1C9-B48A-07FF38BD7D09}"/>
              </a:ext>
            </a:extLst>
          </p:cNvPr>
          <p:cNvSpPr>
            <a:spLocks noGrp="1"/>
          </p:cNvSpPr>
          <p:nvPr>
            <p:ph type="title"/>
          </p:nvPr>
        </p:nvSpPr>
        <p:spPr>
          <a:xfrm>
            <a:off x="841248" y="256032"/>
            <a:ext cx="10506456" cy="1014984"/>
          </a:xfrm>
        </p:spPr>
        <p:txBody>
          <a:bodyPr anchor="b">
            <a:normAutofit/>
          </a:bodyPr>
          <a:lstStyle/>
          <a:p>
            <a:r>
              <a:rPr lang="en-US" dirty="0">
                <a:cs typeface="Calibri Light"/>
              </a:rPr>
              <a:t>Three Tier Architecture</a:t>
            </a:r>
            <a:endParaRPr lang="en-US" dirty="0"/>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29596E0C-71FC-16C7-6A16-9623FFA71E1E}"/>
              </a:ext>
            </a:extLst>
          </p:cNvPr>
          <p:cNvGraphicFramePr>
            <a:graphicFrameLocks noGrp="1"/>
          </p:cNvGraphicFramePr>
          <p:nvPr>
            <p:ph idx="1"/>
            <p:extLst>
              <p:ext uri="{D42A27DB-BD31-4B8C-83A1-F6EECF244321}">
                <p14:modId xmlns:p14="http://schemas.microsoft.com/office/powerpoint/2010/main" val="641900893"/>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228817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AF529E-07AB-0E5C-5C19-78B25DE026FE}"/>
              </a:ext>
            </a:extLst>
          </p:cNvPr>
          <p:cNvSpPr>
            <a:spLocks noGrp="1"/>
          </p:cNvSpPr>
          <p:nvPr>
            <p:ph type="title"/>
          </p:nvPr>
        </p:nvSpPr>
        <p:spPr>
          <a:xfrm>
            <a:off x="589560" y="856180"/>
            <a:ext cx="4560584" cy="1128068"/>
          </a:xfrm>
        </p:spPr>
        <p:txBody>
          <a:bodyPr anchor="ctr">
            <a:normAutofit/>
          </a:bodyPr>
          <a:lstStyle/>
          <a:p>
            <a:r>
              <a:rPr lang="en-US" sz="3700">
                <a:cs typeface="Calibri Light"/>
              </a:rPr>
              <a:t>Three Tier Architecture</a:t>
            </a:r>
            <a:endParaRPr lang="en-US" sz="3700"/>
          </a:p>
        </p:txBody>
      </p:sp>
      <p:grpSp>
        <p:nvGrpSpPr>
          <p:cNvPr id="25" name="Group 24">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2" name="Rectangle 11">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DE79520-A725-8845-FC47-79D65D66F1B4}"/>
              </a:ext>
            </a:extLst>
          </p:cNvPr>
          <p:cNvSpPr>
            <a:spLocks noGrp="1"/>
          </p:cNvSpPr>
          <p:nvPr>
            <p:ph idx="1"/>
          </p:nvPr>
        </p:nvSpPr>
        <p:spPr>
          <a:xfrm>
            <a:off x="590719" y="2330505"/>
            <a:ext cx="4559425" cy="3979585"/>
          </a:xfrm>
        </p:spPr>
        <p:txBody>
          <a:bodyPr vert="horz" lIns="91440" tIns="45720" rIns="91440" bIns="45720" rtlCol="0" anchor="ctr">
            <a:normAutofit/>
          </a:bodyPr>
          <a:lstStyle/>
          <a:p>
            <a:r>
              <a:rPr lang="en-US" sz="2000">
                <a:cs typeface="Calibri"/>
              </a:rPr>
              <a:t>An early approach to architecture splits systems into three layers:</a:t>
            </a:r>
          </a:p>
          <a:p>
            <a:pPr lvl="1">
              <a:buFont typeface="Courier New" panose="020B0604020202020204" pitchFamily="34" charset="0"/>
              <a:buChar char="o"/>
            </a:pPr>
            <a:r>
              <a:rPr lang="en-US" sz="2000">
                <a:cs typeface="Calibri"/>
              </a:rPr>
              <a:t>Client:  User View and logic</a:t>
            </a:r>
          </a:p>
          <a:p>
            <a:pPr lvl="1">
              <a:buFont typeface="Courier New" panose="020B0604020202020204" pitchFamily="34" charset="0"/>
              <a:buChar char="o"/>
            </a:pPr>
            <a:r>
              <a:rPr lang="en-US" sz="2000" dirty="0">
                <a:cs typeface="Calibri"/>
              </a:rPr>
              <a:t>Application:  Common functionality</a:t>
            </a:r>
          </a:p>
          <a:p>
            <a:pPr lvl="1">
              <a:buFont typeface="Courier New" panose="020B0604020202020204" pitchFamily="34" charset="0"/>
              <a:buChar char="o"/>
            </a:pPr>
            <a:r>
              <a:rPr lang="en-US" sz="2000">
                <a:cs typeface="Calibri"/>
              </a:rPr>
              <a:t>Database:  Stores and manages the data.</a:t>
            </a:r>
          </a:p>
        </p:txBody>
      </p:sp>
      <p:sp>
        <p:nvSpPr>
          <p:cNvPr id="27" name="Rectangle 26">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diagram of a computer&#10;&#10;Description automatically generated">
            <a:extLst>
              <a:ext uri="{FF2B5EF4-FFF2-40B4-BE49-F238E27FC236}">
                <a16:creationId xmlns:a16="http://schemas.microsoft.com/office/drawing/2014/main" id="{C1B6504D-3ACB-0C73-CB2B-4D070DB43236}"/>
              </a:ext>
            </a:extLst>
          </p:cNvPr>
          <p:cNvPicPr>
            <a:picLocks noChangeAspect="1"/>
          </p:cNvPicPr>
          <p:nvPr/>
        </p:nvPicPr>
        <p:blipFill>
          <a:blip r:embed="rId2"/>
          <a:srcRect l="2636" r="134" b="-3"/>
          <a:stretch/>
        </p:blipFill>
        <p:spPr>
          <a:xfrm>
            <a:off x="5977788" y="799352"/>
            <a:ext cx="5425410" cy="5259296"/>
          </a:xfrm>
          <a:prstGeom prst="rect">
            <a:avLst/>
          </a:prstGeom>
        </p:spPr>
      </p:pic>
    </p:spTree>
    <p:extLst>
      <p:ext uri="{BB962C8B-B14F-4D97-AF65-F5344CB8AC3E}">
        <p14:creationId xmlns:p14="http://schemas.microsoft.com/office/powerpoint/2010/main" val="33612147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59DDF0-33F5-17CD-3E63-0705FC66A69D}"/>
              </a:ext>
            </a:extLst>
          </p:cNvPr>
          <p:cNvSpPr>
            <a:spLocks noGrp="1"/>
          </p:cNvSpPr>
          <p:nvPr>
            <p:ph type="title"/>
          </p:nvPr>
        </p:nvSpPr>
        <p:spPr>
          <a:xfrm>
            <a:off x="6739128" y="638089"/>
            <a:ext cx="4818888" cy="1476801"/>
          </a:xfrm>
        </p:spPr>
        <p:txBody>
          <a:bodyPr anchor="b">
            <a:normAutofit/>
          </a:bodyPr>
          <a:lstStyle/>
          <a:p>
            <a:r>
              <a:rPr lang="en-US" sz="5000">
                <a:ea typeface="Calibri Light"/>
                <a:cs typeface="Calibri Light"/>
              </a:rPr>
              <a:t>Distributed Architectures</a:t>
            </a:r>
          </a:p>
        </p:txBody>
      </p:sp>
      <p:pic>
        <p:nvPicPr>
          <p:cNvPr id="4" name="Picture 3" descr="A computer screen with a computer and a sign&#10;&#10;Description automatically generated">
            <a:extLst>
              <a:ext uri="{FF2B5EF4-FFF2-40B4-BE49-F238E27FC236}">
                <a16:creationId xmlns:a16="http://schemas.microsoft.com/office/drawing/2014/main" id="{C8B1F7EC-7DE4-F134-8565-3D768EA692FA}"/>
              </a:ext>
            </a:extLst>
          </p:cNvPr>
          <p:cNvPicPr>
            <a:picLocks noChangeAspect="1"/>
          </p:cNvPicPr>
          <p:nvPr/>
        </p:nvPicPr>
        <p:blipFill>
          <a:blip r:embed="rId2"/>
          <a:stretch>
            <a:fillRect/>
          </a:stretch>
        </p:blipFill>
        <p:spPr>
          <a:xfrm>
            <a:off x="630936" y="1859547"/>
            <a:ext cx="5458968" cy="3138906"/>
          </a:xfrm>
          <a:prstGeom prst="rect">
            <a:avLst/>
          </a:prstGeom>
        </p:spPr>
      </p:pic>
      <p:sp>
        <p:nvSpPr>
          <p:cNvPr id="21" name="sketch line">
            <a:extLst>
              <a:ext uri="{FF2B5EF4-FFF2-40B4-BE49-F238E27FC236}">
                <a16:creationId xmlns:a16="http://schemas.microsoft.com/office/drawing/2014/main" id="{953EE71A-6488-4203-A7C4-77102FD0DC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912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C4F6819-21F7-97FC-78C0-F01B0BDC2F06}"/>
              </a:ext>
            </a:extLst>
          </p:cNvPr>
          <p:cNvSpPr>
            <a:spLocks noGrp="1"/>
          </p:cNvSpPr>
          <p:nvPr>
            <p:ph idx="1"/>
          </p:nvPr>
        </p:nvSpPr>
        <p:spPr>
          <a:xfrm>
            <a:off x="6739128" y="2664886"/>
            <a:ext cx="4818888" cy="3550789"/>
          </a:xfrm>
        </p:spPr>
        <p:txBody>
          <a:bodyPr vert="horz" lIns="91440" tIns="45720" rIns="91440" bIns="45720" rtlCol="0" anchor="t">
            <a:normAutofit/>
          </a:bodyPr>
          <a:lstStyle/>
          <a:p>
            <a:r>
              <a:rPr lang="en-US" sz="1400">
                <a:ea typeface="Calibri"/>
                <a:cs typeface="Calibri"/>
              </a:rPr>
              <a:t>Modern approach to architecture splits systems into multiple components.</a:t>
            </a:r>
          </a:p>
          <a:p>
            <a:r>
              <a:rPr lang="en-US" sz="1400">
                <a:ea typeface="Calibri"/>
                <a:cs typeface="Calibri"/>
              </a:rPr>
              <a:t>This addresses many of the challenges of monolithic systems:</a:t>
            </a:r>
          </a:p>
          <a:p>
            <a:pPr lvl="1">
              <a:buFont typeface="Courier New" panose="020B0604020202020204" pitchFamily="34" charset="0"/>
              <a:buChar char="o"/>
            </a:pPr>
            <a:r>
              <a:rPr lang="en-US" sz="1400">
                <a:ea typeface="Calibri"/>
                <a:cs typeface="Calibri"/>
              </a:rPr>
              <a:t>Each component can be developed and deployed separately</a:t>
            </a:r>
          </a:p>
          <a:p>
            <a:pPr lvl="1">
              <a:buFont typeface="Courier New" panose="020B0604020202020204" pitchFamily="34" charset="0"/>
              <a:buChar char="o"/>
            </a:pPr>
            <a:r>
              <a:rPr lang="en-US" sz="1400">
                <a:ea typeface="Calibri"/>
                <a:cs typeface="Calibri"/>
              </a:rPr>
              <a:t>Components can usually be replicated and run on different servers/locations</a:t>
            </a:r>
          </a:p>
          <a:p>
            <a:pPr lvl="1">
              <a:buFont typeface="Courier New" panose="020B0604020202020204" pitchFamily="34" charset="0"/>
              <a:buChar char="o"/>
            </a:pPr>
            <a:r>
              <a:rPr lang="en-US" sz="1400">
                <a:ea typeface="Calibri"/>
                <a:cs typeface="Calibri"/>
              </a:rPr>
              <a:t>Components can be replicated as demand increases (on different servers)</a:t>
            </a:r>
          </a:p>
          <a:p>
            <a:r>
              <a:rPr lang="en-US" sz="1400">
                <a:ea typeface="Calibri"/>
                <a:cs typeface="Calibri"/>
              </a:rPr>
              <a:t>The most common implementation of a distributed architecture is called Microservices.  This architecture is used by companies such as Netflix, YouTube, Spotify, Microsoft and many more.  Some platforms run hundreds of Microservices, distributed around the world.</a:t>
            </a:r>
          </a:p>
          <a:p>
            <a:pPr lvl="1">
              <a:buFont typeface="Courier New" panose="020B0604020202020204" pitchFamily="34" charset="0"/>
              <a:buChar char="o"/>
            </a:pPr>
            <a:endParaRPr lang="en-US" sz="1400">
              <a:ea typeface="Calibri"/>
              <a:cs typeface="Calibri"/>
            </a:endParaRPr>
          </a:p>
          <a:p>
            <a:pPr lvl="1">
              <a:buFont typeface="Courier New" panose="020B0604020202020204" pitchFamily="34" charset="0"/>
              <a:buChar char="o"/>
            </a:pPr>
            <a:endParaRPr lang="en-US" sz="1400">
              <a:ea typeface="Calibri"/>
              <a:cs typeface="Calibri"/>
            </a:endParaRPr>
          </a:p>
        </p:txBody>
      </p:sp>
    </p:spTree>
    <p:extLst>
      <p:ext uri="{BB962C8B-B14F-4D97-AF65-F5344CB8AC3E}">
        <p14:creationId xmlns:p14="http://schemas.microsoft.com/office/powerpoint/2010/main" val="36178169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3D cube art in black and white.">
            <a:extLst>
              <a:ext uri="{FF2B5EF4-FFF2-40B4-BE49-F238E27FC236}">
                <a16:creationId xmlns:a16="http://schemas.microsoft.com/office/drawing/2014/main" id="{C95DD1A1-A581-FA10-A437-42DD96B01EAE}"/>
              </a:ext>
            </a:extLst>
          </p:cNvPr>
          <p:cNvPicPr>
            <a:picLocks noChangeAspect="1"/>
          </p:cNvPicPr>
          <p:nvPr/>
        </p:nvPicPr>
        <p:blipFill rotWithShape="1">
          <a:blip r:embed="rId2"/>
          <a:srcRect l="24535" r="22184" b="-2"/>
          <a:stretch/>
        </p:blipFill>
        <p:spPr>
          <a:xfrm>
            <a:off x="6103027" y="10"/>
            <a:ext cx="6088971" cy="6857990"/>
          </a:xfrm>
          <a:prstGeom prst="rect">
            <a:avLst/>
          </a:prstGeom>
        </p:spPr>
      </p:pic>
      <p:sp useBgFill="1">
        <p:nvSpPr>
          <p:cNvPr id="11" name="Rectangle 10">
            <a:extLst>
              <a:ext uri="{FF2B5EF4-FFF2-40B4-BE49-F238E27FC236}">
                <a16:creationId xmlns:a16="http://schemas.microsoft.com/office/drawing/2014/main" id="{59B296B9-C5A5-4E4F-9B60-C907B5F14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D0300FD3-5AF1-6305-15FA-907807267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2285995"/>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DB1845-539E-864B-7657-A6A72BEDC908}"/>
              </a:ext>
            </a:extLst>
          </p:cNvPr>
          <p:cNvSpPr>
            <a:spLocks noGrp="1"/>
          </p:cNvSpPr>
          <p:nvPr>
            <p:ph type="title"/>
          </p:nvPr>
        </p:nvSpPr>
        <p:spPr>
          <a:xfrm>
            <a:off x="761801" y="328512"/>
            <a:ext cx="4778387" cy="1628970"/>
          </a:xfrm>
        </p:spPr>
        <p:txBody>
          <a:bodyPr anchor="ctr">
            <a:normAutofit/>
          </a:bodyPr>
          <a:lstStyle/>
          <a:p>
            <a:r>
              <a:rPr lang="en-US" sz="3700">
                <a:ea typeface="Calibri Light"/>
                <a:cs typeface="Calibri Light"/>
              </a:rPr>
              <a:t>Challenges of Distributed Architecture</a:t>
            </a:r>
            <a:endParaRPr lang="en-US" sz="3700"/>
          </a:p>
        </p:txBody>
      </p:sp>
      <p:sp>
        <p:nvSpPr>
          <p:cNvPr id="3" name="Content Placeholder 2">
            <a:extLst>
              <a:ext uri="{FF2B5EF4-FFF2-40B4-BE49-F238E27FC236}">
                <a16:creationId xmlns:a16="http://schemas.microsoft.com/office/drawing/2014/main" id="{3913526E-3892-88E1-8C12-0065990560B2}"/>
              </a:ext>
            </a:extLst>
          </p:cNvPr>
          <p:cNvSpPr>
            <a:spLocks noGrp="1"/>
          </p:cNvSpPr>
          <p:nvPr>
            <p:ph idx="1"/>
          </p:nvPr>
        </p:nvSpPr>
        <p:spPr>
          <a:xfrm>
            <a:off x="761801" y="2884929"/>
            <a:ext cx="4659756" cy="3374137"/>
          </a:xfrm>
        </p:spPr>
        <p:txBody>
          <a:bodyPr vert="horz" lIns="91440" tIns="45720" rIns="91440" bIns="45720" rtlCol="0" anchor="ctr">
            <a:normAutofit/>
          </a:bodyPr>
          <a:lstStyle/>
          <a:p>
            <a:r>
              <a:rPr lang="en-US" sz="2000">
                <a:ea typeface="Calibri"/>
                <a:cs typeface="Calibri"/>
              </a:rPr>
              <a:t>While distributed architectures, like Microservices address many of the weaknesses of a monolithic architecture, they also have some challenges:</a:t>
            </a:r>
          </a:p>
          <a:p>
            <a:pPr lvl="1">
              <a:buFont typeface="Courier New" panose="020B0604020202020204" pitchFamily="34" charset="0"/>
              <a:buChar char="o"/>
            </a:pPr>
            <a:r>
              <a:rPr lang="en-US" sz="2000">
                <a:ea typeface="Calibri"/>
                <a:cs typeface="Calibri"/>
              </a:rPr>
              <a:t>Concurrency and Inter-communications are more complex</a:t>
            </a:r>
          </a:p>
          <a:p>
            <a:pPr lvl="1">
              <a:buFont typeface="Courier New" panose="020B0604020202020204" pitchFamily="34" charset="0"/>
              <a:buChar char="o"/>
            </a:pPr>
            <a:r>
              <a:rPr lang="en-US" sz="2000">
                <a:ea typeface="Calibri"/>
                <a:cs typeface="Calibri"/>
              </a:rPr>
              <a:t>Deployment can be complex</a:t>
            </a:r>
          </a:p>
          <a:p>
            <a:pPr lvl="1">
              <a:buFont typeface="Courier New" panose="020B0604020202020204" pitchFamily="34" charset="0"/>
              <a:buChar char="o"/>
            </a:pPr>
            <a:r>
              <a:rPr lang="en-US" sz="2000">
                <a:ea typeface="Calibri"/>
                <a:cs typeface="Calibri"/>
              </a:rPr>
              <a:t>Monitoring and fault resolution can be complex.</a:t>
            </a:r>
          </a:p>
        </p:txBody>
      </p:sp>
    </p:spTree>
    <p:extLst>
      <p:ext uri="{BB962C8B-B14F-4D97-AF65-F5344CB8AC3E}">
        <p14:creationId xmlns:p14="http://schemas.microsoft.com/office/powerpoint/2010/main" val="21030361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9" name="Rectangle 28">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Freeform: Shape 36">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9" name="Rectangle 38">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FC758E-2894-26A4-CD7B-805430113D7F}"/>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cs typeface="Calibri Light"/>
              </a:rPr>
              <a:t>Operational Concepts</a:t>
            </a:r>
            <a:endParaRPr lang="en-US" sz="4000">
              <a:solidFill>
                <a:srgbClr val="FFFFFF"/>
              </a:solidFill>
            </a:endParaRPr>
          </a:p>
        </p:txBody>
      </p:sp>
      <p:sp>
        <p:nvSpPr>
          <p:cNvPr id="3" name="Content Placeholder 2">
            <a:extLst>
              <a:ext uri="{FF2B5EF4-FFF2-40B4-BE49-F238E27FC236}">
                <a16:creationId xmlns:a16="http://schemas.microsoft.com/office/drawing/2014/main" id="{20019E6A-6016-50CB-6DC6-72F672280047}"/>
              </a:ext>
            </a:extLst>
          </p:cNvPr>
          <p:cNvSpPr>
            <a:spLocks noGrp="1"/>
          </p:cNvSpPr>
          <p:nvPr>
            <p:ph idx="1"/>
          </p:nvPr>
        </p:nvSpPr>
        <p:spPr>
          <a:xfrm>
            <a:off x="4810259" y="649480"/>
            <a:ext cx="6555347" cy="5546047"/>
          </a:xfrm>
        </p:spPr>
        <p:txBody>
          <a:bodyPr vert="horz" lIns="91440" tIns="45720" rIns="91440" bIns="45720" rtlCol="0" anchor="ctr">
            <a:normAutofit/>
          </a:bodyPr>
          <a:lstStyle/>
          <a:p>
            <a:pPr marL="0" indent="0">
              <a:buNone/>
            </a:pPr>
            <a:r>
              <a:rPr lang="en-US" sz="2000" dirty="0">
                <a:ea typeface="Calibri"/>
                <a:cs typeface="Calibri"/>
              </a:rPr>
              <a:t>Architecture is primarily about addressing the challenges faced in production, and we have a number of concepts and terms to describe different aspects of these considerations:</a:t>
            </a:r>
          </a:p>
          <a:p>
            <a:pPr marL="457200" indent="-457200"/>
            <a:r>
              <a:rPr lang="en-US" sz="2000" dirty="0">
                <a:ea typeface="Calibri"/>
                <a:cs typeface="Calibri"/>
              </a:rPr>
              <a:t>Reliability:  Probability of performing a given function  without failure</a:t>
            </a:r>
          </a:p>
          <a:p>
            <a:pPr marL="457200" indent="-457200"/>
            <a:r>
              <a:rPr lang="en-US" sz="2000" dirty="0">
                <a:ea typeface="Calibri"/>
                <a:cs typeface="Calibri"/>
              </a:rPr>
              <a:t>Scalability:  Increasing load (</a:t>
            </a:r>
            <a:r>
              <a:rPr lang="en-US" sz="2000" dirty="0" err="1">
                <a:ea typeface="Calibri"/>
                <a:cs typeface="Calibri"/>
              </a:rPr>
              <a:t>e.g</a:t>
            </a:r>
            <a:r>
              <a:rPr lang="en-US" sz="2000" dirty="0">
                <a:ea typeface="Calibri"/>
                <a:cs typeface="Calibri"/>
              </a:rPr>
              <a:t> more users) does not impact performance</a:t>
            </a:r>
          </a:p>
          <a:p>
            <a:pPr marL="457200" indent="-457200"/>
            <a:r>
              <a:rPr lang="en-US" sz="2000" dirty="0">
                <a:ea typeface="Calibri"/>
                <a:cs typeface="Calibri"/>
              </a:rPr>
              <a:t>Resilience: Whether the system continues to be operational despite failures</a:t>
            </a:r>
          </a:p>
          <a:p>
            <a:pPr marL="457200" indent="-457200"/>
            <a:r>
              <a:rPr lang="en-US" sz="2000" dirty="0">
                <a:ea typeface="Calibri"/>
                <a:cs typeface="Calibri"/>
              </a:rPr>
              <a:t>High Availability:  Percentage of time a system is available</a:t>
            </a:r>
          </a:p>
          <a:p>
            <a:pPr marL="457200" indent="-457200"/>
            <a:r>
              <a:rPr lang="en-US" sz="2000" dirty="0">
                <a:ea typeface="Calibri"/>
                <a:cs typeface="Calibri"/>
              </a:rPr>
              <a:t>Extensibility:  Ease with which a system can expand, without impacting reliability</a:t>
            </a:r>
          </a:p>
          <a:p>
            <a:pPr marL="457200" indent="-457200"/>
            <a:r>
              <a:rPr lang="en-US" sz="2000" dirty="0">
                <a:ea typeface="Calibri"/>
                <a:cs typeface="Calibri"/>
              </a:rPr>
              <a:t>Security:  Suseptability of system to external or internal malicious attacks</a:t>
            </a:r>
          </a:p>
          <a:p>
            <a:pPr marL="457200" indent="-457200"/>
            <a:endParaRPr lang="en-US" sz="2000" dirty="0">
              <a:ea typeface="Calibri"/>
              <a:cs typeface="Calibri"/>
            </a:endParaRPr>
          </a:p>
          <a:p>
            <a:pPr marL="457200" indent="-457200"/>
            <a:endParaRPr lang="en-US" sz="2000" dirty="0">
              <a:ea typeface="Calibri"/>
              <a:cs typeface="Calibri"/>
            </a:endParaRPr>
          </a:p>
          <a:p>
            <a:pPr marL="457200" indent="-457200"/>
            <a:endParaRPr lang="en-US" sz="2000" dirty="0">
              <a:ea typeface="Calibri"/>
              <a:cs typeface="Calibri"/>
            </a:endParaRPr>
          </a:p>
        </p:txBody>
      </p:sp>
    </p:spTree>
    <p:extLst>
      <p:ext uri="{BB962C8B-B14F-4D97-AF65-F5344CB8AC3E}">
        <p14:creationId xmlns:p14="http://schemas.microsoft.com/office/powerpoint/2010/main" val="132761124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801</TotalTime>
  <Words>594</Words>
  <Application>Microsoft Office PowerPoint</Application>
  <PresentationFormat>Widescreen</PresentationFormat>
  <Paragraphs>57</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Software Architecture</vt:lpstr>
      <vt:lpstr>What is Software Architecture</vt:lpstr>
      <vt:lpstr>High Level Design</vt:lpstr>
      <vt:lpstr>Detailed Design</vt:lpstr>
      <vt:lpstr>Decoupling</vt:lpstr>
      <vt:lpstr>Decoupling in Detailed Design</vt:lpstr>
      <vt:lpstr>Decoupling in Architecture</vt:lpstr>
      <vt:lpstr>Architecture</vt:lpstr>
      <vt:lpstr>Monolithic Architecture</vt:lpstr>
      <vt:lpstr>Three Tier Architecture</vt:lpstr>
      <vt:lpstr>Three Tier Architecture</vt:lpstr>
      <vt:lpstr>Three Tier Architecture</vt:lpstr>
      <vt:lpstr>Distributed Architectures</vt:lpstr>
      <vt:lpstr>Challenges of Distributed Architecture</vt:lpstr>
      <vt:lpstr>Operational Concepts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Andrew Shaw</cp:lastModifiedBy>
  <cp:revision>605</cp:revision>
  <dcterms:created xsi:type="dcterms:W3CDTF">2023-11-19T10:04:28Z</dcterms:created>
  <dcterms:modified xsi:type="dcterms:W3CDTF">2024-11-04T12:55:30Z</dcterms:modified>
</cp:coreProperties>
</file>