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09/03/2025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See Lab 4 Switches</a:t>
            </a:r>
          </a:p>
          <a:p>
            <a:r>
              <a:rPr lang="en-IE" dirty="0"/>
              <a:t>No collisions</a:t>
            </a:r>
          </a:p>
          <a:p>
            <a:r>
              <a:rPr lang="en-IE" dirty="0"/>
              <a:t>Unicast traffic limited</a:t>
            </a:r>
          </a:p>
          <a:p>
            <a:r>
              <a:rPr lang="en-IE" dirty="0"/>
              <a:t>Broadcast traffic goes everywhere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63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3/9/2025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Switching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Introduction to Networking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75E1-4BC9-49D2-8C22-76F9C8DD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Hubs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2A758-2A46-4971-995E-5D703F8A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CF040-2087-44EE-82FA-A3CACDBCF1D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Operate at the physical layer of the OSI model</a:t>
            </a:r>
          </a:p>
          <a:p>
            <a:pPr lvl="1"/>
            <a:r>
              <a:rPr lang="en-IE" dirty="0"/>
              <a:t>Retime &amp; regenerate the signal</a:t>
            </a:r>
          </a:p>
          <a:p>
            <a:r>
              <a:rPr lang="en-IE" dirty="0"/>
              <a:t>Increase the total number of devices and the total diameter of the network</a:t>
            </a:r>
          </a:p>
          <a:p>
            <a:r>
              <a:rPr lang="en-IE" dirty="0"/>
              <a:t>Number must be limited to ensure that collisions are detected.</a:t>
            </a:r>
          </a:p>
          <a:p>
            <a:r>
              <a:rPr lang="en-IE" dirty="0"/>
              <a:t>As Ethernet speed increases these limits are particularly problematic</a:t>
            </a:r>
          </a:p>
          <a:p>
            <a:r>
              <a:rPr lang="en-IE" dirty="0"/>
              <a:t>Cannot filter network traffic</a:t>
            </a:r>
          </a:p>
          <a:p>
            <a:pPr lvl="1"/>
            <a:r>
              <a:rPr lang="en-IE" dirty="0"/>
              <a:t>Bits arriving at one port get sent out on all other ports </a:t>
            </a:r>
          </a:p>
        </p:txBody>
      </p:sp>
    </p:spTree>
    <p:extLst>
      <p:ext uri="{BB962C8B-B14F-4D97-AF65-F5344CB8AC3E}">
        <p14:creationId xmlns:p14="http://schemas.microsoft.com/office/powerpoint/2010/main" val="296119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75E1-4BC9-49D2-8C22-76F9C8DD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Hubs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2A758-2A46-4971-995E-5D703F8A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0494B5CA-9734-4B20-97C7-8CD6D81F1B5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3503" y="1628800"/>
            <a:ext cx="8115629" cy="41044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29984-1A02-4F28-8755-30897D3095E5}"/>
              </a:ext>
            </a:extLst>
          </p:cNvPr>
          <p:cNvSpPr txBox="1"/>
          <p:nvPr/>
        </p:nvSpPr>
        <p:spPr>
          <a:xfrm>
            <a:off x="755576" y="1844824"/>
            <a:ext cx="1867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1 Broadcast Domain</a:t>
            </a:r>
          </a:p>
        </p:txBody>
      </p:sp>
    </p:spTree>
    <p:extLst>
      <p:ext uri="{BB962C8B-B14F-4D97-AF65-F5344CB8AC3E}">
        <p14:creationId xmlns:p14="http://schemas.microsoft.com/office/powerpoint/2010/main" val="9047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C0BF-56F0-48B4-A6CD-79CA9219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Switches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3CC0E-EE61-4B61-B955-5749FEC6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54049-3642-4B07-B5AC-9DC1026CD1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link layer network devices that connect network segments together</a:t>
            </a:r>
          </a:p>
          <a:p>
            <a:r>
              <a:rPr lang="en-IE" dirty="0"/>
              <a:t>Intelligent devices that eliminate unnecessary traffic</a:t>
            </a:r>
          </a:p>
          <a:p>
            <a:r>
              <a:rPr lang="en-IE" dirty="0"/>
              <a:t>Reduce the risk of collisions by dividing each segment into separate collision domains</a:t>
            </a:r>
          </a:p>
          <a:p>
            <a:r>
              <a:rPr lang="en-IE" dirty="0"/>
              <a:t>Network component that receives incoming frames, stores them temporarily, and then sends them back out to another port</a:t>
            </a:r>
          </a:p>
          <a:p>
            <a:r>
              <a:rPr lang="en-IE" dirty="0"/>
              <a:t>Filter network traffic by looking at the MAC address.</a:t>
            </a:r>
          </a:p>
        </p:txBody>
      </p:sp>
    </p:spTree>
    <p:extLst>
      <p:ext uri="{BB962C8B-B14F-4D97-AF65-F5344CB8AC3E}">
        <p14:creationId xmlns:p14="http://schemas.microsoft.com/office/powerpoint/2010/main" val="118872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9653-FD4A-44FF-9527-FDF8657D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Switch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4DA894-2139-49B1-9A1C-16320FFB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7C03A7-7DB5-4C00-8542-842958E6FF1D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204881"/>
            <a:ext cx="7772400" cy="30578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9903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99D1-DDC4-5E95-29C1-5D8FD345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 Address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FD41F-C43A-CF22-62E6-18C1CAD1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193CE-0EE6-9A40-0AB6-E38D9000775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410200"/>
          </a:xfrm>
        </p:spPr>
        <p:txBody>
          <a:bodyPr>
            <a:normAutofit/>
          </a:bodyPr>
          <a:lstStyle/>
          <a:p>
            <a:r>
              <a:rPr lang="en-GB" dirty="0"/>
              <a:t>The switch examines its MAC address table to make a forwarding decision for each frame.</a:t>
            </a:r>
          </a:p>
          <a:p>
            <a:pPr lvl="1"/>
            <a:r>
              <a:rPr lang="en-GB" dirty="0"/>
              <a:t>The MAC address table is also referred to as a content addressable memory (CAM) table.</a:t>
            </a:r>
          </a:p>
          <a:p>
            <a:r>
              <a:rPr lang="en-GB" dirty="0"/>
              <a:t>When the switch is first turned on the MAC address table is empty.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5188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9F2D4-138C-EEA9-F3D6-A303B82B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2F6C-744E-AD85-7797-2F22E87B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 Address Table -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8F7A5-FE72-97E3-B624-316263AD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E9BA7-7556-F268-BB22-0DC5941929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01480"/>
          </a:xfrm>
        </p:spPr>
        <p:txBody>
          <a:bodyPr>
            <a:normAutofit/>
          </a:bodyPr>
          <a:lstStyle/>
          <a:p>
            <a:r>
              <a:rPr lang="en-GB" dirty="0"/>
              <a:t>The table is populated by examining the source MAC address and the incoming port number.</a:t>
            </a:r>
          </a:p>
          <a:p>
            <a:pPr lvl="1"/>
            <a:r>
              <a:rPr lang="en-GB" dirty="0"/>
              <a:t>If source MAC address is not in the table, it is added along with the incoming port number. </a:t>
            </a:r>
          </a:p>
          <a:p>
            <a:pPr lvl="1"/>
            <a:r>
              <a:rPr lang="en-GB" dirty="0"/>
              <a:t>If the source MAC address is already in the table, the switch updates the refresh timer for that entry</a:t>
            </a:r>
          </a:p>
          <a:p>
            <a:pPr lvl="2"/>
            <a:r>
              <a:rPr lang="en-GB" dirty="0"/>
              <a:t>300 seconds / 5 minutes</a:t>
            </a:r>
          </a:p>
          <a:p>
            <a:pPr lvl="1"/>
            <a:r>
              <a:rPr lang="en-GB" dirty="0"/>
              <a:t>If the source MAC address is already in the table but is mapped to a different port, the switch treats this as a new entry. </a:t>
            </a:r>
          </a:p>
          <a:p>
            <a:pPr lvl="2"/>
            <a:r>
              <a:rPr lang="en-GB" dirty="0"/>
              <a:t>The entry is replaced using the same MAC address but with the more current port number.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0880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34AAB-9CBB-16BF-01DA-FBF26B01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8771-0267-49C6-45B7-5F2128D0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 Address Table - Forwarding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403296-D140-F7E3-6240-6E1BAA7E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F28BC-16E1-A7E6-BAA6-9BDACEC9922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01480"/>
          </a:xfrm>
        </p:spPr>
        <p:txBody>
          <a:bodyPr>
            <a:normAutofit/>
          </a:bodyPr>
          <a:lstStyle/>
          <a:p>
            <a:r>
              <a:rPr lang="en-GB" dirty="0"/>
              <a:t>If the destination MAC address is a unicast address</a:t>
            </a:r>
          </a:p>
          <a:p>
            <a:pPr lvl="1"/>
            <a:r>
              <a:rPr lang="en-GB" dirty="0"/>
              <a:t>Look for the destination MAC address in the MAC address table. </a:t>
            </a:r>
          </a:p>
          <a:p>
            <a:pPr lvl="2"/>
            <a:r>
              <a:rPr lang="en-GB" dirty="0"/>
              <a:t>If the destination MAC address is found, the frame is forwarding out on the specified port. </a:t>
            </a:r>
          </a:p>
          <a:p>
            <a:pPr lvl="2"/>
            <a:r>
              <a:rPr lang="en-GB" dirty="0"/>
              <a:t>If the destination MAC address is not in the table, the switch will forward the frame out all ports except the incoming port. </a:t>
            </a:r>
          </a:p>
          <a:p>
            <a:pPr lvl="3"/>
            <a:r>
              <a:rPr lang="en-GB" dirty="0"/>
              <a:t>This is called an unknown unicast.</a:t>
            </a:r>
          </a:p>
          <a:p>
            <a:r>
              <a:rPr lang="en-GB" dirty="0"/>
              <a:t>If the destination MAC address is a broadcast or a multicast, the frame is also flooded out all ports except the incoming port.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4701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F92D-2BC6-4F94-BC3B-BBEE1371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Switches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B790-FF80-4BCF-AD1C-6A4670D7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486152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GB" dirty="0"/>
              <a:t>Switches</a:t>
            </a:r>
          </a:p>
          <a:p>
            <a:pPr lvl="1">
              <a:defRPr/>
            </a:pPr>
            <a:r>
              <a:rPr lang="en-GB" dirty="0"/>
              <a:t>Improved network performance</a:t>
            </a:r>
          </a:p>
          <a:p>
            <a:pPr lvl="2">
              <a:defRPr/>
            </a:pPr>
            <a:r>
              <a:rPr lang="en-GB" dirty="0"/>
              <a:t>Greater aggregate throughput </a:t>
            </a:r>
          </a:p>
          <a:p>
            <a:pPr lvl="2">
              <a:defRPr/>
            </a:pPr>
            <a:r>
              <a:rPr lang="en-GB" dirty="0"/>
              <a:t>Micro segmentation - collision domains</a:t>
            </a:r>
          </a:p>
          <a:p>
            <a:pPr marL="914400" lvl="2" indent="0">
              <a:buNone/>
              <a:defRPr/>
            </a:pPr>
            <a:endParaRPr lang="en-GB" dirty="0"/>
          </a:p>
          <a:p>
            <a:pPr marL="914400" lvl="2" indent="0">
              <a:buNone/>
              <a:defRPr/>
            </a:pPr>
            <a:endParaRPr lang="en-GB" dirty="0"/>
          </a:p>
          <a:p>
            <a:pPr marL="914400" lvl="2" indent="0">
              <a:buNone/>
              <a:defRPr/>
            </a:pPr>
            <a:endParaRPr lang="en-GB" dirty="0"/>
          </a:p>
          <a:p>
            <a:pPr marL="914400" lvl="2" indent="0">
              <a:buNone/>
              <a:defRPr/>
            </a:pPr>
            <a:endParaRPr lang="en-GB" dirty="0"/>
          </a:p>
          <a:p>
            <a:pPr marL="914400" lvl="2" indent="0">
              <a:buNone/>
              <a:defRPr/>
            </a:pPr>
            <a:endParaRPr lang="en-GB" dirty="0"/>
          </a:p>
          <a:p>
            <a:pPr marL="914400" lvl="2" indent="0">
              <a:buNone/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r>
              <a:rPr lang="en-GB" dirty="0"/>
              <a:t>Limited – 1 broadcast domain – broadcast storms</a:t>
            </a:r>
            <a:r>
              <a:rPr lang="en-IE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9DDFA-761D-4AA1-B94B-6262FFED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B530F-CC4F-4666-9B13-12130E3878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CE892-7052-418A-9817-5DA7E1A77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020032"/>
            <a:ext cx="5688632" cy="251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73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2F11-4CB7-4DC5-BB6C-EFA902AA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Switch Forwarding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A1C13-0C3E-45BD-9550-9BD39883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5BEB7-4C82-441D-9C5E-0646D1789E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Switches use three kinds of frame-forwarding techniques </a:t>
            </a:r>
          </a:p>
          <a:p>
            <a:pPr lvl="1"/>
            <a:r>
              <a:rPr lang="en-IE" dirty="0"/>
              <a:t>Store-and-forward</a:t>
            </a:r>
          </a:p>
          <a:p>
            <a:pPr lvl="1"/>
            <a:r>
              <a:rPr lang="en-IE" dirty="0"/>
              <a:t>Cut-through </a:t>
            </a:r>
          </a:p>
          <a:p>
            <a:pPr lvl="1"/>
            <a:r>
              <a:rPr lang="en-IE" dirty="0"/>
              <a:t>Modified-cut-through</a:t>
            </a:r>
          </a:p>
          <a:p>
            <a:r>
              <a:rPr lang="en-IE" dirty="0"/>
              <a:t>Each one has its own advantages and disadvantages. </a:t>
            </a:r>
          </a:p>
        </p:txBody>
      </p:sp>
    </p:spTree>
    <p:extLst>
      <p:ext uri="{BB962C8B-B14F-4D97-AF65-F5344CB8AC3E}">
        <p14:creationId xmlns:p14="http://schemas.microsoft.com/office/powerpoint/2010/main" val="158997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A527-E055-415F-941E-E0B372A6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Store and Forward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F6CDA5-1EF9-4F6A-AF1C-1120B9B3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344E2-8AC7-4171-9A9D-C7BE69CD2F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Completely store the incoming frame in internal buffers before sending it out on another port</a:t>
            </a:r>
          </a:p>
          <a:p>
            <a:r>
              <a:rPr lang="en-IE" dirty="0"/>
              <a:t>Switch latency equal to an entire frame</a:t>
            </a:r>
          </a:p>
          <a:p>
            <a:pPr lvl="1"/>
            <a:r>
              <a:rPr lang="en-IE" dirty="0"/>
              <a:t>Could turn into a performance issue</a:t>
            </a:r>
          </a:p>
          <a:p>
            <a:r>
              <a:rPr lang="en-IE" dirty="0"/>
              <a:t>Switch can verify the FCS/CRC before forwarding the frame on the outgoing interface</a:t>
            </a:r>
          </a:p>
          <a:p>
            <a:pPr lvl="1"/>
            <a:r>
              <a:rPr lang="en-IE" dirty="0"/>
              <a:t>Corrupted frames are dropped by the switch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7759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EE42-854B-4112-9B87-40EC7575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Cut-through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71BC1-D9B4-41BF-9B04-A7D6A3AE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3AAE3-0D41-49E8-9460-9D02703C885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Only examine a frame up to the destination address</a:t>
            </a:r>
          </a:p>
          <a:p>
            <a:r>
              <a:rPr lang="en-IE" dirty="0"/>
              <a:t>Allows the frame to be forwarded almost immediately, resulting in very low switch latency</a:t>
            </a:r>
          </a:p>
          <a:p>
            <a:r>
              <a:rPr lang="en-IE" dirty="0"/>
              <a:t>But bad frame will also be forwarded, since the CRC is not checked</a:t>
            </a:r>
          </a:p>
          <a:p>
            <a:r>
              <a:rPr lang="en-IE" dirty="0"/>
              <a:t>Any frame arriving with a valid destination address will be forwarded</a:t>
            </a:r>
          </a:p>
          <a:p>
            <a:r>
              <a:rPr lang="en-IE" dirty="0"/>
              <a:t>Cisco refers to this as Fast-Forward switching</a:t>
            </a:r>
          </a:p>
        </p:txBody>
      </p:sp>
    </p:spTree>
    <p:extLst>
      <p:ext uri="{BB962C8B-B14F-4D97-AF65-F5344CB8AC3E}">
        <p14:creationId xmlns:p14="http://schemas.microsoft.com/office/powerpoint/2010/main" val="252163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5A3A-178E-46FD-9AD1-29500252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Modified Cut Through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EE293-03F8-4BB9-A24B-3DFEBC99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48097-5CEB-400D-8A16-239A3CB7193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Fragment-free (Cisco) switching attempts to offer the best of both worlds by holding an incoming Ethernet frame until the first 64 bytes have been received.</a:t>
            </a:r>
          </a:p>
          <a:p>
            <a:r>
              <a:rPr lang="en-IE" dirty="0"/>
              <a:t>If the frame is bad it can almost always be detected within the first 64 bytes of a frame, so a trade-off between switch latency and error checking is achieved</a:t>
            </a:r>
          </a:p>
          <a:p>
            <a:r>
              <a:rPr lang="en-IE" dirty="0"/>
              <a:t>Switches act like a store-and-forward switch for shorter frames</a:t>
            </a:r>
          </a:p>
          <a:p>
            <a:r>
              <a:rPr lang="en-IE" dirty="0"/>
              <a:t>For large frames, modified cut-through switches act like a cut-through switches.</a:t>
            </a:r>
          </a:p>
        </p:txBody>
      </p:sp>
    </p:spTree>
    <p:extLst>
      <p:ext uri="{BB962C8B-B14F-4D97-AF65-F5344CB8AC3E}">
        <p14:creationId xmlns:p14="http://schemas.microsoft.com/office/powerpoint/2010/main" val="3972389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B3B1-E88F-0157-78AF-1927BD1B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Memory/Buffer Space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B1E453-8BC2-1A47-3E1E-9EAB41D1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9BD21-90DF-8207-938B-8DE8DF6AED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The Ethernet switch may use a buffering technique to store frames before forwarding them or when the destination port is busy because of congestion</a:t>
            </a:r>
          </a:p>
          <a:p>
            <a:r>
              <a:rPr lang="en-GB" dirty="0"/>
              <a:t>There are 2 buffering space techniques:</a:t>
            </a:r>
          </a:p>
          <a:p>
            <a:pPr lvl="1"/>
            <a:r>
              <a:rPr lang="en-GB" dirty="0"/>
              <a:t>Port-based memory</a:t>
            </a:r>
          </a:p>
          <a:p>
            <a:pPr lvl="1"/>
            <a:r>
              <a:rPr lang="en-GB" dirty="0"/>
              <a:t>Shared memory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1897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6894-C4A0-BBA1-6D17-E27E8691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Port-Based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9A9A5A-2F68-8654-1742-23339696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D5B23-7FD5-0C71-700F-82EBFD967A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Frames are stored in queues that are linked to specific incoming  and outgoing ports.</a:t>
            </a:r>
          </a:p>
          <a:p>
            <a:r>
              <a:rPr lang="en-IE" dirty="0"/>
              <a:t>A frame is transmitted to the outgoing port only when all the frames ahead in the queue have been transmitted.</a:t>
            </a:r>
          </a:p>
          <a:p>
            <a:r>
              <a:rPr lang="en-IE" dirty="0"/>
              <a:t>Possible for a single frame to delay the transmission of all the frames in memory because of a busy destination port.</a:t>
            </a:r>
          </a:p>
          <a:p>
            <a:r>
              <a:rPr lang="en-IE" dirty="0"/>
              <a:t>The delay occurs even if the other frames could be transmitted to an open destination port </a:t>
            </a:r>
          </a:p>
        </p:txBody>
      </p:sp>
    </p:spTree>
    <p:extLst>
      <p:ext uri="{BB962C8B-B14F-4D97-AF65-F5344CB8AC3E}">
        <p14:creationId xmlns:p14="http://schemas.microsoft.com/office/powerpoint/2010/main" val="1873469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B4F0-6A02-7209-64A8-A05924E7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Shared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17367A-FE1B-73CB-02D2-9F921854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A432F-B3F8-BFB8-44AE-2C350BA589B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35562"/>
          </a:xfrm>
        </p:spPr>
        <p:txBody>
          <a:bodyPr>
            <a:normAutofit/>
          </a:bodyPr>
          <a:lstStyle/>
          <a:p>
            <a:r>
              <a:rPr lang="en-IE" dirty="0"/>
              <a:t>All frames are placed in a common memory buffer shared by all switch ports.</a:t>
            </a:r>
          </a:p>
          <a:p>
            <a:r>
              <a:rPr lang="en-IE" dirty="0"/>
              <a:t>The amount of buffer memory required by a port is dynamically allocated. </a:t>
            </a:r>
          </a:p>
          <a:p>
            <a:r>
              <a:rPr lang="en-IE" dirty="0"/>
              <a:t>The frames in the buffer are dynamically linked to the destination port.</a:t>
            </a:r>
          </a:p>
          <a:p>
            <a:pPr lvl="1"/>
            <a:r>
              <a:rPr lang="en-IE" dirty="0"/>
              <a:t>This means a frame can be received on one port and transmitted on another port, without moving it to a different queue.</a:t>
            </a:r>
          </a:p>
          <a:p>
            <a:r>
              <a:rPr lang="en-GB" dirty="0"/>
              <a:t>Larger frames can be transmitted with fewer dropped frames.</a:t>
            </a:r>
          </a:p>
          <a:p>
            <a:pPr lvl="1"/>
            <a:r>
              <a:rPr lang="en-IE" dirty="0"/>
              <a:t>Important for asymmetric switching</a:t>
            </a:r>
          </a:p>
          <a:p>
            <a:pPr lvl="2"/>
            <a:r>
              <a:rPr lang="en-IE" dirty="0"/>
              <a:t>Different data rates on different ports  </a:t>
            </a:r>
          </a:p>
        </p:txBody>
      </p:sp>
    </p:spTree>
    <p:extLst>
      <p:ext uri="{BB962C8B-B14F-4D97-AF65-F5344CB8AC3E}">
        <p14:creationId xmlns:p14="http://schemas.microsoft.com/office/powerpoint/2010/main" val="283283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C4D7-7DF9-AC8A-FBB2-52E06F8A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Duplex and Bandwidth Settings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E4796C-452D-68E0-E01C-262F97BB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4E477-F9EA-D63D-8693-74CC247BA0F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/>
          </a:bodyPr>
          <a:lstStyle/>
          <a:p>
            <a:r>
              <a:rPr lang="en-GB" dirty="0"/>
              <a:t>The duplex and bandwidth settings must match between the switch port and the connected devices.</a:t>
            </a:r>
          </a:p>
          <a:p>
            <a:r>
              <a:rPr lang="en-GB" dirty="0"/>
              <a:t>There are 2 types of duplex settings used for communication on an Ethernet network:</a:t>
            </a:r>
          </a:p>
          <a:p>
            <a:pPr lvl="1"/>
            <a:r>
              <a:rPr lang="en-GB" dirty="0"/>
              <a:t>Full-duplex 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dirty="0"/>
              <a:t> Both ends of the connection can send and receive simultaneously.</a:t>
            </a:r>
          </a:p>
          <a:p>
            <a:pPr lvl="2"/>
            <a:r>
              <a:rPr lang="en-GB" dirty="0"/>
              <a:t>Gigabit Ethernet ports operate in full-duplex only</a:t>
            </a:r>
          </a:p>
          <a:p>
            <a:pPr lvl="1"/>
            <a:r>
              <a:rPr lang="en-GB" dirty="0"/>
              <a:t>Half-duplex 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</a:t>
            </a:r>
            <a:r>
              <a:rPr lang="en-GB" dirty="0"/>
              <a:t> Only one end of the connection can send at a time.</a:t>
            </a:r>
          </a:p>
          <a:p>
            <a:r>
              <a:rPr lang="en-GB" dirty="0"/>
              <a:t>Auto-negotiation enables 2 devices to automatically negotiate the best speed and duplex capabilities.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8851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C848-87DF-9407-2920-AA81B272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10/100 Mbps Performance 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CFA5E7-F05C-0A84-FE42-DC758721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AF486-E0FE-F653-B13C-79296BEB6D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Duplex mismatch is one of the most common causes of performance issues on 10/100 Mbps Ethernet links. </a:t>
            </a:r>
          </a:p>
          <a:p>
            <a:r>
              <a:rPr lang="en-GB" dirty="0"/>
              <a:t>It occurs when one port on the link operates at half-duplex while the other port operates at full-duplex.</a:t>
            </a:r>
          </a:p>
          <a:p>
            <a:pPr lvl="1"/>
            <a:r>
              <a:rPr lang="en-GB" dirty="0"/>
              <a:t>Can occur when one or both ports on a link are reset, and the auto-negotiation process does not result in both devices having the same configuration. </a:t>
            </a:r>
          </a:p>
          <a:p>
            <a:pPr lvl="1"/>
            <a:r>
              <a:rPr lang="en-GB" dirty="0"/>
              <a:t>Can occur when users reconfigure one side of a link and forget to reconfigure the other. </a:t>
            </a:r>
          </a:p>
          <a:p>
            <a:pPr lvl="2"/>
            <a:r>
              <a:rPr lang="en-GB" dirty="0"/>
              <a:t>Both sides of a link should have auto-negotiation on, or both sides should have it off.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8627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400B-920B-5F93-0A0C-CF2A0DED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Medium – Dependent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488EE2-3671-4E42-C288-75C2AADA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9297-6D21-CA88-7ED1-A290EBBAD8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410200"/>
          </a:xfrm>
        </p:spPr>
        <p:txBody>
          <a:bodyPr>
            <a:normAutofit lnSpcReduction="10000"/>
          </a:bodyPr>
          <a:lstStyle/>
          <a:p>
            <a:r>
              <a:rPr lang="en-IE" dirty="0"/>
              <a:t>MDI/MDIX (medium-dependent interface/MDI crossover)</a:t>
            </a:r>
          </a:p>
          <a:p>
            <a:r>
              <a:rPr lang="en-GB" dirty="0"/>
              <a:t>Type of Ethernet port connection that uses twisted-pair cabling to link two networked devices. </a:t>
            </a:r>
          </a:p>
          <a:p>
            <a:pPr lvl="1"/>
            <a:r>
              <a:rPr lang="en-GB" dirty="0"/>
              <a:t>MDI devices transmit on pin 1 &amp; 2, receive on pin 3 &amp; 6</a:t>
            </a:r>
          </a:p>
          <a:p>
            <a:pPr lvl="2"/>
            <a:r>
              <a:rPr lang="en-GB" dirty="0"/>
              <a:t>End devices and routers</a:t>
            </a:r>
          </a:p>
          <a:p>
            <a:pPr lvl="1"/>
            <a:r>
              <a:rPr lang="en-GB" dirty="0"/>
              <a:t>MDIX devices transmit on pin 3 &amp; 6, receive on pin 1 &amp; 2</a:t>
            </a:r>
          </a:p>
          <a:p>
            <a:pPr lvl="2"/>
            <a:r>
              <a:rPr lang="en-GB" dirty="0"/>
              <a:t>Switches and hubs</a:t>
            </a:r>
          </a:p>
          <a:p>
            <a:r>
              <a:rPr lang="en-GB" dirty="0"/>
              <a:t>A direct connection between a router and a host or between 2 switches would  in the past require a crossover cable</a:t>
            </a:r>
          </a:p>
          <a:p>
            <a:r>
              <a:rPr lang="en-GB" dirty="0"/>
              <a:t>Most devices now support the automatic medium-dependent interface crossover (auto-MDIX) feature</a:t>
            </a:r>
          </a:p>
          <a:p>
            <a:pPr lvl="1"/>
            <a:r>
              <a:rPr lang="en-GB" dirty="0"/>
              <a:t>Automatically detects the type of cable attached to the port and configure the interface accordingly</a:t>
            </a:r>
          </a:p>
        </p:txBody>
      </p:sp>
    </p:spTree>
    <p:extLst>
      <p:ext uri="{BB962C8B-B14F-4D97-AF65-F5344CB8AC3E}">
        <p14:creationId xmlns:p14="http://schemas.microsoft.com/office/powerpoint/2010/main" val="1687362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1260</TotalTime>
  <Words>1174</Words>
  <Application>Microsoft Office PowerPoint</Application>
  <PresentationFormat>On-screen Show (4:3)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Franklin Gothic Book</vt:lpstr>
      <vt:lpstr>Perpetua</vt:lpstr>
      <vt:lpstr>Wingdings 2</vt:lpstr>
      <vt:lpstr>Equity</vt:lpstr>
      <vt:lpstr>Introduction to Networking</vt:lpstr>
      <vt:lpstr>Hubs</vt:lpstr>
      <vt:lpstr>Hubs</vt:lpstr>
      <vt:lpstr>Switches</vt:lpstr>
      <vt:lpstr>Switch Operation</vt:lpstr>
      <vt:lpstr>MAC Address Table</vt:lpstr>
      <vt:lpstr>MAC Address Table - Learning</vt:lpstr>
      <vt:lpstr>MAC Address Table - Forwarding</vt:lpstr>
      <vt:lpstr>Switches</vt:lpstr>
      <vt:lpstr>Switch Forwarding Methods</vt:lpstr>
      <vt:lpstr>Store and Forward</vt:lpstr>
      <vt:lpstr>Cut-through</vt:lpstr>
      <vt:lpstr>Modified Cut Through</vt:lpstr>
      <vt:lpstr>Memory/Buffer Space</vt:lpstr>
      <vt:lpstr>Port-Based Memory</vt:lpstr>
      <vt:lpstr>Shared Memory</vt:lpstr>
      <vt:lpstr>Duplex and Bandwidth Settings</vt:lpstr>
      <vt:lpstr>10/100 Mbps Performance Issues</vt:lpstr>
      <vt:lpstr>Medium – Dependent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82</cp:revision>
  <dcterms:created xsi:type="dcterms:W3CDTF">2017-01-20T17:30:53Z</dcterms:created>
  <dcterms:modified xsi:type="dcterms:W3CDTF">2025-03-09T22:00:01Z</dcterms:modified>
</cp:coreProperties>
</file>