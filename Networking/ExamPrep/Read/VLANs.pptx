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9" r:id="rId10"/>
    <p:sldId id="270" r:id="rId11"/>
    <p:sldId id="271" r:id="rId12"/>
    <p:sldId id="272" r:id="rId13"/>
    <p:sldId id="275" r:id="rId14"/>
    <p:sldId id="264" r:id="rId15"/>
    <p:sldId id="273" r:id="rId16"/>
    <p:sldId id="267" r:id="rId17"/>
    <p:sldId id="265" r:id="rId18"/>
    <p:sldId id="268" r:id="rId19"/>
    <p:sldId id="274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671" autoAdjust="0"/>
  </p:normalViewPr>
  <p:slideViewPr>
    <p:cSldViewPr>
      <p:cViewPr varScale="1">
        <p:scale>
          <a:sx n="88" d="100"/>
          <a:sy n="88" d="100"/>
        </p:scale>
        <p:origin x="22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26/03/2025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A602B-B0FE-4F78-8DA2-F29EB6A30FE6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3778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977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647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Lab 4 VLAN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00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Lab 4 VLAN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450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683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18545-B035-A03A-1132-EC8006CD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3B80F-1059-A7BB-54BE-EAEAC9689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8E5C8-9AAB-A60D-8DB0-B185331B1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F9C1-54DB-2342-2BDA-A6EDAFCB0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C6E10-8C45-4E04-81B2-C42EB89D0CFA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87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3/26/2025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Virtual Local Area Networks (VLANs)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Networking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93AE-E1DF-4423-8494-B07A7E4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Broadcast Domain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416744-CC9E-44E9-A6B0-843E0316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FD0B38-0CAA-418E-8D78-36ABE588B3D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776412" y="2204864"/>
            <a:ext cx="5591175" cy="2667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B7DD4EE-3CAA-4D72-8D0E-03845FA28C0D}"/>
              </a:ext>
            </a:extLst>
          </p:cNvPr>
          <p:cNvSpPr/>
          <p:nvPr/>
        </p:nvSpPr>
        <p:spPr>
          <a:xfrm>
            <a:off x="1691680" y="2188348"/>
            <a:ext cx="5976664" cy="3633687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A38CA-701E-4873-81E3-EF6CC8D153A7}"/>
              </a:ext>
            </a:extLst>
          </p:cNvPr>
          <p:cNvSpPr txBox="1"/>
          <p:nvPr/>
        </p:nvSpPr>
        <p:spPr>
          <a:xfrm>
            <a:off x="5774541" y="2003682"/>
            <a:ext cx="1867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 Broadcast Domain</a:t>
            </a:r>
          </a:p>
        </p:txBody>
      </p:sp>
    </p:spTree>
    <p:extLst>
      <p:ext uri="{BB962C8B-B14F-4D97-AF65-F5344CB8AC3E}">
        <p14:creationId xmlns:p14="http://schemas.microsoft.com/office/powerpoint/2010/main" val="289620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AE28-8455-4C17-8850-B22EB9F6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Virtual 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0F21-58DB-4617-9035-B4EA2D9F6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VLANs are created at Layer 2</a:t>
            </a:r>
          </a:p>
          <a:p>
            <a:pPr lvl="1"/>
            <a:r>
              <a:rPr lang="en-GB" dirty="0"/>
              <a:t>Virtual network(s) on top of a single physical network</a:t>
            </a:r>
            <a:endParaRPr lang="en-IE" dirty="0"/>
          </a:p>
          <a:p>
            <a:r>
              <a:rPr lang="en-IE" dirty="0"/>
              <a:t>Reduce broadcast traffic</a:t>
            </a:r>
          </a:p>
          <a:p>
            <a:pPr lvl="1"/>
            <a:r>
              <a:rPr lang="en-IE" dirty="0"/>
              <a:t>Each VLAN is a separate broadcast domain</a:t>
            </a:r>
          </a:p>
          <a:p>
            <a:r>
              <a:rPr lang="en-IE" dirty="0"/>
              <a:t>Break up a switched network into smaller networks</a:t>
            </a:r>
          </a:p>
          <a:p>
            <a:pPr lvl="1"/>
            <a:r>
              <a:rPr lang="en-IE" dirty="0"/>
              <a:t>Devices within a single VLAN communicate with each other </a:t>
            </a:r>
          </a:p>
          <a:p>
            <a:pPr lvl="1"/>
            <a:r>
              <a:rPr lang="en-IE" dirty="0"/>
              <a:t>Don’t see traffic (broadcast) from other networks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934F-F74A-474E-A552-6B2DA0FF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F08FE-7B8D-4129-83A8-4A22C23FF4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9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25ED-8DD9-4B11-AF54-4A6E2060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C9B51-B802-4492-9AD5-DC6C4FFF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Segment networks based on function, team, or application</a:t>
            </a:r>
          </a:p>
          <a:p>
            <a:pPr lvl="1"/>
            <a:r>
              <a:rPr lang="en-IE" dirty="0"/>
              <a:t>Without regard for the physical location </a:t>
            </a:r>
          </a:p>
          <a:p>
            <a:pPr lvl="1"/>
            <a:r>
              <a:rPr lang="en-IE" dirty="0"/>
              <a:t>Example voice (VoIP) network</a:t>
            </a:r>
          </a:p>
          <a:p>
            <a:r>
              <a:rPr lang="en-IE" dirty="0"/>
              <a:t>Each VLAN is considered a separate logical network </a:t>
            </a:r>
          </a:p>
          <a:p>
            <a:pPr lvl="1"/>
            <a:r>
              <a:rPr lang="en-IE" dirty="0"/>
              <a:t>Even if they share a switch</a:t>
            </a:r>
          </a:p>
          <a:p>
            <a:r>
              <a:rPr lang="en-IE" dirty="0"/>
              <a:t>Any switch port can belong to any VLAN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AA48-5D8D-4474-BA7F-5B5E96560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93A18-2F88-430B-A1BB-C77BBC9A34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72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A1BA-89D0-458C-AAB0-B69155FF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F2CB4-309C-4482-871C-AAADAF4C3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Unicast, broadcast, and multicast packets are forwarded and flooded only to end devices within the VLAN </a:t>
            </a:r>
          </a:p>
          <a:p>
            <a:r>
              <a:rPr lang="en-IE" dirty="0"/>
              <a:t>Packets destined for devices that do not belong to the VLAN must be forwarded through a device that supports routing</a:t>
            </a:r>
          </a:p>
          <a:p>
            <a:pPr lvl="1"/>
            <a:r>
              <a:rPr lang="en-IE" dirty="0"/>
              <a:t>Router / Layer 3 switch (multilayer switch)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1078E-1791-4739-97D7-0CBFA91F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911B2-0BC9-4BA2-9E84-363860D323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5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AA0F-1186-4828-8F7D-C7C7A53F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E8DA-787A-4648-90C6-3415F7C8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Each VLAN is a separate IP subnet</a:t>
            </a:r>
          </a:p>
          <a:p>
            <a:r>
              <a:rPr lang="en-IE" dirty="0"/>
              <a:t>Creates a logical broadcast domain that can span multiple physical LAN segments (switches)</a:t>
            </a:r>
          </a:p>
          <a:p>
            <a:r>
              <a:rPr lang="en-IE" dirty="0"/>
              <a:t>Improve network performance – less broadcasts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FD252-A80D-41E2-B3B7-DBD05E44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995CC-077B-498B-B15A-5EDA8DEF8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93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FBE7-FC9B-4B7A-AA2F-B3723279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8B42-11D6-47AC-BEC5-2CE464864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E" dirty="0"/>
              <a:t>Smaller broadcast domains</a:t>
            </a:r>
          </a:p>
          <a:p>
            <a:r>
              <a:rPr lang="en-IE" dirty="0"/>
              <a:t>Better performance</a:t>
            </a:r>
          </a:p>
          <a:p>
            <a:r>
              <a:rPr lang="en-IE" dirty="0"/>
              <a:t>Better security</a:t>
            </a:r>
          </a:p>
          <a:p>
            <a:pPr lvl="1"/>
            <a:r>
              <a:rPr lang="en-IE" dirty="0"/>
              <a:t>Limit impact of network issues or security breaches to a specific VLAN</a:t>
            </a:r>
          </a:p>
          <a:p>
            <a:r>
              <a:rPr lang="en-IE" dirty="0"/>
              <a:t>Reduced cost</a:t>
            </a:r>
          </a:p>
          <a:p>
            <a:r>
              <a:rPr lang="en-IE" dirty="0"/>
              <a:t>Better IT efficiency</a:t>
            </a:r>
          </a:p>
          <a:p>
            <a:r>
              <a:rPr lang="en-IE" dirty="0"/>
              <a:t>More Flexibility</a:t>
            </a:r>
          </a:p>
          <a:p>
            <a:pPr lvl="1"/>
            <a:r>
              <a:rPr lang="en-IE" dirty="0"/>
              <a:t>Logical groups communicate as if they were on the same physical LAN</a:t>
            </a:r>
          </a:p>
          <a:p>
            <a:pPr lvl="1"/>
            <a:r>
              <a:rPr lang="en-IE" dirty="0"/>
              <a:t>Easier administration/network management – configure via software 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9E534-700C-498A-A5E7-01ED0221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76635-0472-449F-8645-4561A2812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02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FAA5-FF4F-41A3-B088-458C10EB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Switchports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C735-03BE-4EFC-947D-1B0744674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Access Ports – connect to an end device</a:t>
            </a:r>
          </a:p>
          <a:p>
            <a:pPr lvl="1"/>
            <a:r>
              <a:rPr lang="en-IE" dirty="0"/>
              <a:t>Assigned to one VLAN</a:t>
            </a:r>
          </a:p>
          <a:p>
            <a:r>
              <a:rPr lang="en-IE" dirty="0"/>
              <a:t>Trunk ports – connect 2 switches or a switch and a router</a:t>
            </a:r>
          </a:p>
          <a:p>
            <a:pPr lvl="1"/>
            <a:r>
              <a:rPr lang="en-IE" dirty="0"/>
              <a:t>Carry traffic from all VLAN’s</a:t>
            </a:r>
          </a:p>
          <a:p>
            <a:pPr lvl="1"/>
            <a:r>
              <a:rPr lang="en-IE" dirty="0"/>
              <a:t>Traffic is tagged with the VLAN ID</a:t>
            </a:r>
          </a:p>
          <a:p>
            <a:pPr lvl="1"/>
            <a:r>
              <a:rPr lang="en-IE" dirty="0"/>
              <a:t>Protocol = IEEE 802.1Q (4 byte tag)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343C1-DAD4-49EF-8AF4-BE571334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9C131-9979-4396-B146-FB0FA9E456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9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41A9-9046-40DB-3B5D-8F05A5EF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Trunk 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84D518-8D82-C63B-767B-946D6BD7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B4657B1-02C7-C33C-7029-E3888FB094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1417638"/>
            <a:ext cx="6383740" cy="524986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0F25E9-612C-5937-F4DF-6F3B258F31FA}"/>
              </a:ext>
            </a:extLst>
          </p:cNvPr>
          <p:cNvSpPr txBox="1"/>
          <p:nvPr/>
        </p:nvSpPr>
        <p:spPr>
          <a:xfrm>
            <a:off x="1979712" y="2205775"/>
            <a:ext cx="1123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Trunk 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80CEB-0A61-2405-5A68-9D50398F873D}"/>
              </a:ext>
            </a:extLst>
          </p:cNvPr>
          <p:cNvSpPr txBox="1"/>
          <p:nvPr/>
        </p:nvSpPr>
        <p:spPr>
          <a:xfrm>
            <a:off x="3544609" y="3646023"/>
            <a:ext cx="1123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Trunk Link</a:t>
            </a:r>
          </a:p>
        </p:txBody>
      </p:sp>
    </p:spTree>
    <p:extLst>
      <p:ext uri="{BB962C8B-B14F-4D97-AF65-F5344CB8AC3E}">
        <p14:creationId xmlns:p14="http://schemas.microsoft.com/office/powerpoint/2010/main" val="204719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B0DDFF-D3B4-48EB-25EB-1C9FD532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IEEE 802.1Q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520EC0-22A0-0F39-F080-D0575C7B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E8BA48-558E-8604-1D52-4BB7220465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Trunk ports/links carry traffic from all VLANs</a:t>
            </a:r>
          </a:p>
          <a:p>
            <a:r>
              <a:rPr lang="en-IE" dirty="0"/>
              <a:t>Must keep VLAN traffic separate</a:t>
            </a:r>
          </a:p>
          <a:p>
            <a:pPr lvl="1"/>
            <a:r>
              <a:rPr lang="en-IE" dirty="0"/>
              <a:t>Identify/mark/tag frames from different VLANs</a:t>
            </a:r>
          </a:p>
          <a:p>
            <a:r>
              <a:rPr lang="en-IE" dirty="0"/>
              <a:t>IEEE 802.1Q is an open standard trunking protocol</a:t>
            </a:r>
          </a:p>
          <a:p>
            <a:r>
              <a:rPr lang="en-IE" dirty="0"/>
              <a:t>Adds a 32-bit/4-byte Tag field after the Source MAC address and before the Type/Length field to frames on a trunk link only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5DB6B0-302E-35CE-D239-54854C45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" y="4725144"/>
            <a:ext cx="9144000" cy="117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5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5724-4513-FED1-F7D1-399071B5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Tagged Frame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F19422-5ECD-CA55-69EC-C1EEB15E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D76FDD-5088-EFE2-4BA6-EFD169DDB3C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67544" y="1700808"/>
            <a:ext cx="8678328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2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18FB-B029-77F7-A196-AC815157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33564-3EB8-BBED-03A3-09B9004F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F44A5-2B5A-C924-1255-0072515E52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93568"/>
          </a:xfrm>
        </p:spPr>
        <p:txBody>
          <a:bodyPr>
            <a:normAutofit/>
          </a:bodyPr>
          <a:lstStyle/>
          <a:p>
            <a:r>
              <a:rPr lang="en-GB" dirty="0"/>
              <a:t>Tag Protocol Identifier (TPID)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dirty="0"/>
              <a:t> 16 bits, 2 bytes, set to 0x8100</a:t>
            </a:r>
          </a:p>
          <a:p>
            <a:pPr lvl="1"/>
            <a:r>
              <a:rPr lang="en-GB" dirty="0"/>
              <a:t>Same position as the Type/Length field in untagged frames</a:t>
            </a:r>
          </a:p>
          <a:p>
            <a:pPr lvl="1"/>
            <a:r>
              <a:rPr lang="en-GB" dirty="0"/>
              <a:t>Indicates the next field is TCI</a:t>
            </a:r>
          </a:p>
          <a:p>
            <a:r>
              <a:rPr lang="en-GB" dirty="0"/>
              <a:t>Tag control information (TCI)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dirty="0"/>
              <a:t>16 bits, 2 bytes, containing 3 sub-fields:</a:t>
            </a:r>
          </a:p>
          <a:p>
            <a:pPr lvl="1"/>
            <a:r>
              <a:rPr lang="en-GB" dirty="0"/>
              <a:t>Priority code point (PCP) 3 bits, class of service (</a:t>
            </a:r>
            <a:r>
              <a:rPr lang="en-GB" dirty="0" err="1"/>
              <a:t>CoS</a:t>
            </a:r>
            <a:r>
              <a:rPr lang="en-GB" dirty="0"/>
              <a:t>), used to prioritise different traffic</a:t>
            </a:r>
          </a:p>
          <a:p>
            <a:pPr lvl="1"/>
            <a:r>
              <a:rPr lang="en-GB" dirty="0"/>
              <a:t>Drop eligible indicator (DEI) 1 bit, used to indicate frames that can be dropped when/if congestion occurs</a:t>
            </a:r>
          </a:p>
          <a:p>
            <a:pPr lvl="1"/>
            <a:r>
              <a:rPr lang="en-GB" dirty="0"/>
              <a:t>VLAN ID 12 bits, indicates the VLAN to which the frame belongs</a:t>
            </a:r>
          </a:p>
          <a:p>
            <a:pPr lvl="2"/>
            <a:r>
              <a:rPr lang="en-GB" dirty="0"/>
              <a:t>0 and 4095 is reserved, allows up to 4094 VLANs 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05804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5DEB-F564-A4D9-50CA-B6B925AB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Tagged Frame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21CE4-31B3-BEDE-8657-2BC62171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BA9340-0624-1353-4692-4ECB04C2D65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67544" y="1628800"/>
            <a:ext cx="8263024" cy="3384376"/>
          </a:xfrm>
        </p:spPr>
      </p:pic>
    </p:spTree>
    <p:extLst>
      <p:ext uri="{BB962C8B-B14F-4D97-AF65-F5344CB8AC3E}">
        <p14:creationId xmlns:p14="http://schemas.microsoft.com/office/powerpoint/2010/main" val="227745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76D0-89D5-446B-BCD3-2C5AD6D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36B1-4A0B-4369-B44F-9340E9CC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Data VLAN</a:t>
            </a:r>
          </a:p>
          <a:p>
            <a:pPr lvl="1"/>
            <a:r>
              <a:rPr lang="en-IE" dirty="0"/>
              <a:t>User VLAN</a:t>
            </a:r>
          </a:p>
          <a:p>
            <a:pPr lvl="1"/>
            <a:r>
              <a:rPr lang="en-IE" dirty="0"/>
              <a:t>VLANs configured to separate user-generated traffic</a:t>
            </a:r>
          </a:p>
          <a:p>
            <a:pPr lvl="1"/>
            <a:r>
              <a:rPr lang="en-IE" dirty="0"/>
              <a:t>Isolated from other types of traffic such as voice or management</a:t>
            </a:r>
          </a:p>
          <a:p>
            <a:pPr lvl="1"/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9E833-B1A9-4DE9-83AA-936CF19D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E88AC-6EBF-4AA8-A077-CE8D6589B2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1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24CE-EBF2-B701-B843-22382DF2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EDB2-2EDF-ECA5-83B6-ED398519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05922-6E97-FA4A-1946-35A401623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Default VLAN – VLAN 1 (usually)</a:t>
            </a:r>
          </a:p>
          <a:p>
            <a:pPr lvl="1"/>
            <a:r>
              <a:rPr lang="en-IE" dirty="0"/>
              <a:t>All ports are initially assigned to by default</a:t>
            </a:r>
          </a:p>
          <a:p>
            <a:pPr lvl="1"/>
            <a:r>
              <a:rPr lang="en-IE" dirty="0"/>
              <a:t>The native VLAN is VLAN 1</a:t>
            </a:r>
          </a:p>
          <a:p>
            <a:pPr lvl="1"/>
            <a:r>
              <a:rPr lang="en-IE" dirty="0"/>
              <a:t>The management VLAN is VLAN 1 </a:t>
            </a:r>
          </a:p>
          <a:p>
            <a:pPr lvl="1"/>
            <a:r>
              <a:rPr lang="en-IE" dirty="0"/>
              <a:t>VLAN 1 cannot be renamed or deleted</a:t>
            </a:r>
          </a:p>
          <a:p>
            <a:pPr lvl="1"/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E360-26D8-2368-1165-8841E5471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19485-62A2-5767-54F0-F339376750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39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76D0-89D5-446B-BCD3-2C5AD6D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36B1-4A0B-4369-B44F-9340E9CC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Management VLAN</a:t>
            </a:r>
          </a:p>
          <a:p>
            <a:pPr lvl="1"/>
            <a:r>
              <a:rPr lang="en-IE" dirty="0"/>
              <a:t>Data VLAN configured specifically for network management traffic including SSH, Telnet, HTTPS, HTTP, and SNMP</a:t>
            </a:r>
          </a:p>
          <a:p>
            <a:pPr lvl="1"/>
            <a:r>
              <a:rPr lang="en-IE" dirty="0"/>
              <a:t>By default, VLAN 1 is configured as the management VLAN </a:t>
            </a:r>
          </a:p>
          <a:p>
            <a:pPr lvl="1"/>
            <a:r>
              <a:rPr lang="en-IE" dirty="0"/>
              <a:t>Best practice move away from VLAN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9E833-B1A9-4DE9-83AA-936CF19D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E88AC-6EBF-4AA8-A077-CE8D6589B2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944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76D0-89D5-446B-BCD3-2C5AD6D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36B1-4A0B-4369-B44F-9340E9CC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Native VLAN</a:t>
            </a:r>
          </a:p>
          <a:p>
            <a:pPr lvl="1"/>
            <a:r>
              <a:rPr lang="en-IE" dirty="0"/>
              <a:t>A switch may also have to send untagged traffic across a trunk link</a:t>
            </a:r>
          </a:p>
          <a:p>
            <a:pPr lvl="1"/>
            <a:r>
              <a:rPr lang="en-IE" dirty="0"/>
              <a:t>Untagged traffic may be generated by a switch or come from legacy devices</a:t>
            </a:r>
          </a:p>
          <a:p>
            <a:pPr lvl="1"/>
            <a:r>
              <a:rPr lang="en-IE" dirty="0"/>
              <a:t>Untagged traffic is placed on the native VLAN</a:t>
            </a:r>
          </a:p>
          <a:p>
            <a:pPr lvl="1"/>
            <a:r>
              <a:rPr lang="en-IE" dirty="0"/>
              <a:t>The native VLAN on a Cisco switch is VLAN 1</a:t>
            </a:r>
          </a:p>
          <a:p>
            <a:pPr lvl="2"/>
            <a:r>
              <a:rPr lang="en-IE" dirty="0"/>
              <a:t>Move away from VLAN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9E833-B1A9-4DE9-83AA-936CF19D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E88AC-6EBF-4AA8-A077-CE8D6589B2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35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76D0-89D5-446B-BCD3-2C5AD6D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VLAN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36B1-4A0B-4369-B44F-9340E9CC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Voice VLAN</a:t>
            </a:r>
          </a:p>
          <a:p>
            <a:pPr lvl="1"/>
            <a:r>
              <a:rPr lang="en-IE" dirty="0"/>
              <a:t>A separate VLAN is needed to support Voice over IP (VoIP)</a:t>
            </a:r>
          </a:p>
          <a:p>
            <a:pPr lvl="1"/>
            <a:r>
              <a:rPr lang="en-IE" dirty="0"/>
              <a:t>VoIP traffic has different requirements to data:</a:t>
            </a:r>
          </a:p>
          <a:p>
            <a:pPr lvl="2"/>
            <a:r>
              <a:rPr lang="en-IE" dirty="0"/>
              <a:t>Guaranteed bandwidth to ensure voice quality</a:t>
            </a:r>
          </a:p>
          <a:p>
            <a:pPr lvl="2"/>
            <a:r>
              <a:rPr lang="en-IE" dirty="0"/>
              <a:t>Priority over other types of network traffic</a:t>
            </a:r>
          </a:p>
          <a:p>
            <a:pPr lvl="2"/>
            <a:r>
              <a:rPr lang="en-IE" dirty="0"/>
              <a:t>Re-routed to avoid congestion </a:t>
            </a:r>
          </a:p>
          <a:p>
            <a:pPr lvl="2"/>
            <a:r>
              <a:rPr lang="en-IE" dirty="0"/>
              <a:t>Delay of less than 150ms across the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9E833-B1A9-4DE9-83AA-936CF19D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E88AC-6EBF-4AA8-A077-CE8D6589B2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917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D2F9-5171-3F8B-494D-4710A9F8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Assigning Membership to Network Devices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D18AA-EF2A-7C25-1DBC-8E0799E3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EE4AF-0A2F-06BB-63DA-A2CE3336EF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There are three general methods used to decide which VLANs each device should be assigned to:</a:t>
            </a:r>
          </a:p>
          <a:p>
            <a:pPr lvl="1"/>
            <a:r>
              <a:rPr lang="en-GB" dirty="0"/>
              <a:t>Port-based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dirty="0"/>
              <a:t>each physical switch port is statically assigned to a VLAN, and any device connected to that port becomes part of the assigned VLAN.</a:t>
            </a:r>
          </a:p>
          <a:p>
            <a:pPr lvl="1"/>
            <a:r>
              <a:rPr lang="en-GB" dirty="0"/>
              <a:t>MAC address-based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dirty="0"/>
              <a:t>VLAN membership is determined by the connected devices MAC address.  Must configure a table to map each MAC address to a specific VLAN.  More flexible if users are moving around.</a:t>
            </a:r>
          </a:p>
          <a:p>
            <a:pPr lvl="1"/>
            <a:r>
              <a:rPr lang="en-GB" dirty="0"/>
              <a:t>Protocol-based VLAN membership is assigned based on network protocols such as IP or VoIP  </a:t>
            </a:r>
          </a:p>
          <a:p>
            <a:pPr lvl="1"/>
            <a:endParaRPr lang="en-GB" dirty="0"/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014732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1492</TotalTime>
  <Words>858</Words>
  <Application>Microsoft Office PowerPoint</Application>
  <PresentationFormat>On-screen Show (4:3)</PresentationFormat>
  <Paragraphs>139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Franklin Gothic Book</vt:lpstr>
      <vt:lpstr>Perpetua</vt:lpstr>
      <vt:lpstr>Wingdings 2</vt:lpstr>
      <vt:lpstr>Equity</vt:lpstr>
      <vt:lpstr>Networking</vt:lpstr>
      <vt:lpstr>Broadcast Domain</vt:lpstr>
      <vt:lpstr>Virtual LAN</vt:lpstr>
      <vt:lpstr>VLANs</vt:lpstr>
      <vt:lpstr>VLAN Operation</vt:lpstr>
      <vt:lpstr>VLAN</vt:lpstr>
      <vt:lpstr>VLAN Benefits</vt:lpstr>
      <vt:lpstr>Switchports</vt:lpstr>
      <vt:lpstr>Trunk Port</vt:lpstr>
      <vt:lpstr>IEEE 802.1Q</vt:lpstr>
      <vt:lpstr>Tagged Frame Format</vt:lpstr>
      <vt:lpstr>Tag Fields</vt:lpstr>
      <vt:lpstr>Tagged Frame</vt:lpstr>
      <vt:lpstr>VLAN Types</vt:lpstr>
      <vt:lpstr>VLAN Types</vt:lpstr>
      <vt:lpstr>VLAN Types</vt:lpstr>
      <vt:lpstr>VLAN Types</vt:lpstr>
      <vt:lpstr>VLAN Types</vt:lpstr>
      <vt:lpstr>Assigning Membership to Network Devices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85</cp:revision>
  <dcterms:created xsi:type="dcterms:W3CDTF">2017-01-20T17:30:53Z</dcterms:created>
  <dcterms:modified xsi:type="dcterms:W3CDTF">2025-03-26T14:14:54Z</dcterms:modified>
</cp:coreProperties>
</file>