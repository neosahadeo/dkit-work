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35"/>
  </p:notesMasterIdLst>
  <p:sldIdLst>
    <p:sldId id="256" r:id="rId2"/>
    <p:sldId id="258" r:id="rId3"/>
    <p:sldId id="257" r:id="rId4"/>
    <p:sldId id="260" r:id="rId5"/>
    <p:sldId id="261" r:id="rId6"/>
    <p:sldId id="265" r:id="rId7"/>
    <p:sldId id="266" r:id="rId8"/>
    <p:sldId id="274" r:id="rId9"/>
    <p:sldId id="278" r:id="rId10"/>
    <p:sldId id="279" r:id="rId11"/>
    <p:sldId id="280" r:id="rId12"/>
    <p:sldId id="281" r:id="rId13"/>
    <p:sldId id="259" r:id="rId14"/>
    <p:sldId id="262" r:id="rId15"/>
    <p:sldId id="263" r:id="rId16"/>
    <p:sldId id="264" r:id="rId17"/>
    <p:sldId id="282" r:id="rId18"/>
    <p:sldId id="283" r:id="rId19"/>
    <p:sldId id="286" r:id="rId20"/>
    <p:sldId id="284" r:id="rId21"/>
    <p:sldId id="285" r:id="rId22"/>
    <p:sldId id="287" r:id="rId23"/>
    <p:sldId id="289" r:id="rId24"/>
    <p:sldId id="290" r:id="rId25"/>
    <p:sldId id="275" r:id="rId26"/>
    <p:sldId id="276" r:id="rId27"/>
    <p:sldId id="277" r:id="rId28"/>
    <p:sldId id="292" r:id="rId29"/>
    <p:sldId id="293" r:id="rId30"/>
    <p:sldId id="294" r:id="rId31"/>
    <p:sldId id="295" r:id="rId32"/>
    <p:sldId id="296" r:id="rId33"/>
    <p:sldId id="297" r:id="rId34"/>
  </p:sldIdLst>
  <p:sldSz cx="9144000" cy="6858000" type="screen4x3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23/02/2025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2/23/2025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Data Link &amp; Physical Layer - LAN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Networking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92C1-3780-6B56-4249-F62A2461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597F-F734-2E8D-7AA9-B0C8023C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Physical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19438-6508-738A-4128-42DCF62C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7331A-D9F4-E2F9-8F91-2E060E4FE7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physical layer defines the electrical, mechanical, procedural, and functional specifications for activating, maintaining, and deactivating the physical link between end systems</a:t>
            </a:r>
          </a:p>
          <a:p>
            <a:r>
              <a:rPr lang="en-GB" dirty="0"/>
              <a:t>Actual transmission of data</a:t>
            </a:r>
          </a:p>
          <a:p>
            <a:r>
              <a:rPr lang="en-GB" dirty="0"/>
              <a:t>Movement of bits from the sender to the receiver  </a:t>
            </a:r>
          </a:p>
          <a:p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characteristics of the media</a:t>
            </a:r>
          </a:p>
          <a:p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characteristics of the media interface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 of bits into electrical or optical signals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Synchronisation between the sender and the receiver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081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E8D1-DD69-D63E-2DCC-587E37D8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Physical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542847-32A2-C748-792E-A921A0D4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E8E93-CE63-68F0-B47A-056012EDCC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topology – how devices are connected to form a network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GB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Transmission mode – the direction of transmission between devices, i.e. simplex, half – duplex, full duplex. 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3953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F7C0-3B55-5D2B-D197-9F260DDB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Synchronisation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9E3010-AE75-8388-F176-75A5EC80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8FDCD-152C-0544-5341-0179694E9C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The sender and receiver must agree on the transmission rate</a:t>
            </a:r>
          </a:p>
          <a:p>
            <a:pPr lvl="1"/>
            <a:r>
              <a:rPr lang="en-GB" dirty="0"/>
              <a:t>Bit Rate = 1Mbps; Bit Duration = 0.000001 Sec or 1µs</a:t>
            </a:r>
          </a:p>
          <a:p>
            <a:r>
              <a:rPr lang="en-GB" dirty="0"/>
              <a:t>If the sender sends the bits using its own internal clock to govern when bits are transmitted</a:t>
            </a:r>
          </a:p>
          <a:p>
            <a:r>
              <a:rPr lang="en-GB" dirty="0"/>
              <a:t>The receiver samples the transmission media once every bit time (every 1 µs)</a:t>
            </a:r>
          </a:p>
          <a:p>
            <a:pPr lvl="1"/>
            <a:r>
              <a:rPr lang="en-GB" dirty="0"/>
              <a:t>Using its own clock!</a:t>
            </a:r>
          </a:p>
          <a:p>
            <a:r>
              <a:rPr lang="en-GB" dirty="0"/>
              <a:t>In a digital transmission, the receivers' clock is 0.1 percent faster than the sender clock.  How many extra bits does the receiver receive if the data rate is 1 Mbps?</a:t>
            </a:r>
          </a:p>
        </p:txBody>
      </p:sp>
    </p:spTree>
    <p:extLst>
      <p:ext uri="{BB962C8B-B14F-4D97-AF65-F5344CB8AC3E}">
        <p14:creationId xmlns:p14="http://schemas.microsoft.com/office/powerpoint/2010/main" val="36974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36DB-BDE0-3090-08B2-CD367223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Solutions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65D35-064C-088C-3656-489BE755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2E79A-4223-C2EC-043F-DFC30F14DD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Asynchronous transmission – send short blocks of data,</a:t>
            </a:r>
          </a:p>
          <a:p>
            <a:pPr marL="788670" lvl="1" indent="-514350"/>
            <a:r>
              <a:rPr lang="en-GB" dirty="0"/>
              <a:t>Sender &amp; receiver can re-synchronise after each block</a:t>
            </a:r>
          </a:p>
          <a:p>
            <a:pPr marL="788670" lvl="1" indent="-514350"/>
            <a:r>
              <a:rPr lang="en-GB" dirty="0"/>
              <a:t>Block = 1 character</a:t>
            </a:r>
            <a:r>
              <a:rPr lang="en-IE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Synchronous transmission – transmit large blocks rather than single characters</a:t>
            </a:r>
          </a:p>
          <a:p>
            <a:pPr lvl="2"/>
            <a:r>
              <a:rPr lang="en-GB" dirty="0"/>
              <a:t>Still need to synchronise sender and receiver</a:t>
            </a:r>
          </a:p>
          <a:p>
            <a:pPr lvl="3"/>
            <a:r>
              <a:rPr lang="en-GB" dirty="0"/>
              <a:t>Separate clock line</a:t>
            </a:r>
          </a:p>
          <a:p>
            <a:pPr lvl="3"/>
            <a:r>
              <a:rPr lang="en-GB" dirty="0"/>
              <a:t>SYN character(s) at the start of the block to synchronise sender and receiver</a:t>
            </a:r>
          </a:p>
          <a:p>
            <a:pPr lvl="3"/>
            <a:r>
              <a:rPr lang="en-GB" dirty="0"/>
              <a:t>Embed the clock in the signal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5274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5BBC-9D52-0F52-CC74-975AD1A0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Signals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88149F-C957-6B30-A0F5-F36E11D7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B85FE-0976-3AB7-5BBF-B0F994FF1D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Data rate = number of bits sent in 1 second</a:t>
            </a:r>
          </a:p>
          <a:p>
            <a:r>
              <a:rPr lang="en-GB" dirty="0"/>
              <a:t>Signal rate = number of signal elements sent in 1 second</a:t>
            </a:r>
          </a:p>
          <a:p>
            <a:r>
              <a:rPr lang="en-IE" dirty="0"/>
              <a:t>Examples</a:t>
            </a:r>
          </a:p>
          <a:p>
            <a:pPr lvl="1"/>
            <a:r>
              <a:rPr lang="en-IE" dirty="0"/>
              <a:t>Non-return to Zero (NRZ)</a:t>
            </a:r>
          </a:p>
          <a:p>
            <a:pPr lvl="2"/>
            <a:r>
              <a:rPr lang="en-IE" dirty="0"/>
              <a:t>Unipolar scheme</a:t>
            </a:r>
          </a:p>
          <a:p>
            <a:pPr lvl="2"/>
            <a:r>
              <a:rPr lang="en-IE" dirty="0"/>
              <a:t>+</a:t>
            </a:r>
            <a:r>
              <a:rPr lang="en-IE" dirty="0" err="1"/>
              <a:t>ive</a:t>
            </a:r>
            <a:r>
              <a:rPr lang="en-IE" dirty="0"/>
              <a:t> voltage = 1, no voltage = 0</a:t>
            </a:r>
          </a:p>
          <a:p>
            <a:pPr lvl="2"/>
            <a:r>
              <a:rPr lang="en-IE" dirty="0"/>
              <a:t>Voltage doesn’t return to zero during bit transmission</a:t>
            </a:r>
          </a:p>
          <a:p>
            <a:pPr lvl="2"/>
            <a:endParaRPr lang="en-IE" dirty="0"/>
          </a:p>
          <a:p>
            <a:pPr lvl="1"/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D3FBE-7EA6-58AD-A7E0-EA008046DF0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720" y="4293096"/>
            <a:ext cx="3938210" cy="158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346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7071-8B7D-5585-0872-727F903F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E5ECC-819D-11D4-FE9B-8004DB22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95EE8-F898-5457-9BFF-6190C8A0B1A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 lnSpcReduction="10000"/>
          </a:bodyPr>
          <a:lstStyle/>
          <a:p>
            <a:r>
              <a:rPr lang="en-IE" dirty="0"/>
              <a:t>NRZ – L </a:t>
            </a:r>
          </a:p>
          <a:p>
            <a:pPr lvl="1"/>
            <a:r>
              <a:rPr lang="en-IE" dirty="0"/>
              <a:t>Polar Scheme</a:t>
            </a:r>
          </a:p>
          <a:p>
            <a:pPr lvl="1"/>
            <a:r>
              <a:rPr lang="en-IE" dirty="0"/>
              <a:t>+</a:t>
            </a:r>
            <a:r>
              <a:rPr lang="en-IE" dirty="0" err="1"/>
              <a:t>ive</a:t>
            </a:r>
            <a:r>
              <a:rPr lang="en-IE" dirty="0"/>
              <a:t> voltage = 0, -</a:t>
            </a:r>
            <a:r>
              <a:rPr lang="en-IE" dirty="0" err="1"/>
              <a:t>ive</a:t>
            </a:r>
            <a:r>
              <a:rPr lang="en-IE" dirty="0"/>
              <a:t> voltage = 1</a:t>
            </a:r>
          </a:p>
          <a:p>
            <a:pPr lvl="1"/>
            <a:r>
              <a:rPr lang="en-IE" dirty="0"/>
              <a:t>Voltage doesn’t return to zero during bit transmission</a:t>
            </a:r>
          </a:p>
          <a:p>
            <a:pPr lvl="1"/>
            <a:r>
              <a:rPr lang="en-IE" dirty="0"/>
              <a:t>Receiver interprets level of voltage to determine bit value</a:t>
            </a:r>
          </a:p>
          <a:p>
            <a:r>
              <a:rPr lang="en-IE" dirty="0"/>
              <a:t>NRZ – I</a:t>
            </a:r>
          </a:p>
          <a:p>
            <a:pPr lvl="1"/>
            <a:r>
              <a:rPr lang="en-GB" dirty="0"/>
              <a:t>Polar Scheme</a:t>
            </a:r>
          </a:p>
          <a:p>
            <a:pPr lvl="1"/>
            <a:r>
              <a:rPr lang="en-GB" dirty="0"/>
              <a:t>Uses presence or absence of transitions at the start of the bit to determine bit value</a:t>
            </a:r>
          </a:p>
          <a:p>
            <a:pPr lvl="2"/>
            <a:r>
              <a:rPr lang="en-GB" dirty="0"/>
              <a:t>Presence = 1</a:t>
            </a:r>
          </a:p>
          <a:p>
            <a:pPr lvl="2"/>
            <a:r>
              <a:rPr lang="en-GB" dirty="0"/>
              <a:t>Absence = 0</a:t>
            </a:r>
          </a:p>
          <a:p>
            <a:pPr lvl="1"/>
            <a:r>
              <a:rPr lang="en-GB" dirty="0"/>
              <a:t>Voltage doesn’t return to zero during bit transmission</a:t>
            </a:r>
          </a:p>
          <a:p>
            <a:pPr lvl="1"/>
            <a:r>
              <a:rPr lang="en-GB" dirty="0"/>
              <a:t>Bit value is NOT determined by voltage level</a:t>
            </a:r>
          </a:p>
        </p:txBody>
      </p:sp>
    </p:spTree>
    <p:extLst>
      <p:ext uri="{BB962C8B-B14F-4D97-AF65-F5344CB8AC3E}">
        <p14:creationId xmlns:p14="http://schemas.microsoft.com/office/powerpoint/2010/main" val="291782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NRZ – L &amp; NRZ - 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EFC20-BD1F-42CC-97CD-4F857E44517E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7685" y="2017713"/>
            <a:ext cx="799311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Manchester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+</a:t>
            </a:r>
            <a:r>
              <a:rPr lang="en-GB" dirty="0" err="1"/>
              <a:t>ive</a:t>
            </a:r>
            <a:r>
              <a:rPr lang="en-GB" dirty="0"/>
              <a:t> / -</a:t>
            </a:r>
            <a:r>
              <a:rPr lang="en-GB" dirty="0" err="1"/>
              <a:t>ive</a:t>
            </a:r>
            <a:r>
              <a:rPr lang="en-GB" dirty="0"/>
              <a:t> voltages</a:t>
            </a:r>
          </a:p>
          <a:p>
            <a:r>
              <a:rPr lang="en-GB" dirty="0"/>
              <a:t>Mid – bit transition during each bit interval</a:t>
            </a:r>
          </a:p>
          <a:p>
            <a:pPr lvl="1"/>
            <a:r>
              <a:rPr lang="en-GB" dirty="0"/>
              <a:t>Clocking / synchronisation </a:t>
            </a:r>
          </a:p>
          <a:p>
            <a:pPr lvl="1"/>
            <a:r>
              <a:rPr lang="en-GB" dirty="0"/>
              <a:t>Data</a:t>
            </a:r>
          </a:p>
          <a:p>
            <a:pPr lvl="2"/>
            <a:r>
              <a:rPr lang="en-GB" dirty="0"/>
              <a:t>Binary 1 = low to high transition</a:t>
            </a:r>
          </a:p>
          <a:p>
            <a:pPr lvl="2"/>
            <a:r>
              <a:rPr lang="en-GB" dirty="0"/>
              <a:t>Binary 0 = high to low transition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EFC20-BD1F-42CC-97CD-4F857E44517E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Manchester Encoding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EFC20-BD1F-42CC-97CD-4F857E44517E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6" name="Content Placeholder 5" descr="D:\cd_chpt_03\LN2E0328.jpg"/>
          <p:cNvPicPr>
            <a:picLocks noGrp="1"/>
          </p:cNvPicPr>
          <p:nvPr>
            <p:ph idx="1"/>
          </p:nvPr>
        </p:nvPicPr>
        <p:blipFill>
          <a:blip r:embed="rId2"/>
          <a:srcRect t="7288" b="58260"/>
          <a:stretch>
            <a:fillRect/>
          </a:stretch>
        </p:blipFill>
        <p:spPr bwMode="auto">
          <a:xfrm>
            <a:off x="428596" y="2000240"/>
            <a:ext cx="8072494" cy="41434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Differential Manchester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+</a:t>
            </a:r>
            <a:r>
              <a:rPr lang="en-GB" dirty="0" err="1"/>
              <a:t>ive</a:t>
            </a:r>
            <a:r>
              <a:rPr lang="en-GB" dirty="0"/>
              <a:t> / -</a:t>
            </a:r>
            <a:r>
              <a:rPr lang="en-GB" dirty="0" err="1"/>
              <a:t>ive</a:t>
            </a:r>
            <a:r>
              <a:rPr lang="en-GB" dirty="0"/>
              <a:t> voltages</a:t>
            </a:r>
          </a:p>
          <a:p>
            <a:r>
              <a:rPr lang="en-GB" dirty="0"/>
              <a:t>Mid – bit transition during each bit interval</a:t>
            </a:r>
          </a:p>
          <a:p>
            <a:pPr lvl="1"/>
            <a:r>
              <a:rPr lang="en-GB" dirty="0"/>
              <a:t>Clocking / synchronisation  only</a:t>
            </a:r>
          </a:p>
          <a:p>
            <a:r>
              <a:rPr lang="en-GB" dirty="0"/>
              <a:t>Uses presence or absence of transitions at the start of the bit to determine bit value</a:t>
            </a:r>
          </a:p>
          <a:p>
            <a:pPr lvl="2"/>
            <a:r>
              <a:rPr lang="en-GB" dirty="0"/>
              <a:t>Presence = 0</a:t>
            </a:r>
          </a:p>
          <a:p>
            <a:pPr lvl="2"/>
            <a:r>
              <a:rPr lang="en-GB" dirty="0"/>
              <a:t>Absence = 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EFC20-BD1F-42CC-97CD-4F857E44517E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Differential Manchester Encoding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EFC20-BD1F-42CC-97CD-4F857E44517E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6" name="Content Placeholder 5" descr="D:\cd_chpt_03\LN2E0328.jpg"/>
          <p:cNvPicPr>
            <a:picLocks noGrp="1"/>
          </p:cNvPicPr>
          <p:nvPr>
            <p:ph idx="1"/>
          </p:nvPr>
        </p:nvPicPr>
        <p:blipFill>
          <a:blip r:embed="rId2"/>
          <a:srcRect t="51621" b="13264"/>
          <a:stretch>
            <a:fillRect/>
          </a:stretch>
        </p:blipFill>
        <p:spPr bwMode="auto">
          <a:xfrm>
            <a:off x="928662" y="2285992"/>
            <a:ext cx="7786742" cy="3571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A502-B862-274F-6510-B87CBC61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Topology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765839-337B-AE7C-F9C4-B9C2F58D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9DCCB-B100-F6FB-3C16-73F88A8B89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Defines how the network is structured – Physical Topology and how the devices on the network communicate – Logical Topology</a:t>
            </a:r>
          </a:p>
          <a:p>
            <a:r>
              <a:rPr lang="en-IE" dirty="0"/>
              <a:t>Physical Topology – </a:t>
            </a:r>
            <a:r>
              <a:rPr lang="en-GB" dirty="0"/>
              <a:t>structure or the physical arrangement of network devices, how the components of the network are connected.</a:t>
            </a:r>
          </a:p>
          <a:p>
            <a:pPr lvl="1"/>
            <a:r>
              <a:rPr lang="en-GB" dirty="0"/>
              <a:t>May also include specific device location such as room number and location on the equipment rack</a:t>
            </a:r>
          </a:p>
          <a:p>
            <a:pPr lvl="1"/>
            <a:r>
              <a:rPr lang="en-GB" dirty="0"/>
              <a:t>LAN – Star, Extended Star, Hybrid, Legacy (Bus, Ring)</a:t>
            </a:r>
          </a:p>
          <a:p>
            <a:pPr lvl="1"/>
            <a:r>
              <a:rPr lang="en-GB" dirty="0"/>
              <a:t>WAN – Point-to-point, hub and spoke, mesh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62394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1510-B950-21B9-72BC-AAD07EF7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Physical Topologies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00A9D8-C1C8-2A81-BF3D-A023505D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01CE26-6511-F4EC-A13A-2B851DEE760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32410" y="1445086"/>
            <a:ext cx="2152950" cy="178142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433C98-A01A-CEAB-2468-CB89BE20B3F5}"/>
              </a:ext>
            </a:extLst>
          </p:cNvPr>
          <p:cNvSpPr txBox="1"/>
          <p:nvPr/>
        </p:nvSpPr>
        <p:spPr>
          <a:xfrm>
            <a:off x="467544" y="3078436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Star Topology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C0708D-9D8D-5AE9-CB7E-FDF2DCA64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243" y="1335533"/>
            <a:ext cx="4639322" cy="2000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44CABC-743B-F70D-9F08-787310B3AA6F}"/>
              </a:ext>
            </a:extLst>
          </p:cNvPr>
          <p:cNvSpPr txBox="1"/>
          <p:nvPr/>
        </p:nvSpPr>
        <p:spPr>
          <a:xfrm>
            <a:off x="4826952" y="3162038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Extended Star Topology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ED886B-9E76-9E8F-72B0-95A7BBCD6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93" y="4240864"/>
            <a:ext cx="2505425" cy="5239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3D7FA6-535F-0BB0-9271-92FEE0145526}"/>
              </a:ext>
            </a:extLst>
          </p:cNvPr>
          <p:cNvSpPr txBox="1"/>
          <p:nvPr/>
        </p:nvSpPr>
        <p:spPr>
          <a:xfrm>
            <a:off x="1282094" y="4792260"/>
            <a:ext cx="1377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Point-to-point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A1E87A-E74B-257C-9840-305613A90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864" y="3616001"/>
            <a:ext cx="2152950" cy="17736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1BDAD2-BAC1-BCF3-74FE-0DBF2E52E838}"/>
              </a:ext>
            </a:extLst>
          </p:cNvPr>
          <p:cNvSpPr txBox="1"/>
          <p:nvPr/>
        </p:nvSpPr>
        <p:spPr>
          <a:xfrm>
            <a:off x="4109990" y="5389675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Mesh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5B880F-E6F2-7286-9C11-06FFCE089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416" y="3808726"/>
            <a:ext cx="2300180" cy="14670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E896E4-9CA9-26AE-9B4F-E05C809FC706}"/>
              </a:ext>
            </a:extLst>
          </p:cNvPr>
          <p:cNvSpPr txBox="1"/>
          <p:nvPr/>
        </p:nvSpPr>
        <p:spPr>
          <a:xfrm>
            <a:off x="6866157" y="527577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886006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647C-920B-7773-2469-1C4F94D2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Logical Topology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D346C5-91C3-4144-5A72-225827DA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3D022-77CF-C32F-5190-E9A9C39788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Describes how the devices in the network communicate with each other and how data is transmitted</a:t>
            </a:r>
          </a:p>
          <a:p>
            <a:pPr lvl="1"/>
            <a:r>
              <a:rPr lang="en-GB" dirty="0"/>
              <a:t>Broadcast</a:t>
            </a:r>
          </a:p>
          <a:p>
            <a:pPr lvl="1"/>
            <a:r>
              <a:rPr lang="en-GB" dirty="0"/>
              <a:t>Token passing</a:t>
            </a:r>
          </a:p>
          <a:p>
            <a:r>
              <a:rPr lang="en-GB" dirty="0"/>
              <a:t>Logical Topology diagram refers to the way a network transfers frames from one node to the next</a:t>
            </a:r>
          </a:p>
          <a:p>
            <a:pPr lvl="1"/>
            <a:r>
              <a:rPr lang="en-GB" dirty="0"/>
              <a:t>This topology identifies virtual connections using device interfaces and Layer 3 IP addressing schemes.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84411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8B36-4422-2DB7-FFCF-6AECACDF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Transmission Modes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ACB06F-D76D-417C-0471-3CBD7B6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1462C-79C3-5672-B443-676D8770496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35562"/>
          </a:xfrm>
        </p:spPr>
        <p:txBody>
          <a:bodyPr/>
          <a:lstStyle/>
          <a:p>
            <a:r>
              <a:rPr lang="en-IE" dirty="0"/>
              <a:t>Simplex is 1-way only, e.g. from the PC (transmit) to the projector (receive)</a:t>
            </a:r>
          </a:p>
          <a:p>
            <a:r>
              <a:rPr lang="en-IE" dirty="0"/>
              <a:t>Half Duplex means that both devices can transmit and receive but not at the same time</a:t>
            </a:r>
          </a:p>
          <a:p>
            <a:pPr lvl="1"/>
            <a:r>
              <a:rPr lang="en-IE" dirty="0"/>
              <a:t>Legacy Ethernet LAN’s and Wireless LAN’s 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Full Duplex means that both devices can transmit and receive at the same 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69D3F-10C4-3739-1450-290F46210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645024"/>
            <a:ext cx="2143424" cy="61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A0F17B-4A31-ABCD-3FB7-1CA28E743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864" y="5589240"/>
            <a:ext cx="196242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91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F6B6-F0DB-0CA4-E688-13F777C1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 Link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9295BE-DCFA-5E3F-700E-6B18D2FE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B68D3-804D-154B-26D8-9F504C9A82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Framing data &amp; frame synchronisation</a:t>
            </a:r>
          </a:p>
          <a:p>
            <a:r>
              <a:rPr lang="en-GB" dirty="0"/>
              <a:t>Physical addressing</a:t>
            </a:r>
          </a:p>
          <a:p>
            <a:r>
              <a:rPr lang="en-GB" dirty="0"/>
              <a:t>Flow control</a:t>
            </a:r>
          </a:p>
          <a:p>
            <a:r>
              <a:rPr lang="en-GB" dirty="0"/>
              <a:t>Error control</a:t>
            </a:r>
          </a:p>
          <a:p>
            <a:r>
              <a:rPr lang="en-GB" dirty="0"/>
              <a:t>Congestion Control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18134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0E73-3845-A6BD-2776-5584A12E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Framing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8D489D-0A34-C217-229C-7E24B8BB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87495-EF3A-DE92-81E3-B67377458B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Encapsulates the network layer datagram e.g. IP packet or ARP request</a:t>
            </a:r>
          </a:p>
          <a:p>
            <a:r>
              <a:rPr lang="en-IE" dirty="0"/>
              <a:t>The frame format depends on the technology being used</a:t>
            </a:r>
          </a:p>
          <a:p>
            <a:pPr lvl="1"/>
            <a:r>
              <a:rPr lang="en-IE" dirty="0"/>
              <a:t>A wired Ethernet frame will have a different format to a Wireless Ethernet frame</a:t>
            </a:r>
          </a:p>
          <a:p>
            <a:r>
              <a:rPr lang="en-IE" dirty="0"/>
              <a:t>Frame size depends on the payload</a:t>
            </a:r>
          </a:p>
          <a:p>
            <a:pPr lvl="1"/>
            <a:r>
              <a:rPr lang="en-GB" dirty="0"/>
              <a:t>MTU (Maximum Transmission Unit) – limit on the maximum payload</a:t>
            </a:r>
          </a:p>
          <a:p>
            <a:pPr lvl="1"/>
            <a:r>
              <a:rPr lang="en-GB" dirty="0"/>
              <a:t>Large frames have a higher probability of error</a:t>
            </a:r>
          </a:p>
          <a:p>
            <a:pPr lvl="1"/>
            <a:r>
              <a:rPr lang="en-GB" dirty="0"/>
              <a:t>Variable sized frames or fixed sized cells</a:t>
            </a:r>
          </a:p>
          <a:p>
            <a:pPr lvl="1"/>
            <a:r>
              <a:rPr lang="en-GB" dirty="0"/>
              <a:t>Must be able to identify the beginning &amp; end of the frame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67477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DB3B2-A4B9-8081-F4FE-B39F58B7D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5D8D-2BD0-5583-844F-FA732C6A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Addresses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19B53-C22E-61AB-C9CD-9DC111B6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2FCBB-2AB3-77F7-352B-FEDEC8A8BA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Frames will contain addresses (physical, MAC, hardware)</a:t>
            </a:r>
          </a:p>
          <a:p>
            <a:r>
              <a:rPr lang="en-IE" dirty="0"/>
              <a:t>The addresses can be:</a:t>
            </a:r>
          </a:p>
          <a:p>
            <a:pPr lvl="1"/>
            <a:r>
              <a:rPr lang="en-IE" dirty="0"/>
              <a:t>Unicast – 1 receiver</a:t>
            </a:r>
          </a:p>
          <a:p>
            <a:pPr lvl="1"/>
            <a:r>
              <a:rPr lang="en-IE" dirty="0"/>
              <a:t>Multicast – group</a:t>
            </a:r>
          </a:p>
          <a:p>
            <a:pPr lvl="1"/>
            <a:r>
              <a:rPr lang="en-IE" dirty="0"/>
              <a:t>Broadcast – all devices</a:t>
            </a:r>
          </a:p>
          <a:p>
            <a:r>
              <a:rPr lang="en-IE" dirty="0"/>
              <a:t>The source address MUST be unicast</a:t>
            </a:r>
          </a:p>
          <a:p>
            <a:r>
              <a:rPr lang="en-IE" dirty="0"/>
              <a:t>The destination address can be unicast, multicast, broadcast</a:t>
            </a:r>
          </a:p>
        </p:txBody>
      </p:sp>
    </p:spTree>
    <p:extLst>
      <p:ext uri="{BB962C8B-B14F-4D97-AF65-F5344CB8AC3E}">
        <p14:creationId xmlns:p14="http://schemas.microsoft.com/office/powerpoint/2010/main" val="1796500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06BA-8CE3-EE4C-2BCC-77B15B5A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Flow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E0C47-8D62-FCDC-0E26-3145203F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E617B-C79D-008B-0178-2DAFED318B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Limiting/controlling the rate at which data is sent</a:t>
            </a:r>
          </a:p>
          <a:p>
            <a:pPr lvl="1"/>
            <a:r>
              <a:rPr lang="en-GB" dirty="0"/>
              <a:t>Controlled by the receiver</a:t>
            </a:r>
          </a:p>
          <a:p>
            <a:r>
              <a:rPr lang="en-GB" dirty="0"/>
              <a:t>Mentioned at both the data link layer and the transport layer</a:t>
            </a:r>
          </a:p>
          <a:p>
            <a:r>
              <a:rPr lang="en-GB" dirty="0"/>
              <a:t>Can be implemented at the data link layer</a:t>
            </a:r>
          </a:p>
          <a:p>
            <a:pPr lvl="1"/>
            <a:r>
              <a:rPr lang="en-GB" dirty="0"/>
              <a:t>Ethernet does implement flow control, but it’s not widely deployed (pause frame) </a:t>
            </a:r>
          </a:p>
          <a:p>
            <a:r>
              <a:rPr lang="en-GB" dirty="0"/>
              <a:t>More common in the transport layer (TCP)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31817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D6AB-1753-FD48-A402-091FA386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Congestion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C9AA1-C227-A895-3368-5C47BD8B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12B35-DB0A-72C6-50AF-615E3F0C34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Congestion = too much traffic on the network</a:t>
            </a:r>
          </a:p>
          <a:p>
            <a:r>
              <a:rPr lang="en-GB" dirty="0"/>
              <a:t>Congestion control mentioned in the data link layer</a:t>
            </a:r>
          </a:p>
          <a:p>
            <a:pPr lvl="1"/>
            <a:r>
              <a:rPr lang="en-GB" dirty="0"/>
              <a:t>Not really implemented at data link layer</a:t>
            </a:r>
          </a:p>
          <a:p>
            <a:pPr lvl="1"/>
            <a:r>
              <a:rPr lang="en-GB" dirty="0"/>
              <a:t>More common at network and transport layer</a:t>
            </a:r>
          </a:p>
          <a:p>
            <a:pPr lvl="2"/>
            <a:r>
              <a:rPr lang="en-GB" dirty="0"/>
              <a:t>End-to-end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11567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D039-38FF-972A-1420-6CE859F5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37CBD-FA14-02D4-6E29-D7D231CF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CB0A8-8717-E635-A6F6-880BC73494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Applications require guaranteed data delivery</a:t>
            </a:r>
          </a:p>
          <a:p>
            <a:r>
              <a:rPr lang="en-GB" dirty="0"/>
              <a:t>Errors can cause: -</a:t>
            </a:r>
          </a:p>
          <a:p>
            <a:pPr lvl="1"/>
            <a:r>
              <a:rPr lang="en-GB" dirty="0"/>
              <a:t>Data to be received incorrectly </a:t>
            </a:r>
            <a:endParaRPr lang="en-IE" dirty="0"/>
          </a:p>
          <a:p>
            <a:pPr lvl="1"/>
            <a:r>
              <a:rPr lang="en-GB" dirty="0"/>
              <a:t>Data to be lost </a:t>
            </a:r>
            <a:endParaRPr lang="en-IE" dirty="0"/>
          </a:p>
          <a:p>
            <a:pPr lvl="1"/>
            <a:r>
              <a:rPr lang="en-GB" dirty="0"/>
              <a:t>Unwanted data to be generated</a:t>
            </a:r>
          </a:p>
          <a:p>
            <a:r>
              <a:rPr lang="en-GB" dirty="0"/>
              <a:t>Sources of Errors include:</a:t>
            </a:r>
          </a:p>
          <a:p>
            <a:pPr lvl="1"/>
            <a:r>
              <a:rPr lang="en-GB" dirty="0"/>
              <a:t>Impulse Noise</a:t>
            </a:r>
            <a:endParaRPr lang="en-IE" dirty="0"/>
          </a:p>
          <a:p>
            <a:pPr lvl="1"/>
            <a:r>
              <a:rPr lang="en-GB" dirty="0"/>
              <a:t>White Noise</a:t>
            </a:r>
            <a:endParaRPr lang="en-IE" dirty="0"/>
          </a:p>
          <a:p>
            <a:pPr lvl="1"/>
            <a:r>
              <a:rPr lang="en-GB" dirty="0"/>
              <a:t>Attenuation</a:t>
            </a:r>
            <a:endParaRPr lang="en-IE" dirty="0"/>
          </a:p>
          <a:p>
            <a:pPr lvl="1"/>
            <a:r>
              <a:rPr lang="en-GB" dirty="0" err="1"/>
              <a:t>CrossTalk</a:t>
            </a:r>
            <a:endParaRPr lang="en-IE" dirty="0"/>
          </a:p>
          <a:p>
            <a:pPr lvl="1"/>
            <a:r>
              <a:rPr lang="en-GB" dirty="0"/>
              <a:t>Delay Distortion</a:t>
            </a:r>
            <a:endParaRPr lang="en-IE" dirty="0"/>
          </a:p>
          <a:p>
            <a:pPr lvl="1"/>
            <a:r>
              <a:rPr lang="en-GB" dirty="0"/>
              <a:t>Line Failure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71276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Errors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C7AE07-6EBB-4029-9672-700B80EDD9FF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2071678"/>
            <a:ext cx="6419075" cy="1401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0232" y="3929066"/>
            <a:ext cx="5214974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28596" y="2143116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Single bit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58" y="3929066"/>
            <a:ext cx="1782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Burst errors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Approaches to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Prevention</a:t>
            </a:r>
          </a:p>
          <a:p>
            <a:pPr lvl="1"/>
            <a:r>
              <a:rPr lang="en-GB" dirty="0"/>
              <a:t>Reduce noise / interference</a:t>
            </a:r>
            <a:endParaRPr lang="en-US" dirty="0"/>
          </a:p>
          <a:p>
            <a:pPr lvl="0"/>
            <a:r>
              <a:rPr lang="en-GB" dirty="0"/>
              <a:t>Detection</a:t>
            </a:r>
          </a:p>
          <a:p>
            <a:pPr lvl="1"/>
            <a:r>
              <a:rPr lang="en-GB" dirty="0"/>
              <a:t>Redundancy </a:t>
            </a:r>
          </a:p>
          <a:p>
            <a:pPr lvl="2"/>
            <a:r>
              <a:rPr lang="en-GB" dirty="0"/>
              <a:t>Parity checks / Cyclical Redundancy Check (CRC)</a:t>
            </a:r>
            <a:endParaRPr lang="en-US" dirty="0"/>
          </a:p>
          <a:p>
            <a:pPr lvl="0"/>
            <a:r>
              <a:rPr lang="en-GB" dirty="0"/>
              <a:t>Control</a:t>
            </a:r>
          </a:p>
          <a:p>
            <a:pPr lvl="1"/>
            <a:r>
              <a:rPr lang="en-GB" dirty="0"/>
              <a:t>Error correction</a:t>
            </a:r>
          </a:p>
          <a:p>
            <a:pPr lvl="1"/>
            <a:r>
              <a:rPr lang="en-GB" dirty="0"/>
              <a:t>Forward error correction</a:t>
            </a:r>
          </a:p>
          <a:p>
            <a:pPr lvl="1"/>
            <a:r>
              <a:rPr lang="en-GB" dirty="0"/>
              <a:t>Retransmission  </a:t>
            </a:r>
            <a:endParaRPr lang="en-US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24</a:t>
            </a:fld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Cyclical Redundancy Check (CRC)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÷ predetermined binary number = CRC</a:t>
            </a:r>
          </a:p>
          <a:p>
            <a:pPr lvl="1"/>
            <a:r>
              <a:rPr lang="en-GB" dirty="0"/>
              <a:t>CRC  = remainder or redundant bits </a:t>
            </a:r>
          </a:p>
          <a:p>
            <a:pPr lvl="1"/>
            <a:r>
              <a:rPr lang="en-GB" dirty="0"/>
              <a:t>Remainder is added to data before transmission</a:t>
            </a:r>
          </a:p>
          <a:p>
            <a:r>
              <a:rPr lang="en-GB" dirty="0"/>
              <a:t>Data + CRC is evenly divisible by the predetermined binary number</a:t>
            </a:r>
          </a:p>
          <a:p>
            <a:r>
              <a:rPr lang="en-GB" dirty="0"/>
              <a:t>At its destination, the incoming data + CRC is divided by the same number</a:t>
            </a:r>
          </a:p>
          <a:p>
            <a:pPr lvl="1"/>
            <a:r>
              <a:rPr lang="en-GB" dirty="0"/>
              <a:t>Remainder = 0 </a:t>
            </a:r>
            <a:r>
              <a:rPr lang="en-GB" dirty="0">
                <a:sym typeface="Symbol"/>
              </a:rPr>
              <a:t> no error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Polynomial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Polynomial Generator is used to calculate the binary divisor e.g. x</a:t>
            </a:r>
            <a:r>
              <a:rPr lang="en-GB" baseline="30000" dirty="0"/>
              <a:t>4</a:t>
            </a:r>
            <a:r>
              <a:rPr lang="en-GB" dirty="0"/>
              <a:t> + x</a:t>
            </a:r>
            <a:r>
              <a:rPr lang="en-GB" baseline="30000" dirty="0"/>
              <a:t>2</a:t>
            </a:r>
            <a:r>
              <a:rPr lang="en-GB" dirty="0"/>
              <a:t> +1</a:t>
            </a:r>
            <a:endParaRPr lang="en-IE" dirty="0"/>
          </a:p>
          <a:p>
            <a:r>
              <a:rPr lang="en-IE" dirty="0"/>
              <a:t>Binary devisor = </a:t>
            </a:r>
            <a:r>
              <a:rPr lang="en-GB" dirty="0"/>
              <a:t>predetermined binary number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Polynomial Generator - Examples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878112"/>
              </p:ext>
            </p:extLst>
          </p:nvPr>
        </p:nvGraphicFramePr>
        <p:xfrm>
          <a:off x="142844" y="1920240"/>
          <a:ext cx="8643998" cy="436627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28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4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0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7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</a:rPr>
                        <a:t>Name</a:t>
                      </a:r>
                      <a:endParaRPr lang="en-IE" sz="24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</a:rPr>
                        <a:t>Polynomial</a:t>
                      </a:r>
                      <a:endParaRPr lang="en-IE" sz="24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</a:rPr>
                        <a:t>Application</a:t>
                      </a:r>
                      <a:endParaRPr lang="en-IE" sz="24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/>
                        <a:t>CRC – 8 </a:t>
                      </a:r>
                      <a:endParaRPr lang="en-IE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/>
                        <a:t>x</a:t>
                      </a:r>
                      <a:r>
                        <a:rPr lang="en-GB" sz="2400" baseline="30000" dirty="0"/>
                        <a:t>8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2</a:t>
                      </a:r>
                      <a:r>
                        <a:rPr lang="en-GB" sz="2400" dirty="0"/>
                        <a:t> +x +1</a:t>
                      </a:r>
                      <a:endParaRPr lang="en-IE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/>
                        <a:t>ATM</a:t>
                      </a:r>
                      <a:endParaRPr lang="en-IE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/>
                        <a:t>CRC – 10</a:t>
                      </a:r>
                      <a:endParaRPr lang="en-IE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/>
                        <a:t>x</a:t>
                      </a:r>
                      <a:r>
                        <a:rPr lang="en-GB" sz="2400" baseline="30000" dirty="0"/>
                        <a:t>10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9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5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4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2</a:t>
                      </a:r>
                      <a:r>
                        <a:rPr lang="en-GB" sz="2400" dirty="0"/>
                        <a:t> +1</a:t>
                      </a:r>
                      <a:endParaRPr lang="en-IE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/>
                        <a:t>ATM AAL</a:t>
                      </a:r>
                      <a:endParaRPr lang="en-IE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/>
                        <a:t>CRC – 16</a:t>
                      </a:r>
                      <a:endParaRPr lang="en-IE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/>
                        <a:t>x</a:t>
                      </a:r>
                      <a:r>
                        <a:rPr lang="en-GB" sz="2400" baseline="30000" dirty="0"/>
                        <a:t>16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12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5</a:t>
                      </a:r>
                      <a:r>
                        <a:rPr lang="en-GB" sz="2400" dirty="0"/>
                        <a:t> +1</a:t>
                      </a:r>
                      <a:endParaRPr lang="en-IE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/>
                        <a:t>HDLC</a:t>
                      </a:r>
                      <a:endParaRPr lang="en-IE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54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b="1" dirty="0"/>
                        <a:t>CRC – 32 </a:t>
                      </a:r>
                      <a:endParaRPr lang="en-IE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/>
                        <a:t>x</a:t>
                      </a:r>
                      <a:r>
                        <a:rPr lang="en-GB" sz="2400" baseline="30000" dirty="0"/>
                        <a:t>32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26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23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22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16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12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11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10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8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7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5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4</a:t>
                      </a:r>
                      <a:r>
                        <a:rPr lang="en-GB" sz="2400" dirty="0"/>
                        <a:t> + x</a:t>
                      </a:r>
                      <a:r>
                        <a:rPr lang="en-GB" sz="2400" baseline="30000" dirty="0"/>
                        <a:t>2</a:t>
                      </a:r>
                      <a:r>
                        <a:rPr lang="en-GB" sz="2400" dirty="0"/>
                        <a:t> +x +1</a:t>
                      </a:r>
                      <a:endParaRPr lang="en-IE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400" dirty="0"/>
                        <a:t>LAN’s (Ethernet)</a:t>
                      </a:r>
                      <a:endParaRPr lang="en-IE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Steps (Transmitter)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GB" dirty="0"/>
              <a:t>Convert Polynomial Generator to binary</a:t>
            </a:r>
            <a:endParaRPr lang="en-IE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Data is created.</a:t>
            </a:r>
            <a:endParaRPr lang="en-IE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A Frame Check Sequence (FCS) is generated.  </a:t>
            </a:r>
            <a:endParaRPr lang="en-IE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The data + the FCS are divided by the polynomial divisor using binary division</a:t>
            </a:r>
            <a:endParaRPr lang="en-IE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The remainder resulting from this division is the CRC</a:t>
            </a:r>
            <a:endParaRPr lang="en-IE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The data unit + the CRC is sent on the transmission line</a:t>
            </a: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Steps (Receiver)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 receiver divides data &amp; CRC by the same polynomial divisor that was used to find the CRC</a:t>
            </a:r>
            <a:endParaRPr lang="en-IE" dirty="0"/>
          </a:p>
          <a:p>
            <a:pPr lvl="0"/>
            <a:r>
              <a:rPr lang="en-GB" dirty="0"/>
              <a:t>If the string arrives without error, the CRC checker yields a 0 and the data unit passes </a:t>
            </a:r>
            <a:endParaRPr lang="en-IE" dirty="0"/>
          </a:p>
          <a:p>
            <a:pPr lvl="0"/>
            <a:r>
              <a:rPr lang="en-GB" dirty="0"/>
              <a:t>If the string arrives with an error, the CRC checker yields a non-zero remainder, and the data is rejected </a:t>
            </a:r>
            <a:endParaRPr lang="en-IE" dirty="0"/>
          </a:p>
          <a:p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CRC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Data = 11011</a:t>
            </a:r>
          </a:p>
          <a:p>
            <a:r>
              <a:rPr lang="en-IE" dirty="0"/>
              <a:t>Polynomial Generator = </a:t>
            </a:r>
            <a:r>
              <a:rPr lang="en-GB" dirty="0"/>
              <a:t>x</a:t>
            </a:r>
            <a:r>
              <a:rPr lang="en-GB" baseline="30000" dirty="0"/>
              <a:t>4</a:t>
            </a:r>
            <a:r>
              <a:rPr lang="en-GB" dirty="0"/>
              <a:t> + x</a:t>
            </a:r>
            <a:r>
              <a:rPr lang="en-GB" baseline="30000" dirty="0"/>
              <a:t>2</a:t>
            </a:r>
            <a:r>
              <a:rPr lang="en-GB" dirty="0"/>
              <a:t> +1</a:t>
            </a:r>
          </a:p>
          <a:p>
            <a:r>
              <a:rPr lang="en-GB" dirty="0"/>
              <a:t>Step 1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Step 2</a:t>
            </a:r>
          </a:p>
          <a:p>
            <a:endParaRPr lang="en-GB" dirty="0"/>
          </a:p>
          <a:p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30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6CC2C8-1C91-006D-340B-359C54BB4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261641"/>
              </p:ext>
            </p:extLst>
          </p:nvPr>
        </p:nvGraphicFramePr>
        <p:xfrm>
          <a:off x="1314450" y="2977619"/>
          <a:ext cx="60960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9569675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874790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7120824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243550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874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X</a:t>
                      </a:r>
                      <a:r>
                        <a:rPr lang="en-IE" baseline="30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</a:t>
                      </a:r>
                      <a:r>
                        <a:rPr lang="en-IE" baseline="30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</a:t>
                      </a:r>
                      <a:r>
                        <a:rPr lang="en-IE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</a:t>
                      </a:r>
                      <a:r>
                        <a:rPr lang="en-IE" baseline="30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X</a:t>
                      </a:r>
                      <a:r>
                        <a:rPr lang="en-IE" baseline="30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70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2428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5F043E-A966-2615-8F13-BA0ABEFAB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379123"/>
              </p:ext>
            </p:extLst>
          </p:nvPr>
        </p:nvGraphicFramePr>
        <p:xfrm>
          <a:off x="2750102" y="4401831"/>
          <a:ext cx="2664296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24378691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215703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FCS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16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11011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4452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CRC – Example (Cont’d)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45919916"/>
              </p:ext>
            </p:extLst>
          </p:nvPr>
        </p:nvGraphicFramePr>
        <p:xfrm>
          <a:off x="533401" y="2285990"/>
          <a:ext cx="2958480" cy="29337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4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b="1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en-IE" sz="28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b="1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en-IE" sz="28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b="1" dirty="0">
                          <a:solidFill>
                            <a:sysClr val="windowText" lastClr="000000"/>
                          </a:solidFill>
                        </a:rPr>
                        <a:t>XOR</a:t>
                      </a:r>
                      <a:endParaRPr lang="en-IE" sz="28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4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0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/>
                        <a:t>0</a:t>
                      </a:r>
                      <a:endParaRPr lang="en-IE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/>
                        <a:t>0</a:t>
                      </a:r>
                      <a:endParaRPr lang="en-IE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4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0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1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/>
                        <a:t>1</a:t>
                      </a:r>
                      <a:endParaRPr lang="en-IE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4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1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0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/>
                        <a:t>1</a:t>
                      </a:r>
                      <a:endParaRPr lang="en-IE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4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1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/>
                        <a:t>1</a:t>
                      </a:r>
                      <a:endParaRPr lang="en-IE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/>
                        <a:t>0</a:t>
                      </a:r>
                      <a:endParaRPr lang="en-IE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506" marR="4650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321F5C-335B-4771-862B-D5395474CF3B}" type="slidenum">
              <a:rPr lang="en-GB" smtClean="0"/>
              <a:pPr/>
              <a:t>31</a:t>
            </a:fld>
            <a:endParaRPr lang="en-GB"/>
          </a:p>
        </p:txBody>
      </p:sp>
      <p:graphicFrame>
        <p:nvGraphicFramePr>
          <p:cNvPr id="78849" name="Object 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36824911"/>
              </p:ext>
            </p:extLst>
          </p:nvPr>
        </p:nvGraphicFramePr>
        <p:xfrm>
          <a:off x="3851920" y="1334673"/>
          <a:ext cx="2808312" cy="512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2247840" progId="Equation.3">
                  <p:embed/>
                </p:oleObj>
              </mc:Choice>
              <mc:Fallback>
                <p:oleObj name="Equation" r:id="rId2" imgW="1231560" imgH="2247840" progId="Equation.3">
                  <p:embed/>
                  <p:pic>
                    <p:nvPicPr>
                      <p:cNvPr id="7884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334673"/>
                        <a:ext cx="2808312" cy="51244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CRC – Example (Cont’d)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CRC is 1001</a:t>
            </a:r>
          </a:p>
          <a:p>
            <a:r>
              <a:rPr lang="en-GB" dirty="0"/>
              <a:t>This is appended to the original data </a:t>
            </a:r>
          </a:p>
          <a:p>
            <a:r>
              <a:rPr lang="en-GB" dirty="0"/>
              <a:t>The transmitted data stream becomes 110111001</a:t>
            </a:r>
            <a:endParaRPr lang="en-IE" dirty="0"/>
          </a:p>
          <a:p>
            <a:endParaRPr lang="en-I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321F5C-335B-4771-862B-D5395474CF3B}" type="slidenum">
              <a:rPr lang="en-GB" smtClean="0"/>
              <a:pPr/>
              <a:t>32</a:t>
            </a:fld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CRC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Effective</a:t>
            </a:r>
          </a:p>
          <a:p>
            <a:r>
              <a:rPr lang="en-IE" dirty="0"/>
              <a:t>Burst errors</a:t>
            </a:r>
          </a:p>
          <a:p>
            <a:r>
              <a:rPr lang="en-IE" dirty="0"/>
              <a:t>Odd number of bits</a:t>
            </a:r>
          </a:p>
          <a:p>
            <a:r>
              <a:rPr lang="en-IE" dirty="0"/>
              <a:t>99.97%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4C557-F06D-42C4-8D3D-ADA5C51B7EB2}" type="slidenum">
              <a:rPr lang="en-GB" smtClean="0"/>
              <a:pPr/>
              <a:t>33</a:t>
            </a:fld>
            <a:endParaRPr lang="en-GB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1332</TotalTime>
  <Words>1472</Words>
  <Application>Microsoft Office PowerPoint</Application>
  <PresentationFormat>On-screen Show (4:3)</PresentationFormat>
  <Paragraphs>287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Calibri</vt:lpstr>
      <vt:lpstr>Franklin Gothic Book</vt:lpstr>
      <vt:lpstr>Perpetua</vt:lpstr>
      <vt:lpstr>Symbol</vt:lpstr>
      <vt:lpstr>Wingdings 2</vt:lpstr>
      <vt:lpstr>Equity</vt:lpstr>
      <vt:lpstr>Equation</vt:lpstr>
      <vt:lpstr>Networking</vt:lpstr>
      <vt:lpstr>Physical Layer</vt:lpstr>
      <vt:lpstr>Physical Layer</vt:lpstr>
      <vt:lpstr>Synchronisation</vt:lpstr>
      <vt:lpstr>Solutions</vt:lpstr>
      <vt:lpstr>Signals</vt:lpstr>
      <vt:lpstr>More Examples</vt:lpstr>
      <vt:lpstr>NRZ – L &amp; NRZ - I</vt:lpstr>
      <vt:lpstr>Manchester Encoding</vt:lpstr>
      <vt:lpstr>Manchester Encoding</vt:lpstr>
      <vt:lpstr>Differential Manchester Encoding</vt:lpstr>
      <vt:lpstr>Differential Manchester Encoding</vt:lpstr>
      <vt:lpstr>Network Topology</vt:lpstr>
      <vt:lpstr>Physical Topologies</vt:lpstr>
      <vt:lpstr>Logical Topology</vt:lpstr>
      <vt:lpstr>Transmission Modes</vt:lpstr>
      <vt:lpstr>Data Link Layer</vt:lpstr>
      <vt:lpstr>Framing</vt:lpstr>
      <vt:lpstr>Addresses</vt:lpstr>
      <vt:lpstr>Flow Control</vt:lpstr>
      <vt:lpstr>Congestion Control</vt:lpstr>
      <vt:lpstr>Errors</vt:lpstr>
      <vt:lpstr>Types of Errors</vt:lpstr>
      <vt:lpstr>Approaches to Error Handling</vt:lpstr>
      <vt:lpstr>Cyclical Redundancy Check (CRC)</vt:lpstr>
      <vt:lpstr>Polynomial Generator</vt:lpstr>
      <vt:lpstr>Polynomial Generator - Examples</vt:lpstr>
      <vt:lpstr>Steps (Transmitter)</vt:lpstr>
      <vt:lpstr>Steps (Receiver)</vt:lpstr>
      <vt:lpstr>CRC - Example</vt:lpstr>
      <vt:lpstr>CRC – Example (Cont’d)</vt:lpstr>
      <vt:lpstr>CRC – Example (Cont’d)</vt:lpstr>
      <vt:lpstr>CRC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62</cp:revision>
  <dcterms:created xsi:type="dcterms:W3CDTF">2017-01-20T17:30:53Z</dcterms:created>
  <dcterms:modified xsi:type="dcterms:W3CDTF">2025-02-23T17:38:08Z</dcterms:modified>
</cp:coreProperties>
</file>