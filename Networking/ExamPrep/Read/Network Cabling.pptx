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60" r:id="rId1"/>
  </p:sldMasterIdLst>
  <p:notesMasterIdLst>
    <p:notesMasterId r:id="rId23"/>
  </p:notes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  <p:sldId id="277" r:id="rId9"/>
    <p:sldId id="278" r:id="rId10"/>
    <p:sldId id="272" r:id="rId11"/>
    <p:sldId id="273" r:id="rId12"/>
    <p:sldId id="274" r:id="rId13"/>
    <p:sldId id="275" r:id="rId14"/>
    <p:sldId id="257" r:id="rId15"/>
    <p:sldId id="260" r:id="rId16"/>
    <p:sldId id="261" r:id="rId17"/>
    <p:sldId id="262" r:id="rId18"/>
    <p:sldId id="258" r:id="rId19"/>
    <p:sldId id="263" r:id="rId20"/>
    <p:sldId id="264" r:id="rId21"/>
    <p:sldId id="265" r:id="rId22"/>
  </p:sldIdLst>
  <p:sldSz cx="9144000" cy="6858000" type="screen4x3"/>
  <p:notesSz cx="6858000" cy="9144000"/>
  <p:custDataLst>
    <p:tags r:id="rId2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DF36AA-6C53-4C59-8B5F-5B50745A2FA9}" type="datetimeFigureOut">
              <a:rPr lang="en-IE" smtClean="0"/>
              <a:pPr/>
              <a:t>16/02/2025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0A602B-B0FE-4F78-8DA2-F29EB6A30FE6}" type="slidenum">
              <a:rPr lang="en-IE" smtClean="0"/>
              <a:pPr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2509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8538E-7F54-46CA-A56A-B66E84EE5291}" type="datetime1">
              <a:rPr lang="en-US" smtClean="0"/>
              <a:pPr/>
              <a:t>2/16/2025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 sz="1400" dirty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90B64-8072-47DE-95F0-9161E41773D6}" type="datetime1">
              <a:rPr lang="en-US" smtClean="0"/>
              <a:pPr/>
              <a:t>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5315D-05FC-4CA7-8699-AA3CABB212ED}" type="datetime1">
              <a:rPr lang="en-US" smtClean="0"/>
              <a:pPr/>
              <a:t>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0AE2B-2C8D-4FD1-9F22-C47A670F01C7}" type="datetime1">
              <a:rPr lang="en-US" smtClean="0"/>
              <a:pPr/>
              <a:t>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3C1C9-49F5-4CA5-A8A8-2C776F31BCFE}" type="datetime1">
              <a:rPr lang="en-US" smtClean="0"/>
              <a:pPr/>
              <a:t>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2FD99-0A54-4958-AD10-12E35D51C3A3}" type="datetime1">
              <a:rPr lang="en-US" smtClean="0"/>
              <a:pPr/>
              <a:t>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3E62F-4185-418E-8F12-61D34C4C97D3}" type="datetime1">
              <a:rPr lang="en-US" smtClean="0"/>
              <a:pPr/>
              <a:t>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B975E-2CF9-4DCB-B035-0602408F4037}" type="datetime1">
              <a:rPr lang="en-US" smtClean="0"/>
              <a:pPr/>
              <a:t>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47B1B-63AC-41A0-B8F9-0F4E6C0B1426}" type="datetime1">
              <a:rPr lang="en-US" smtClean="0"/>
              <a:pPr/>
              <a:t>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2EE97-B732-44CA-ADB4-58907883C9FE}" type="datetime1">
              <a:rPr lang="en-US" smtClean="0"/>
              <a:pPr/>
              <a:t>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697D2-61F7-4EBC-A00C-B08EA4C35BCD}" type="datetime1">
              <a:rPr lang="en-US" smtClean="0"/>
              <a:pPr/>
              <a:t>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fld id="{F2E45E9D-B291-436F-9F59-61DA74066548}" type="datetime1">
              <a:rPr lang="en-US" smtClean="0"/>
              <a:pPr algn="r" eaLnBrk="1" latinLnBrk="0" hangingPunct="1"/>
              <a:t>2/16/2025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eaLnBrk="1" latinLnBrk="0" hangingPunct="1"/>
            <a:fld id="{6F42FDE4-A7DD-41A7-A0A6-9B649FB43336}" type="slidenum">
              <a:rPr kumimoji="0" lang="en-US" smtClean="0"/>
              <a:pPr algn="ctr" eaLnBrk="1" latinLnBrk="0" hangingPunct="1"/>
              <a:t>‹#›</a:t>
            </a:fld>
            <a:endParaRPr kumimoji="0" lang="en-US" sz="14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Network Cabling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Introduction to Networking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</a:t>
            </a:fld>
            <a:endParaRPr kumimoji="0" lang="en-US" sz="14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5BA4A-2155-5565-70CA-D1AE5234C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Broadband versus Baseband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9FAA98-E5D5-BCEF-40C9-24C29290F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2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5A130-4151-F302-4BE1-37BCD863667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/>
              <a:t>Network cables are used to transmit different signal types at different speeds</a:t>
            </a:r>
          </a:p>
          <a:p>
            <a:r>
              <a:rPr lang="en-GB" dirty="0"/>
              <a:t>A baseband cable transmits only one signal while a broadband cable can handle multiple signals</a:t>
            </a:r>
          </a:p>
          <a:p>
            <a:r>
              <a:rPr lang="en-GB" dirty="0"/>
              <a:t>Baseband signals are normally found in LANs while broadband signals are generally found in WANs</a:t>
            </a:r>
          </a:p>
          <a:p>
            <a:r>
              <a:rPr lang="en-GB" dirty="0"/>
              <a:t>Baseband signals are digital, while broadband signals are </a:t>
            </a:r>
            <a:r>
              <a:rPr lang="en-GB" dirty="0" err="1"/>
              <a:t>analog</a:t>
            </a:r>
            <a:r>
              <a:rPr lang="en-GB" dirty="0"/>
              <a:t> </a:t>
            </a:r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AD4188-90C4-CA8B-EC96-88C84ABEE51B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83768" y="4794562"/>
            <a:ext cx="3565060" cy="178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536971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FC94C-BFCF-1975-E14C-D7BB4514D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Network Cables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E2578E-F61E-FB8C-1A69-E1792F9C4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3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3CAA89-70FB-EB52-159C-E58B89D1CB8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E" dirty="0"/>
              <a:t>Coaxial</a:t>
            </a:r>
          </a:p>
          <a:p>
            <a:r>
              <a:rPr lang="en-IE" dirty="0"/>
              <a:t>Twisted Pair</a:t>
            </a:r>
          </a:p>
          <a:p>
            <a:pPr lvl="1"/>
            <a:r>
              <a:rPr lang="en-IE" dirty="0"/>
              <a:t>Unshielded (UTP)</a:t>
            </a:r>
          </a:p>
          <a:p>
            <a:pPr lvl="1"/>
            <a:r>
              <a:rPr lang="en-IE" dirty="0"/>
              <a:t>Shielded (STP)</a:t>
            </a:r>
          </a:p>
          <a:p>
            <a:r>
              <a:rPr lang="en-IE" dirty="0"/>
              <a:t>Fibre</a:t>
            </a:r>
          </a:p>
          <a:p>
            <a:pPr lvl="1"/>
            <a:r>
              <a:rPr lang="en-IE" dirty="0"/>
              <a:t>Multimode Fibre (MMF)</a:t>
            </a:r>
          </a:p>
          <a:p>
            <a:pPr lvl="1"/>
            <a:r>
              <a:rPr lang="en-IE" dirty="0" err="1"/>
              <a:t>Singlemode</a:t>
            </a:r>
            <a:r>
              <a:rPr lang="en-IE" dirty="0"/>
              <a:t> Fibre (SMF) </a:t>
            </a:r>
          </a:p>
        </p:txBody>
      </p:sp>
    </p:spTree>
    <p:extLst>
      <p:ext uri="{BB962C8B-B14F-4D97-AF65-F5344CB8AC3E}">
        <p14:creationId xmlns:p14="http://schemas.microsoft.com/office/powerpoint/2010/main" val="225203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8F96B-DC11-F441-7E19-693216721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Twisted Pair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7250A2-7549-8DB6-F381-65CC903EB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4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DFDDD4-9EBD-C8F4-60E7-085E6491420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/>
              <a:t>Consists of two copper conductors, each covered with insulation. </a:t>
            </a:r>
          </a:p>
          <a:p>
            <a:r>
              <a:rPr lang="en-GB" dirty="0"/>
              <a:t>The gauges of conductors used are typically 22 AWG (0.6438mm) or 24 AWG (0.5106mm).    </a:t>
            </a:r>
          </a:p>
          <a:p>
            <a:r>
              <a:rPr lang="en-GB" dirty="0"/>
              <a:t> The two wires are twisted so that each is equally exposed to interfering signals (noise)</a:t>
            </a:r>
          </a:p>
          <a:p>
            <a:pPr lvl="1"/>
            <a:r>
              <a:rPr lang="en-GB" dirty="0"/>
              <a:t>Differential (balance transmission)</a:t>
            </a:r>
          </a:p>
          <a:p>
            <a:pPr lvl="2"/>
            <a:r>
              <a:rPr lang="en-GB" dirty="0"/>
              <a:t>Information is conveyed by the difference in voltage potential between the two wires 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860761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FD829-EE86-294B-0E21-58C83AA79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UTP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E0AEC5-A924-2091-D2AD-2900D9430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5</a:t>
            </a:fld>
            <a:endParaRPr kumimoji="0"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3C5B2D8-6D9D-367E-6825-3276A4422BDA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914400" y="2462402"/>
            <a:ext cx="3749675" cy="2542795"/>
          </a:xfr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0CF2B4F-F11A-5F3D-55E9-385A67EF3291}"/>
              </a:ext>
            </a:extLst>
          </p:cNvPr>
          <p:cNvPicPr>
            <a:picLocks noGrp="1" noChangeAspect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580112" y="1844824"/>
            <a:ext cx="2592288" cy="3933127"/>
          </a:xfrm>
        </p:spPr>
      </p:pic>
    </p:spTree>
    <p:extLst>
      <p:ext uri="{BB962C8B-B14F-4D97-AF65-F5344CB8AC3E}">
        <p14:creationId xmlns:p14="http://schemas.microsoft.com/office/powerpoint/2010/main" val="1037144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4E746-CBD8-7203-2ABF-AC73E22D3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STP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567A98-C6D4-0C7A-8F2A-11643E54A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6</a:t>
            </a:fld>
            <a:endParaRPr kumimoji="0"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035C87D-4FBB-6E55-72E5-44DCF3747E2B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914400" y="2890123"/>
            <a:ext cx="3749675" cy="1687353"/>
          </a:xfr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134902F-1D35-2A51-247A-A35380CB1B0D}"/>
              </a:ext>
            </a:extLst>
          </p:cNvPr>
          <p:cNvPicPr>
            <a:picLocks noGrp="1" noChangeAspect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4933950" y="3002481"/>
            <a:ext cx="3749675" cy="1462638"/>
          </a:xfrm>
        </p:spPr>
      </p:pic>
    </p:spTree>
    <p:extLst>
      <p:ext uri="{BB962C8B-B14F-4D97-AF65-F5344CB8AC3E}">
        <p14:creationId xmlns:p14="http://schemas.microsoft.com/office/powerpoint/2010/main" val="2509770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587D9-20D2-41F0-6633-88ACB7490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Balanced / Differential Transmission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D77D6A-E386-2769-308C-2EEB407E7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7</a:t>
            </a:fld>
            <a:endParaRPr kumimoji="0"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8B0B39-F2E1-30F1-317C-72D65D0C043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The signal voltage applied to one wire is V1 volts and the signal voltage applied to the other is the V2 volts, the signal being transmitted is V1 – V2.   </a:t>
            </a:r>
          </a:p>
          <a:p>
            <a:r>
              <a:rPr lang="en-GB" dirty="0"/>
              <a:t>This is referred to as a balanced signal. </a:t>
            </a:r>
          </a:p>
          <a:p>
            <a:r>
              <a:rPr lang="en-GB" dirty="0"/>
              <a:t>If an externally induced noise voltage </a:t>
            </a:r>
            <a:r>
              <a:rPr lang="en-GB" dirty="0" err="1"/>
              <a:t>Vn</a:t>
            </a:r>
            <a:r>
              <a:rPr lang="en-GB" dirty="0"/>
              <a:t> is coupled to the wires, the twisting will cause </a:t>
            </a:r>
            <a:r>
              <a:rPr lang="en-GB" dirty="0" err="1"/>
              <a:t>Vn</a:t>
            </a:r>
            <a:r>
              <a:rPr lang="en-GB" dirty="0"/>
              <a:t> to be equally coupled onto both wires. </a:t>
            </a:r>
          </a:p>
          <a:p>
            <a:r>
              <a:rPr lang="en-GB" dirty="0"/>
              <a:t>The voltage on one wire will be V1 + </a:t>
            </a:r>
            <a:r>
              <a:rPr lang="en-GB" dirty="0" err="1"/>
              <a:t>Vn</a:t>
            </a:r>
            <a:r>
              <a:rPr lang="en-GB" dirty="0"/>
              <a:t>, and the voltage on the other wire will be V2 + Vn. </a:t>
            </a:r>
          </a:p>
          <a:p>
            <a:r>
              <a:rPr lang="en-GB" dirty="0"/>
              <a:t>The receiver will take the difference between the voltages, which is V1 + </a:t>
            </a:r>
            <a:r>
              <a:rPr lang="en-GB" dirty="0" err="1"/>
              <a:t>Vn</a:t>
            </a:r>
            <a:r>
              <a:rPr lang="en-GB" dirty="0"/>
              <a:t> – (V2 + </a:t>
            </a:r>
            <a:r>
              <a:rPr lang="en-GB" dirty="0" err="1"/>
              <a:t>Vn</a:t>
            </a:r>
            <a:r>
              <a:rPr lang="en-GB" dirty="0"/>
              <a:t>)  = V1 – V2. </a:t>
            </a:r>
          </a:p>
          <a:p>
            <a:pPr lvl="1"/>
            <a:r>
              <a:rPr lang="en-GB" dirty="0"/>
              <a:t>The noise voltage has been subtracted out! 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159431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FC6C2-8699-CDA3-F68E-4EA6007F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Cable Categories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D095AD-6EC6-E2F6-806C-73DBFFC24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8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88DC36-7B60-A38F-9DE3-8B668D9E2B3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35562"/>
          </a:xfrm>
        </p:spPr>
        <p:txBody>
          <a:bodyPr>
            <a:normAutofit/>
          </a:bodyPr>
          <a:lstStyle/>
          <a:p>
            <a:r>
              <a:rPr lang="en-GB" dirty="0"/>
              <a:t>Network cables are divided into categories based mainly on bandwidth (measured in MHz), maximum data rate (measured in megabits per second) and shielding.</a:t>
            </a:r>
          </a:p>
          <a:p>
            <a:pPr lvl="1"/>
            <a:r>
              <a:rPr lang="en-GB" dirty="0"/>
              <a:t>Cat 1 -  two copper wires twisted around each other and was designed for </a:t>
            </a:r>
            <a:r>
              <a:rPr lang="en-GB" dirty="0" err="1"/>
              <a:t>analog</a:t>
            </a:r>
            <a:r>
              <a:rPr lang="en-GB" dirty="0"/>
              <a:t> voice communications</a:t>
            </a:r>
          </a:p>
          <a:p>
            <a:pPr lvl="1"/>
            <a:r>
              <a:rPr lang="en-GB" dirty="0"/>
              <a:t>Cat 2 - voice and data communications in 1980’snsupported a data transmission rate of 4 Mbps</a:t>
            </a:r>
          </a:p>
          <a:p>
            <a:pPr lvl="1"/>
            <a:r>
              <a:rPr lang="en-GB" dirty="0"/>
              <a:t>Cat 3 – 1990’s, 4 twisted pairs, 10 Mbps</a:t>
            </a:r>
          </a:p>
          <a:p>
            <a:pPr lvl="1"/>
            <a:r>
              <a:rPr lang="en-GB" dirty="0"/>
              <a:t>Cat 4 – like Cat 3 but up to 16 Mbps</a:t>
            </a:r>
          </a:p>
          <a:p>
            <a:pPr lvl="1"/>
            <a:r>
              <a:rPr lang="en-GB" dirty="0"/>
              <a:t>Cat 5 – 100 Mbps up to 100m</a:t>
            </a:r>
          </a:p>
          <a:p>
            <a:pPr lvl="2"/>
            <a:r>
              <a:rPr lang="en-GB" dirty="0"/>
              <a:t>Cat 5e – (unofficial) sub-Gigabit network installations, 1 Gbps, increased twists. 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426222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D922C-C9B9-3C53-40E5-5CAEA4755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EFEE7-B1B6-629E-5C11-AEF35927E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Cable Categories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5CA679-1632-BA04-1F8C-9B6A7FFD4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9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56918B-392A-C2F4-3702-61807E6A48B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35562"/>
          </a:xfrm>
        </p:spPr>
        <p:txBody>
          <a:bodyPr>
            <a:normAutofit/>
          </a:bodyPr>
          <a:lstStyle/>
          <a:p>
            <a:r>
              <a:rPr lang="en-IE" dirty="0"/>
              <a:t>Cat 6 – </a:t>
            </a:r>
            <a:r>
              <a:rPr lang="en-GB" dirty="0"/>
              <a:t>bandwidth and data transfer rates up to 1 Gbps over 100 m </a:t>
            </a:r>
          </a:p>
          <a:p>
            <a:pPr lvl="1"/>
            <a:r>
              <a:rPr lang="en-GB" dirty="0"/>
              <a:t>10 Gbps over shorter distances (37m), improved shielding and higher bandwidth (500MHz)</a:t>
            </a:r>
          </a:p>
          <a:p>
            <a:r>
              <a:rPr lang="en-GB" dirty="0"/>
              <a:t>Cat 7 – Proprietary, not endorsed by IEEE or TIA</a:t>
            </a:r>
          </a:p>
          <a:p>
            <a:pPr lvl="1"/>
            <a:r>
              <a:rPr lang="en-GB" dirty="0"/>
              <a:t>Cat 7a 40 Gbps over 50m, 100 Gbps over 15m</a:t>
            </a:r>
          </a:p>
          <a:p>
            <a:r>
              <a:rPr lang="en-GB" dirty="0"/>
              <a:t>Cat 8 – bandwidth of up to 2 GHz (2000 MHz) over 30 meters and a data rate of up to 40Gbs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127706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1008B-C587-ADC4-B794-6623D7FD5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Fibre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E13703-B77D-2465-6D3F-5DE072E2A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10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9C41BB-A56F-4BC9-6409-725BAB9FDBA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219700"/>
          </a:xfrm>
        </p:spPr>
        <p:txBody>
          <a:bodyPr>
            <a:normAutofit/>
          </a:bodyPr>
          <a:lstStyle/>
          <a:p>
            <a:r>
              <a:rPr lang="en-IE" dirty="0"/>
              <a:t>Consists of a core and a cladding </a:t>
            </a:r>
          </a:p>
          <a:p>
            <a:pPr lvl="1"/>
            <a:r>
              <a:rPr lang="en-IE" dirty="0"/>
              <a:t>Usually glass, can be plastic</a:t>
            </a:r>
          </a:p>
          <a:p>
            <a:pPr lvl="2"/>
            <a:r>
              <a:rPr lang="en-IE" dirty="0"/>
              <a:t>Glass for longer distances, plastic for shorter distances</a:t>
            </a:r>
          </a:p>
          <a:p>
            <a:pPr lvl="1"/>
            <a:r>
              <a:rPr lang="en-IE" dirty="0"/>
              <a:t>Core diameter – 8µm, 50µm, 62.5µm</a:t>
            </a:r>
          </a:p>
          <a:p>
            <a:pPr lvl="1"/>
            <a:r>
              <a:rPr lang="en-IE" dirty="0"/>
              <a:t>Cladding diameter – 125µm, 140µm </a:t>
            </a:r>
          </a:p>
          <a:p>
            <a:r>
              <a:rPr lang="en-IE" dirty="0"/>
              <a:t>The core and cladding is covered in a plastic or silicone coating for protection (250 – 300µm)</a:t>
            </a:r>
          </a:p>
          <a:p>
            <a:r>
              <a:rPr lang="en-GB" dirty="0"/>
              <a:t>Fibres are arranged in bundles in optical cables</a:t>
            </a:r>
          </a:p>
          <a:p>
            <a:pPr lvl="1"/>
            <a:r>
              <a:rPr lang="en-GB" dirty="0"/>
              <a:t>The cables consist of an outer protective jacket, inside this is a buffer tube, and the tube is filled with a gel filling to prevent water or moisture from damaging the fibres</a:t>
            </a:r>
          </a:p>
          <a:p>
            <a:pPr lvl="1"/>
            <a:r>
              <a:rPr lang="en-GB" dirty="0"/>
              <a:t>Kevlar reinforcing material is also used to protect the fibres</a:t>
            </a:r>
            <a:endParaRPr lang="en-IE" dirty="0"/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79814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CE9CE-B568-AD85-8E42-339B0F670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F0254-28FE-D5DC-8DFF-153855B72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Fibre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3A4E6E-CBB6-428A-2F70-042B2A4CA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11</a:t>
            </a:fld>
            <a:endParaRPr kumimoji="0"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73D1949-E9FA-6A8C-C643-2D91CBB0A16B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914400" y="2571313"/>
            <a:ext cx="3749675" cy="2324973"/>
          </a:xfr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A8054D73-6049-2A6A-E450-40314D9D9F70}"/>
              </a:ext>
            </a:extLst>
          </p:cNvPr>
          <p:cNvPicPr>
            <a:picLocks noGrp="1" noChangeAspect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4933950" y="2009200"/>
            <a:ext cx="3749675" cy="3449200"/>
          </a:xfrm>
        </p:spPr>
      </p:pic>
    </p:spTree>
    <p:extLst>
      <p:ext uri="{BB962C8B-B14F-4D97-AF65-F5344CB8AC3E}">
        <p14:creationId xmlns:p14="http://schemas.microsoft.com/office/powerpoint/2010/main" val="1620636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060D-71BC-B5D1-8EBC-31FF6B660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Fibre Operation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172398-F0B5-28B4-4AA7-E7EE2C1CA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12</a:t>
            </a:fld>
            <a:endParaRPr kumimoji="0"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F522EB-89F7-0C29-42FB-BCDEE9B7899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/>
              <a:t>The light guiding parts of the fibre are the core and the cladding</a:t>
            </a:r>
          </a:p>
          <a:p>
            <a:r>
              <a:rPr lang="en-GB" dirty="0"/>
              <a:t>The index of refraction of the core is slightly higher than that of the cladding</a:t>
            </a:r>
          </a:p>
          <a:p>
            <a:r>
              <a:rPr lang="en-GB" dirty="0"/>
              <a:t>Once light has been introduced into the core at an appropriate angle, the light will zig-zag down the fibre, bouncing off the boundary between the core and the cladding</a:t>
            </a:r>
          </a:p>
          <a:p>
            <a:r>
              <a:rPr lang="en-GB" dirty="0"/>
              <a:t>This process is called total internal reflection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2522245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47439-291F-B308-8C26-15DB4817D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3560A-C1C6-1948-4F5B-FEC51848A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Fibre Operation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923163-BDA3-F495-0BEC-1003F3C05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13</a:t>
            </a:fld>
            <a:endParaRPr kumimoji="0"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B8F365-1A3E-883A-1B00-980A2CB76398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765950" y="1916832"/>
            <a:ext cx="7612099" cy="3024336"/>
          </a:xfrm>
        </p:spPr>
      </p:pic>
    </p:spTree>
    <p:extLst>
      <p:ext uri="{BB962C8B-B14F-4D97-AF65-F5344CB8AC3E}">
        <p14:creationId xmlns:p14="http://schemas.microsoft.com/office/powerpoint/2010/main" val="27809404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9B83A-94BB-4B1D-B81B-8D8DE9ABF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Structured Cabling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406D4A-C0A0-41D1-9501-9BE480411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14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BF1FBC-E4A6-46B6-95C3-B594B71A04B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E" dirty="0"/>
              <a:t>Flood wire a building</a:t>
            </a:r>
          </a:p>
          <a:p>
            <a:pPr lvl="1"/>
            <a:r>
              <a:rPr lang="en-IE" dirty="0"/>
              <a:t>Computers, Phone Systems, CCTV</a:t>
            </a:r>
          </a:p>
          <a:p>
            <a:r>
              <a:rPr lang="en-IE" dirty="0"/>
              <a:t>Building or campus telecommunications cabling infrastructure</a:t>
            </a:r>
          </a:p>
          <a:p>
            <a:r>
              <a:rPr lang="en-IE" dirty="0"/>
              <a:t>2 main area’s – horizontal and vertical cabling </a:t>
            </a:r>
          </a:p>
          <a:p>
            <a:r>
              <a:rPr lang="en-IE" dirty="0"/>
              <a:t>Data cabling standards are governed by international regulations </a:t>
            </a:r>
          </a:p>
          <a:p>
            <a:pPr lvl="1"/>
            <a:r>
              <a:rPr lang="en-IE" dirty="0"/>
              <a:t>ISO 11801 (International Organisation for Standardisation)  </a:t>
            </a:r>
          </a:p>
          <a:p>
            <a:pPr lvl="1"/>
            <a:r>
              <a:rPr lang="en-IE" dirty="0"/>
              <a:t>TIA-568 (Telecommunications Industry Association).</a:t>
            </a:r>
          </a:p>
        </p:txBody>
      </p:sp>
    </p:spTree>
    <p:extLst>
      <p:ext uri="{BB962C8B-B14F-4D97-AF65-F5344CB8AC3E}">
        <p14:creationId xmlns:p14="http://schemas.microsoft.com/office/powerpoint/2010/main" val="34431676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9016F-B304-4287-AD5F-68EB4B7CB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Not all Cables are made equal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CADAF5-BC53-49F5-863C-4AA3463A4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15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A047BA-9832-4C3C-B9D1-7CBD08B41BF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E" dirty="0"/>
              <a:t>Lots of vendors – cable difference can be substantial</a:t>
            </a:r>
          </a:p>
          <a:p>
            <a:r>
              <a:rPr lang="en-IE" dirty="0"/>
              <a:t>All cables have to meet the ISO 11801 specification</a:t>
            </a:r>
          </a:p>
          <a:p>
            <a:r>
              <a:rPr lang="en-IE" dirty="0"/>
              <a:t>But more expensive cable will usually well exceed the specification “head room”</a:t>
            </a:r>
          </a:p>
          <a:p>
            <a:pPr lvl="1"/>
            <a:r>
              <a:rPr lang="en-IE" dirty="0"/>
              <a:t>Cheaper will just meet the specification</a:t>
            </a:r>
          </a:p>
          <a:p>
            <a:r>
              <a:rPr lang="en-IE" dirty="0"/>
              <a:t>Expensive cable can be more forgiving! </a:t>
            </a:r>
          </a:p>
        </p:txBody>
      </p:sp>
    </p:spTree>
    <p:extLst>
      <p:ext uri="{BB962C8B-B14F-4D97-AF65-F5344CB8AC3E}">
        <p14:creationId xmlns:p14="http://schemas.microsoft.com/office/powerpoint/2010/main" val="34068210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F500E-0FE2-4C1B-A1ED-36185694D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Horizontal Cabling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2248F0-0DA3-471A-BE5B-F4AAAD7ED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16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2BB0B7-93C8-415B-9DA8-9B4C1880F96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E" dirty="0"/>
              <a:t>This is the cabling that runs from the desktops to the communications cabinet on the same floor</a:t>
            </a:r>
          </a:p>
          <a:p>
            <a:pPr lvl="1"/>
            <a:r>
              <a:rPr lang="en-IE" dirty="0"/>
              <a:t>2 cables are run to each desktop – computer &amp; phone</a:t>
            </a:r>
          </a:p>
          <a:p>
            <a:r>
              <a:rPr lang="en-IE" dirty="0"/>
              <a:t>At the desktop, the cable will be terminated in a telecommunications outlet, or faceplate</a:t>
            </a:r>
          </a:p>
          <a:p>
            <a:r>
              <a:rPr lang="en-IE" dirty="0"/>
              <a:t>The other end of the cable will be terminated in a patch panel in the communications cabinet</a:t>
            </a:r>
          </a:p>
        </p:txBody>
      </p:sp>
    </p:spTree>
    <p:extLst>
      <p:ext uri="{BB962C8B-B14F-4D97-AF65-F5344CB8AC3E}">
        <p14:creationId xmlns:p14="http://schemas.microsoft.com/office/powerpoint/2010/main" val="35896920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8E0BD-FBE4-40C8-B0BB-C46B2DEFD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Diagrams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E39FBB-1B6A-40D1-9917-1FDA6B7F6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17</a:t>
            </a:fld>
            <a:endParaRPr kumimoji="0"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E2061C-5C44-424B-B2D4-C9C07603F0AB}"/>
              </a:ext>
            </a:extLst>
          </p:cNvPr>
          <p:cNvPicPr>
            <a:picLocks noGrp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484784"/>
            <a:ext cx="1665164" cy="15217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B2FA264-D244-4710-8866-BBF96E32A73A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3548" y="1192532"/>
            <a:ext cx="2256904" cy="21062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9D545A2-10B2-40A6-B5B4-B2075C678152}"/>
              </a:ext>
            </a:extLst>
          </p:cNvPr>
          <p:cNvSpPr txBox="1"/>
          <p:nvPr/>
        </p:nvSpPr>
        <p:spPr>
          <a:xfrm>
            <a:off x="6084168" y="1711864"/>
            <a:ext cx="25097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Telecommunications outlets</a:t>
            </a:r>
          </a:p>
          <a:p>
            <a:r>
              <a:rPr lang="en-IE" dirty="0"/>
              <a:t>Faceplates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DC296A-3F55-4A4E-B4BA-E13A5DE1E68E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3789040"/>
            <a:ext cx="3162300" cy="18084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78F8365-10CF-497A-946F-1DE203CF2687}"/>
              </a:ext>
            </a:extLst>
          </p:cNvPr>
          <p:cNvSpPr txBox="1"/>
          <p:nvPr/>
        </p:nvSpPr>
        <p:spPr>
          <a:xfrm>
            <a:off x="5700452" y="4031981"/>
            <a:ext cx="1138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Patch Panel</a:t>
            </a:r>
          </a:p>
        </p:txBody>
      </p:sp>
    </p:spTree>
    <p:extLst>
      <p:ext uri="{BB962C8B-B14F-4D97-AF65-F5344CB8AC3E}">
        <p14:creationId xmlns:p14="http://schemas.microsoft.com/office/powerpoint/2010/main" val="41404765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9B83A-94BB-4B1D-B81B-8D8DE9ABF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Horizontal Copper Cable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406D4A-C0A0-41D1-9501-9BE480411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18</a:t>
            </a:fld>
            <a:endParaRPr kumimoji="0"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7E59F75-DA9E-4AB6-9B98-B09D7EA6D6E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E" dirty="0"/>
              <a:t>Solid conductor UTP cable is used to connect the faceplates to the patch panels</a:t>
            </a:r>
          </a:p>
          <a:p>
            <a:pPr lvl="1"/>
            <a:r>
              <a:rPr lang="en-IE" dirty="0"/>
              <a:t>Not flexible but doesn’t need to be </a:t>
            </a:r>
          </a:p>
          <a:p>
            <a:pPr lvl="1"/>
            <a:r>
              <a:rPr lang="en-IE" dirty="0"/>
              <a:t>Installed behind walls and ceilings, it won’t be moved</a:t>
            </a:r>
          </a:p>
          <a:p>
            <a:pPr lvl="1"/>
            <a:r>
              <a:rPr lang="en-IE" dirty="0"/>
              <a:t>It is also cheaper</a:t>
            </a:r>
          </a:p>
          <a:p>
            <a:r>
              <a:rPr lang="en-IE" dirty="0"/>
              <a:t>In general the maximum distance allowed between the data outlet and the patch panel should not exceed 90m.</a:t>
            </a:r>
          </a:p>
          <a:p>
            <a:r>
              <a:rPr lang="en-IE" dirty="0"/>
              <a:t>Stranded cable is more flexible but it is also more expensive.  </a:t>
            </a:r>
          </a:p>
          <a:p>
            <a:pPr lvl="1"/>
            <a:r>
              <a:rPr lang="en-IE" dirty="0"/>
              <a:t>The patch leads that are used to connect the desktop PC to the outlet are stranded as these cables tend to be moved and plugged in and out a lot</a:t>
            </a:r>
          </a:p>
          <a:p>
            <a:pPr lvl="1"/>
            <a:r>
              <a:rPr lang="en-IE" dirty="0"/>
              <a:t>In the comm’s cabinet a patch lead is also used to connect the patch panel to the switch.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2164570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66EC6-108A-447B-8FB7-DAF1C89D2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Diagrams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642F82-8360-4A9D-8478-4D2A57A4D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19</a:t>
            </a:fld>
            <a:endParaRPr kumimoji="0"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DE9A3B-F248-416A-853A-4ECF03AD5EED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259632" y="1628800"/>
            <a:ext cx="2048434" cy="9205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F56DC0-EA92-49D5-B914-9198081FF310}"/>
              </a:ext>
            </a:extLst>
          </p:cNvPr>
          <p:cNvSpPr txBox="1"/>
          <p:nvPr/>
        </p:nvSpPr>
        <p:spPr>
          <a:xfrm>
            <a:off x="4211960" y="1719756"/>
            <a:ext cx="2012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Solid &amp; stranded UTP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AD307C-9BE4-40F2-A365-1E674B80E5A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3284984"/>
            <a:ext cx="1875155" cy="14903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188012-81BD-4A5C-B5E2-1E83915E45C3}"/>
              </a:ext>
            </a:extLst>
          </p:cNvPr>
          <p:cNvSpPr txBox="1"/>
          <p:nvPr/>
        </p:nvSpPr>
        <p:spPr>
          <a:xfrm>
            <a:off x="4355976" y="3789040"/>
            <a:ext cx="1110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Patch cable</a:t>
            </a:r>
          </a:p>
        </p:txBody>
      </p:sp>
    </p:spTree>
    <p:extLst>
      <p:ext uri="{BB962C8B-B14F-4D97-AF65-F5344CB8AC3E}">
        <p14:creationId xmlns:p14="http://schemas.microsoft.com/office/powerpoint/2010/main" val="39935085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1783C-6BD3-4576-8E00-977609BA4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Vertical Cabling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6F1C45-A59E-4C76-84B9-8E4A89C9F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20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878C9-D045-47C5-9012-1137A1D8D37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E" dirty="0"/>
              <a:t>Is the data cabling that connects floors in a building</a:t>
            </a:r>
          </a:p>
          <a:p>
            <a:r>
              <a:rPr lang="en-IE" dirty="0"/>
              <a:t>As a general rule all wall outlets/faceplates are cabled back to a cabinet on the same floor</a:t>
            </a:r>
          </a:p>
          <a:p>
            <a:r>
              <a:rPr lang="en-IE" dirty="0"/>
              <a:t>Each floor would then have its own cabinet</a:t>
            </a:r>
          </a:p>
          <a:p>
            <a:r>
              <a:rPr lang="en-IE" dirty="0"/>
              <a:t>These cabinets are linked together and this is called the vertical or backbone cabling. </a:t>
            </a:r>
          </a:p>
          <a:p>
            <a:r>
              <a:rPr lang="en-IE" dirty="0"/>
              <a:t>While CAT6A can be used for the backbone cabling it is always good practice to use fibre in the backbone, where possible</a:t>
            </a:r>
          </a:p>
        </p:txBody>
      </p:sp>
    </p:spTree>
    <p:extLst>
      <p:ext uri="{BB962C8B-B14F-4D97-AF65-F5344CB8AC3E}">
        <p14:creationId xmlns:p14="http://schemas.microsoft.com/office/powerpoint/2010/main" val="14679520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1EE45-0D90-411F-9B3D-F5D3AED58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Diagram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493E24-8956-4132-8B69-974C96A92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FDE4-A7DD-41A7-A0A6-9B649FB43336}" type="slidenum">
              <a:rPr kumimoji="0" lang="en-US" smtClean="0"/>
              <a:pPr/>
              <a:t>21</a:t>
            </a:fld>
            <a:endParaRPr kumimoji="0"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07D795-853C-432E-BCDD-09A2151AB3AE}"/>
              </a:ext>
            </a:extLst>
          </p:cNvPr>
          <p:cNvPicPr>
            <a:picLocks noGrp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0935" y="1447800"/>
            <a:ext cx="4619329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09301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Foundry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1091</TotalTime>
  <Words>1041</Words>
  <Application>Microsoft Office PowerPoint</Application>
  <PresentationFormat>On-screen Show (4:3)</PresentationFormat>
  <Paragraphs>124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Calibri</vt:lpstr>
      <vt:lpstr>Franklin Gothic Book</vt:lpstr>
      <vt:lpstr>Perpetua</vt:lpstr>
      <vt:lpstr>Wingdings 2</vt:lpstr>
      <vt:lpstr>Equity</vt:lpstr>
      <vt:lpstr>Introduction to Networking</vt:lpstr>
      <vt:lpstr>Broadband versus Baseband</vt:lpstr>
      <vt:lpstr>Network Cables</vt:lpstr>
      <vt:lpstr>Twisted Pair</vt:lpstr>
      <vt:lpstr>UTP</vt:lpstr>
      <vt:lpstr>STP</vt:lpstr>
      <vt:lpstr>Balanced / Differential Transmission</vt:lpstr>
      <vt:lpstr>Cable Categories</vt:lpstr>
      <vt:lpstr>Cable Categories</vt:lpstr>
      <vt:lpstr>Fibre</vt:lpstr>
      <vt:lpstr>Fibre</vt:lpstr>
      <vt:lpstr>Fibre Operation</vt:lpstr>
      <vt:lpstr>Fibre Operation</vt:lpstr>
      <vt:lpstr>Structured Cabling</vt:lpstr>
      <vt:lpstr>Not all Cables are made equal</vt:lpstr>
      <vt:lpstr>Horizontal Cabling</vt:lpstr>
      <vt:lpstr>Diagrams</vt:lpstr>
      <vt:lpstr>Horizontal Copper Cable</vt:lpstr>
      <vt:lpstr>Diagrams</vt:lpstr>
      <vt:lpstr>Vertical Cabling</vt:lpstr>
      <vt:lpstr>Diagram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Applied Network Security</dc:title>
  <dc:creator>Sky</dc:creator>
  <cp:lastModifiedBy>Frances Byrne</cp:lastModifiedBy>
  <cp:revision>61</cp:revision>
  <dcterms:created xsi:type="dcterms:W3CDTF">2017-01-20T17:30:53Z</dcterms:created>
  <dcterms:modified xsi:type="dcterms:W3CDTF">2025-02-16T15:03:22Z</dcterms:modified>
</cp:coreProperties>
</file>