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36AA-6C53-4C59-8B5F-5B50745A2FA9}" type="datetimeFigureOut">
              <a:rPr lang="en-IE" smtClean="0"/>
              <a:pPr/>
              <a:t>05/03/2025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A602B-B0FE-4F78-8DA2-F29EB6A30FE6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50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538E-7F54-46CA-A56A-B66E84EE5291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0B64-8072-47DE-95F0-9161E41773D6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5315D-05FC-4CA7-8699-AA3CABB212ED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AE2B-2C8D-4FD1-9F22-C47A670F01C7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3C1C9-49F5-4CA5-A8A8-2C776F31BCFE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FD99-0A54-4958-AD10-12E35D51C3A3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E62F-4185-418E-8F12-61D34C4C97D3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B975E-2CF9-4DCB-B035-0602408F4037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7B1B-63AC-41A0-B8F9-0F4E6C0B1426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2EE97-B732-44CA-ADB4-58907883C9FE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697D2-61F7-4EBC-A00C-B08EA4C35BCD}" type="datetime1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F2E45E9D-B291-436F-9F59-61DA74066548}" type="datetime1">
              <a:rPr lang="en-US" smtClean="0"/>
              <a:pPr algn="r" eaLnBrk="1" latinLnBrk="0" hangingPunct="1"/>
              <a:t>3/5/2025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Ethernet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Networking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19CB-1615-4FFA-81A3-DDAEAB8D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Ethernet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5A0B69-A992-4B67-BF94-24DD4627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DEEA7-3DC6-4B89-9003-24537650C89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LAN Standard</a:t>
            </a:r>
          </a:p>
          <a:p>
            <a:r>
              <a:rPr lang="en-IE" dirty="0"/>
              <a:t>Original Ethernet Standard – 10 Mbps – Standard Ethernet</a:t>
            </a:r>
          </a:p>
          <a:p>
            <a:pPr lvl="1"/>
            <a:r>
              <a:rPr lang="en-IE" dirty="0"/>
              <a:t>10 Million bits per second</a:t>
            </a:r>
          </a:p>
          <a:p>
            <a:r>
              <a:rPr lang="en-IE" dirty="0"/>
              <a:t>Fast Ethernet – 100 Mbps</a:t>
            </a:r>
          </a:p>
          <a:p>
            <a:pPr lvl="1"/>
            <a:r>
              <a:rPr lang="en-IE" dirty="0"/>
              <a:t>10 times faster than standard Ethernet</a:t>
            </a:r>
          </a:p>
          <a:p>
            <a:r>
              <a:rPr lang="en-IE" dirty="0"/>
              <a:t>Gigabit Ethernet – 1 Gbps</a:t>
            </a:r>
          </a:p>
          <a:p>
            <a:pPr lvl="1"/>
            <a:r>
              <a:rPr lang="en-IE" dirty="0"/>
              <a:t>10 times faster than Fast Ethernet</a:t>
            </a:r>
          </a:p>
          <a:p>
            <a:r>
              <a:rPr lang="en-IE" dirty="0"/>
              <a:t>10 Gigabit Ethernet – 10 Gbps</a:t>
            </a:r>
          </a:p>
        </p:txBody>
      </p:sp>
    </p:spTree>
    <p:extLst>
      <p:ext uri="{BB962C8B-B14F-4D97-AF65-F5344CB8AC3E}">
        <p14:creationId xmlns:p14="http://schemas.microsoft.com/office/powerpoint/2010/main" val="2698482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4796-62C5-4304-9FC5-4250B3F5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Ethernet Frame Format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22F0E3-3FC9-494D-92D4-07FF07E4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</a:t>
            </a:fld>
            <a:endParaRPr kumimoji="0"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AADF67-C5A3-371F-E26E-6886563CB16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29767" y="2060848"/>
            <a:ext cx="8922055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81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4796-62C5-4304-9FC5-4250B3F5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Ethernet Frame Format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22F0E3-3FC9-494D-92D4-07FF07E4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C9331C-180E-4F30-A66A-DF5B924E51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Preamble – 7 bytes, 56 bits, alternating pattern of 1’s and 0’s</a:t>
            </a:r>
          </a:p>
          <a:p>
            <a:pPr lvl="1"/>
            <a:r>
              <a:rPr lang="en-IE" dirty="0"/>
              <a:t>Tells the receiver a frame is coming</a:t>
            </a:r>
          </a:p>
          <a:p>
            <a:pPr lvl="1"/>
            <a:r>
              <a:rPr lang="en-IE" dirty="0"/>
              <a:t>Not considered to be formally part of the frame</a:t>
            </a:r>
          </a:p>
          <a:p>
            <a:r>
              <a:rPr lang="en-IE" dirty="0"/>
              <a:t>Start of Frame Delimiter (SFD) – 1 byte. 8 bits, 10101011, signals the beginning of the frame</a:t>
            </a:r>
          </a:p>
          <a:p>
            <a:pPr lvl="1"/>
            <a:r>
              <a:rPr lang="en-IE" dirty="0"/>
              <a:t>Like the preamble, not considered part of the frame</a:t>
            </a:r>
          </a:p>
        </p:txBody>
      </p:sp>
    </p:spTree>
    <p:extLst>
      <p:ext uri="{BB962C8B-B14F-4D97-AF65-F5344CB8AC3E}">
        <p14:creationId xmlns:p14="http://schemas.microsoft.com/office/powerpoint/2010/main" val="83303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4796-62C5-4304-9FC5-4250B3F5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Ethernet Frame Format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22F0E3-3FC9-494D-92D4-07FF07E4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C9331C-180E-4F30-A66A-DF5B924E51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Destination address – 6 bytes, 48 bits, contains the physical address</a:t>
            </a:r>
          </a:p>
          <a:p>
            <a:pPr lvl="1"/>
            <a:r>
              <a:rPr lang="en-IE" dirty="0"/>
              <a:t>Also referred to as MAC (media access control) address or hardware address</a:t>
            </a:r>
          </a:p>
          <a:p>
            <a:pPr lvl="1"/>
            <a:r>
              <a:rPr lang="en-IE" dirty="0"/>
              <a:t>Built into the network card</a:t>
            </a:r>
          </a:p>
          <a:p>
            <a:pPr lvl="1"/>
            <a:r>
              <a:rPr lang="en-IE" dirty="0"/>
              <a:t>When a device sees its own address in the Destination Address field it picks up the frame and processes the contents</a:t>
            </a:r>
          </a:p>
          <a:p>
            <a:r>
              <a:rPr lang="en-IE" dirty="0"/>
              <a:t>Source address – 6 bytes, 48 bits, contains the physical address of the sender</a:t>
            </a:r>
          </a:p>
        </p:txBody>
      </p:sp>
    </p:spTree>
    <p:extLst>
      <p:ext uri="{BB962C8B-B14F-4D97-AF65-F5344CB8AC3E}">
        <p14:creationId xmlns:p14="http://schemas.microsoft.com/office/powerpoint/2010/main" val="1084152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4796-62C5-4304-9FC5-4250B3F5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Ethernet Frame Format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22F0E3-3FC9-494D-92D4-07FF07E4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C9331C-180E-4F30-A66A-DF5B924E51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Type – 2 bytes, 16 bits, indicates what exactly is in the data portion of the frame</a:t>
            </a:r>
          </a:p>
          <a:p>
            <a:pPr lvl="1"/>
            <a:r>
              <a:rPr lang="en-IE" dirty="0"/>
              <a:t>Ethernet II</a:t>
            </a:r>
          </a:p>
          <a:p>
            <a:r>
              <a:rPr lang="en-IE" dirty="0"/>
              <a:t>Length – 2 bytes, 16 bits, indicates the size, in bytes of the data portion of the frame</a:t>
            </a:r>
          </a:p>
          <a:p>
            <a:pPr lvl="1"/>
            <a:r>
              <a:rPr lang="en-IE" dirty="0"/>
              <a:t>IEEE 802.3</a:t>
            </a:r>
          </a:p>
          <a:p>
            <a:r>
              <a:rPr lang="en-IE" dirty="0"/>
              <a:t>Data – variable from 46 to 1500 bytes.  Contains another protocol such as an IP packet or an ARP request/response</a:t>
            </a:r>
          </a:p>
          <a:p>
            <a:r>
              <a:rPr lang="en-IE" dirty="0"/>
              <a:t>CRC – Cyclic Redundancy Check / FCS – Frame Check Sequence</a:t>
            </a:r>
          </a:p>
          <a:p>
            <a:pPr lvl="1"/>
            <a:r>
              <a:rPr lang="en-IE" dirty="0"/>
              <a:t>4 bytes, 32 bits included to detect errors in the frame  </a:t>
            </a:r>
          </a:p>
        </p:txBody>
      </p:sp>
    </p:spTree>
    <p:extLst>
      <p:ext uri="{BB962C8B-B14F-4D97-AF65-F5344CB8AC3E}">
        <p14:creationId xmlns:p14="http://schemas.microsoft.com/office/powerpoint/2010/main" val="1487231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1FC0-4A33-4E8F-AEAB-D2FFA189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Addressing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1E82C3-B82B-43F8-BE02-5976175B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91F43-EAA0-45EA-B385-2B6B87C22B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Each device, PC, server, printer needs a Network Interface Card (NIC) to connect to the network</a:t>
            </a:r>
          </a:p>
          <a:p>
            <a:r>
              <a:rPr lang="en-IE" dirty="0"/>
              <a:t>Each card has a Physical, Hardware, MAC address</a:t>
            </a:r>
          </a:p>
          <a:p>
            <a:pPr lvl="1"/>
            <a:r>
              <a:rPr lang="en-IE" dirty="0"/>
              <a:t>6 bytes, 48 bits</a:t>
            </a:r>
          </a:p>
          <a:p>
            <a:pPr lvl="1"/>
            <a:r>
              <a:rPr lang="en-IE" dirty="0"/>
              <a:t>Usually written in hex, with a colon :, period . Or dash – between each byte</a:t>
            </a:r>
          </a:p>
          <a:p>
            <a:pPr lvl="2"/>
            <a:r>
              <a:rPr lang="en-IE" dirty="0"/>
              <a:t>4A:30:10:21:10:1A </a:t>
            </a:r>
            <a:r>
              <a:rPr lang="en-IE"/>
              <a:t>= 4A30.1021.101A </a:t>
            </a:r>
            <a:r>
              <a:rPr lang="en-IE" dirty="0"/>
              <a:t>= 4A-30-10-21-10-1A</a:t>
            </a:r>
          </a:p>
          <a:p>
            <a:r>
              <a:rPr lang="en-IE" dirty="0"/>
              <a:t>The first 3 bytes can be used to identify the manufacturer</a:t>
            </a:r>
          </a:p>
          <a:p>
            <a:pPr lvl="1"/>
            <a:r>
              <a:rPr lang="en-IE" dirty="0"/>
              <a:t>The last 3 bytes uniquely identifies the card    </a:t>
            </a:r>
          </a:p>
        </p:txBody>
      </p:sp>
    </p:spTree>
    <p:extLst>
      <p:ext uri="{BB962C8B-B14F-4D97-AF65-F5344CB8AC3E}">
        <p14:creationId xmlns:p14="http://schemas.microsoft.com/office/powerpoint/2010/main" val="70617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0C0C-B697-4EC3-9382-0C26778B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Address Types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D37618-8D9B-4E04-8F17-0EB01CDC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08C2C-7533-4527-9247-A6C60C8E3FC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Address can be </a:t>
            </a:r>
          </a:p>
          <a:p>
            <a:pPr lvl="1"/>
            <a:r>
              <a:rPr lang="en-IE" dirty="0"/>
              <a:t>Unicast – one device only – source addresses must be unicast</a:t>
            </a:r>
          </a:p>
          <a:p>
            <a:pPr lvl="2"/>
            <a:r>
              <a:rPr lang="en-IE" dirty="0"/>
              <a:t>Last bit in 1</a:t>
            </a:r>
            <a:r>
              <a:rPr lang="en-IE" baseline="30000" dirty="0"/>
              <a:t>st</a:t>
            </a:r>
            <a:r>
              <a:rPr lang="en-IE" dirty="0"/>
              <a:t> byte is always 0</a:t>
            </a:r>
            <a:r>
              <a:rPr lang="en-IE" baseline="-25000" dirty="0"/>
              <a:t>2 </a:t>
            </a:r>
            <a:r>
              <a:rPr lang="en-IE" dirty="0"/>
              <a:t>e.g. 4A.30.10.21.10.1A </a:t>
            </a:r>
            <a:endParaRPr lang="en-IE" baseline="-25000" dirty="0"/>
          </a:p>
          <a:p>
            <a:pPr lvl="1"/>
            <a:r>
              <a:rPr lang="en-IE" dirty="0"/>
              <a:t>Multicast – group of devices</a:t>
            </a:r>
          </a:p>
          <a:p>
            <a:pPr lvl="2"/>
            <a:r>
              <a:rPr lang="en-IE" dirty="0"/>
              <a:t>Last bit in 1</a:t>
            </a:r>
            <a:r>
              <a:rPr lang="en-IE" baseline="30000" dirty="0"/>
              <a:t>st</a:t>
            </a:r>
            <a:r>
              <a:rPr lang="en-IE" dirty="0"/>
              <a:t> byte is always 1</a:t>
            </a:r>
            <a:r>
              <a:rPr lang="en-IE" baseline="-25000" dirty="0"/>
              <a:t>2 </a:t>
            </a:r>
            <a:r>
              <a:rPr lang="en-IE" dirty="0"/>
              <a:t>e.g. 47.30.10.21.10.1A </a:t>
            </a:r>
          </a:p>
          <a:p>
            <a:pPr lvl="1"/>
            <a:r>
              <a:rPr lang="en-IE" dirty="0"/>
              <a:t>Broadcasts – all devices</a:t>
            </a:r>
          </a:p>
          <a:p>
            <a:pPr lvl="2"/>
            <a:r>
              <a:rPr lang="en-IE" dirty="0"/>
              <a:t>All bits are 1</a:t>
            </a:r>
            <a:r>
              <a:rPr lang="en-IE" baseline="-25000" dirty="0"/>
              <a:t>2</a:t>
            </a:r>
            <a:r>
              <a:rPr lang="en-IE" dirty="0"/>
              <a:t> e.g. FF:FF:FF:FF:FF:FF</a:t>
            </a:r>
          </a:p>
          <a:p>
            <a:r>
              <a:rPr lang="en-IE" dirty="0"/>
              <a:t>Destination addresses can be unicast, multicast or broadcast</a:t>
            </a:r>
          </a:p>
          <a:p>
            <a:r>
              <a:rPr lang="en-IE" dirty="0"/>
              <a:t>Source address must be unicast</a:t>
            </a:r>
          </a:p>
        </p:txBody>
      </p:sp>
    </p:spTree>
    <p:extLst>
      <p:ext uri="{BB962C8B-B14F-4D97-AF65-F5344CB8AC3E}">
        <p14:creationId xmlns:p14="http://schemas.microsoft.com/office/powerpoint/2010/main" val="66058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174B-F0AB-4F1C-9F83-2550DB4E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Access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A05B25-FAB9-4FC5-82A6-E0CD4808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B32A9-99AA-400A-81D3-B4E66D52D78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Ethernet must control access to the transmission medium (cable)</a:t>
            </a:r>
          </a:p>
          <a:p>
            <a:pPr lvl="1"/>
            <a:r>
              <a:rPr lang="en-IE" dirty="0"/>
              <a:t>Shared medium – when a device wants to transmit there must be some procedure or protocol that is used to determine how the media is accessed</a:t>
            </a:r>
          </a:p>
          <a:p>
            <a:r>
              <a:rPr lang="en-IE" dirty="0"/>
              <a:t>CSMA/CD – Carrier Sense Multiple Access with Collision Detection</a:t>
            </a:r>
          </a:p>
          <a:p>
            <a:pPr lvl="1"/>
            <a:r>
              <a:rPr lang="en-IE" dirty="0"/>
              <a:t>Devices listen (sense) before transmission but inevitably there will be collisions</a:t>
            </a:r>
          </a:p>
          <a:p>
            <a:pPr lvl="2"/>
            <a:r>
              <a:rPr lang="en-IE" dirty="0"/>
              <a:t>Must detect when a collision happens (collision detection)</a:t>
            </a:r>
          </a:p>
        </p:txBody>
      </p:sp>
    </p:spTree>
    <p:extLst>
      <p:ext uri="{BB962C8B-B14F-4D97-AF65-F5344CB8AC3E}">
        <p14:creationId xmlns:p14="http://schemas.microsoft.com/office/powerpoint/2010/main" val="1468802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EFF80-834E-4DEB-899E-CBEDC8E8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Standard Ethernet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373CB-E9F3-49CE-BCF7-4AC84943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9BA02E-0A0A-4C5A-BEEE-22E97FDA2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191683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E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33BCC90-969E-4623-9649-8CD41C26B6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865339"/>
              </p:ext>
            </p:extLst>
          </p:nvPr>
        </p:nvGraphicFramePr>
        <p:xfrm>
          <a:off x="872172" y="1484784"/>
          <a:ext cx="7399655" cy="23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048337" imgH="2266954" progId="Visio.Drawing.11">
                  <p:embed/>
                </p:oleObj>
              </mc:Choice>
              <mc:Fallback>
                <p:oleObj r:id="rId2" imgW="7048337" imgH="226695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172" y="1484784"/>
                        <a:ext cx="7399655" cy="2376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3C40CE-A589-46A9-A206-A43AA18D7D87}"/>
              </a:ext>
            </a:extLst>
          </p:cNvPr>
          <p:cNvSpPr txBox="1"/>
          <p:nvPr/>
        </p:nvSpPr>
        <p:spPr>
          <a:xfrm>
            <a:off x="683568" y="3861045"/>
            <a:ext cx="82089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Old School diagram BUT CSMA/CD still applies today and this is easier for us to understand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Terminating resistor stop the signal reflecting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Light and any electromagnetic signal travel at the speed of light (3 x 10</a:t>
            </a:r>
            <a:r>
              <a:rPr lang="en-IE" baseline="30000" dirty="0"/>
              <a:t>8</a:t>
            </a:r>
            <a:r>
              <a:rPr lang="en-IE" dirty="0"/>
              <a:t> m/s) in a vacuum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An electrical conductor is not a perfect conductor and the signal propagates at about two thirds of the speed of light, which is approximately 2x10</a:t>
            </a:r>
            <a:r>
              <a:rPr lang="en-IE" baseline="30000" dirty="0"/>
              <a:t>8</a:t>
            </a:r>
            <a:r>
              <a:rPr lang="en-IE" dirty="0"/>
              <a:t> m/s.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The cable is passive and not active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Passive means that it does not require power to operate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dirty="0"/>
              <a:t>So if a signal is placed on a conductor it will be sensed on all parts of that conductor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E" dirty="0"/>
              <a:t>Broadcast medium</a:t>
            </a:r>
          </a:p>
        </p:txBody>
      </p:sp>
    </p:spTree>
    <p:extLst>
      <p:ext uri="{BB962C8B-B14F-4D97-AF65-F5344CB8AC3E}">
        <p14:creationId xmlns:p14="http://schemas.microsoft.com/office/powerpoint/2010/main" val="2992534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A6A1-6A15-4477-8785-26E56676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CSMA/CD Operation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1D964F-932A-4210-863C-C048358A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CCF00-85B1-4CB4-B4F9-2250558F65E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At time t</a:t>
            </a:r>
            <a:r>
              <a:rPr lang="en-IE" baseline="-25000" dirty="0"/>
              <a:t>0</a:t>
            </a:r>
            <a:r>
              <a:rPr lang="en-IE" dirty="0"/>
              <a:t>, A wishes to transmit</a:t>
            </a:r>
          </a:p>
          <a:p>
            <a:pPr lvl="1"/>
            <a:r>
              <a:rPr lang="en-IE" dirty="0"/>
              <a:t>Listen, check the transmission medium for traffic, hears nothing, so transmits the frame 1 bit at a time.</a:t>
            </a:r>
          </a:p>
          <a:p>
            <a:r>
              <a:rPr lang="en-IE" dirty="0"/>
              <a:t>At time t</a:t>
            </a:r>
            <a:r>
              <a:rPr lang="en-IE" baseline="-25000" dirty="0"/>
              <a:t>1</a:t>
            </a:r>
            <a:r>
              <a:rPr lang="en-IE" dirty="0"/>
              <a:t>, A’s frame is travelling along the transmission media, 1 bit after another</a:t>
            </a:r>
          </a:p>
          <a:p>
            <a:pPr lvl="1"/>
            <a:r>
              <a:rPr lang="en-IE" dirty="0"/>
              <a:t>Host B has a frame to transmit, B listens to the transmission media, hears A’s frame and </a:t>
            </a:r>
            <a:r>
              <a:rPr lang="en-IE" dirty="0" err="1"/>
              <a:t>backsoff</a:t>
            </a:r>
            <a:endParaRPr lang="en-IE" dirty="0"/>
          </a:p>
          <a:p>
            <a:pPr lvl="1"/>
            <a:r>
              <a:rPr lang="en-IE" dirty="0"/>
              <a:t>Host B doesn’t send, waits until A finishes and tries again </a:t>
            </a:r>
          </a:p>
        </p:txBody>
      </p:sp>
    </p:spTree>
    <p:extLst>
      <p:ext uri="{BB962C8B-B14F-4D97-AF65-F5344CB8AC3E}">
        <p14:creationId xmlns:p14="http://schemas.microsoft.com/office/powerpoint/2010/main" val="152903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A6A1-6A15-4477-8785-26E56676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CSMA/CD Operation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1D964F-932A-4210-863C-C048358A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CCF00-85B1-4CB4-B4F9-2250558F65E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At time t</a:t>
            </a:r>
            <a:r>
              <a:rPr lang="en-IE" baseline="-25000" dirty="0"/>
              <a:t>2</a:t>
            </a:r>
            <a:r>
              <a:rPr lang="en-IE" dirty="0"/>
              <a:t>, C wishes to transmit</a:t>
            </a:r>
          </a:p>
          <a:p>
            <a:pPr lvl="1"/>
            <a:r>
              <a:rPr lang="en-IE" dirty="0"/>
              <a:t>Listen, check the transmission medium for traffic, hears nothing, because A’s transmission hasn’t reach C yet</a:t>
            </a:r>
          </a:p>
          <a:p>
            <a:pPr lvl="1"/>
            <a:r>
              <a:rPr lang="en-IE" dirty="0"/>
              <a:t>So, C transmits the frame 1 bit at a time.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E35E0F-5C94-4846-BAD6-517C571B8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35730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E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ABE5327-5B29-4C87-BB0E-401672AA21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45515"/>
              </p:ext>
            </p:extLst>
          </p:nvPr>
        </p:nvGraphicFramePr>
        <p:xfrm>
          <a:off x="1547664" y="3573016"/>
          <a:ext cx="57150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972312" imgH="2143012" progId="Visio.Drawing.11">
                  <p:embed/>
                </p:oleObj>
              </mc:Choice>
              <mc:Fallback>
                <p:oleObj r:id="rId2" imgW="6972312" imgH="214301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573016"/>
                        <a:ext cx="5715000" cy="175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6134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A6A1-6A15-4477-8785-26E56676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CSMA/CD Operation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1D964F-932A-4210-863C-C048358A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CCF00-85B1-4CB4-B4F9-2250558F65E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At time t</a:t>
            </a:r>
            <a:r>
              <a:rPr lang="en-IE" baseline="-25000" dirty="0"/>
              <a:t>3</a:t>
            </a:r>
            <a:r>
              <a:rPr lang="en-IE" dirty="0"/>
              <a:t>, A’s transmission and C’s transmission will collide</a:t>
            </a:r>
          </a:p>
          <a:p>
            <a:pPr lvl="1"/>
            <a:r>
              <a:rPr lang="en-IE" dirty="0"/>
              <a:t>Both become garbled - corrupted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E35E0F-5C94-4846-BAD6-517C571B8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35730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E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B7BE1D-C0E8-4DC0-952C-E69716A6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068959"/>
            <a:ext cx="105995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E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BBF6AB3-D17D-483E-A0B2-423271FFAC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728305"/>
              </p:ext>
            </p:extLst>
          </p:nvPr>
        </p:nvGraphicFramePr>
        <p:xfrm>
          <a:off x="971600" y="3068960"/>
          <a:ext cx="7512000" cy="2341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972312" imgH="2162343" progId="Visio.Drawing.11">
                  <p:embed/>
                </p:oleObj>
              </mc:Choice>
              <mc:Fallback>
                <p:oleObj r:id="rId2" imgW="6972312" imgH="216234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068960"/>
                        <a:ext cx="7512000" cy="23412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1433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A6A1-6A15-4477-8785-26E56676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CSMA/CD Operation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1D964F-932A-4210-863C-C048358A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CCF00-85B1-4CB4-B4F9-2250558F65E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Both A and C must detect the collision</a:t>
            </a:r>
          </a:p>
          <a:p>
            <a:r>
              <a:rPr lang="en-IE" dirty="0"/>
              <a:t>To do this A and C must detect the garbled frames while still sending the frame</a:t>
            </a:r>
          </a:p>
          <a:p>
            <a:r>
              <a:rPr lang="en-IE" dirty="0"/>
              <a:t>When a transmitting station detects a collision it will send out a “jam” signal and back off for a random time period</a:t>
            </a:r>
          </a:p>
          <a:p>
            <a:r>
              <a:rPr lang="en-IE" dirty="0"/>
              <a:t> The jam signal prevents other host from initiating a transmission</a:t>
            </a:r>
          </a:p>
          <a:p>
            <a:r>
              <a:rPr lang="en-IE" dirty="0"/>
              <a:t> This jam signal is a continuous stream of 1’s and 0’s, i.e., 1010101010101010……etc., or even 01010101010101…..  </a:t>
            </a:r>
          </a:p>
          <a:p>
            <a:pPr lvl="1"/>
            <a:r>
              <a:rPr lang="en-IE" dirty="0"/>
              <a:t>In hex this is a continuous stream of A’s or 5’s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E35E0F-5C94-4846-BAD6-517C571B8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35730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E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B7BE1D-C0E8-4DC0-952C-E69716A6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068959"/>
            <a:ext cx="105995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2256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A31E-BD8E-49DA-82F5-246A6079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Collision Detection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E8ECBB-981A-4845-B4A0-E3C703F98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ADE02-60ED-47C8-84D1-70B684D2256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In order to detect a collision a station must be transmitting at least long enough for the transmitted signal to reach the furthest end of the cable and back again</a:t>
            </a:r>
          </a:p>
          <a:p>
            <a:r>
              <a:rPr lang="en-IE" dirty="0"/>
              <a:t>This is the reason there is a minimum frame length</a:t>
            </a:r>
          </a:p>
          <a:p>
            <a:pPr lvl="1"/>
            <a:r>
              <a:rPr lang="en-IE" dirty="0"/>
              <a:t>Count destination address + source address + type/length + min data + </a:t>
            </a:r>
            <a:r>
              <a:rPr lang="en-IE" dirty="0" err="1"/>
              <a:t>crc</a:t>
            </a:r>
            <a:r>
              <a:rPr lang="en-IE" dirty="0"/>
              <a:t> </a:t>
            </a:r>
            <a:r>
              <a:rPr lang="en-IE" dirty="0">
                <a:sym typeface="Symbol" panose="05050102010706020507" pitchFamily="18" charset="2"/>
              </a:rPr>
              <a:t> </a:t>
            </a:r>
            <a:r>
              <a:rPr lang="en-IE" dirty="0"/>
              <a:t>6 + 6 + 2 + 46 + 4 = 64</a:t>
            </a:r>
          </a:p>
          <a:p>
            <a:pPr lvl="1"/>
            <a:r>
              <a:rPr lang="en-IE" dirty="0"/>
              <a:t>Minimum Ethernet frame size is 64 bytes</a:t>
            </a:r>
          </a:p>
          <a:p>
            <a:r>
              <a:rPr lang="en-IE" dirty="0"/>
              <a:t>If a device can send 10 Mbps (standard Ethernet), how long will it take to send 64 bytes 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20814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0EA1-1F26-4C77-A7A0-6E036730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Maths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0AB9A-9816-4C11-8AEF-E5B87C70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16</a:t>
            </a:fld>
            <a:endParaRPr kumimoji="0"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34C9C43-9145-4595-A055-FE1B208CF31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IE" dirty="0"/>
                  <a:t>64 bytes × 8 = 512 bits</a:t>
                </a:r>
              </a:p>
              <a:p>
                <a:r>
                  <a:rPr lang="en-IE" dirty="0"/>
                  <a:t>Standard Ethernet </a:t>
                </a:r>
                <a:r>
                  <a:rPr lang="en-IE" dirty="0">
                    <a:sym typeface="Symbol" panose="05050102010706020507" pitchFamily="18" charset="2"/>
                  </a:rPr>
                  <a:t> 10,000,000 bits in 1 second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𝑏𝑖𝑡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10,000,000</m:t>
                        </m:r>
                      </m:den>
                    </m:f>
                    <m:r>
                      <a:rPr lang="en-IE" i="1">
                        <a:latin typeface="Cambria Math" panose="02040503050406030204" pitchFamily="18" charset="0"/>
                      </a:rPr>
                      <m:t>=0.0000001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𝑠𝑒𝑐𝑜𝑛𝑑𝑠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 0.1µ</m:t>
                    </m:r>
                    <m:r>
                      <a:rPr lang="en-IE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𝑆</m:t>
                    </m:r>
                  </m:oMath>
                </a14:m>
                <a:endParaRPr lang="en-IE" b="0" dirty="0">
                  <a:sym typeface="Symbol" panose="05050102010706020507" pitchFamily="18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IE" b="0" i="1" smtClean="0">
                        <a:latin typeface="Cambria Math" panose="02040503050406030204" pitchFamily="18" charset="0"/>
                      </a:rPr>
                      <m:t>512 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𝑏𝑖𝑡𝑠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=0.1µ</m:t>
                    </m:r>
                    <m:r>
                      <a:rPr lang="en-IE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𝑆</m:t>
                    </m:r>
                    <m:r>
                      <a:rPr lang="en-IE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×512=51.2</m:t>
                    </m:r>
                  </m:oMath>
                </a14:m>
                <a:r>
                  <a:rPr lang="en-IE" dirty="0"/>
                  <a:t>S</a:t>
                </a:r>
              </a:p>
              <a:p>
                <a:r>
                  <a:rPr lang="en-IE" dirty="0"/>
                  <a:t>51.2</a:t>
                </a:r>
                <a:r>
                  <a:rPr lang="en-IE" dirty="0">
                    <a:sym typeface="Symbol" panose="05050102010706020507" pitchFamily="18" charset="2"/>
                  </a:rPr>
                  <a:t>S to reach the furthest point in the network at back again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34C9C43-9145-4595-A055-FE1B208CF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4" t="-1200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012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0EA1-1F26-4C77-A7A0-6E036730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Maths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0AB9A-9816-4C11-8AEF-E5B87C70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17</a:t>
            </a:fld>
            <a:endParaRPr kumimoji="0"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34C9C43-9145-4595-A055-FE1B208CF31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IE" dirty="0">
                    <a:sym typeface="Symbol" panose="05050102010706020507" pitchFamily="18" charset="2"/>
                  </a:rPr>
                  <a:t>Recall, maximum cable length is 100m</a:t>
                </a:r>
              </a:p>
              <a:p>
                <a:r>
                  <a:rPr lang="en-IE" dirty="0">
                    <a:sym typeface="Symbol" panose="05050102010706020507" pitchFamily="18" charset="2"/>
                  </a:rPr>
                  <a:t>Bits travel at approximately 2 × 10</a:t>
                </a:r>
                <a:r>
                  <a:rPr lang="en-IE" baseline="30000" dirty="0">
                    <a:sym typeface="Symbol" panose="05050102010706020507" pitchFamily="18" charset="2"/>
                  </a:rPr>
                  <a:t>8</a:t>
                </a:r>
                <a:r>
                  <a:rPr lang="en-IE" dirty="0">
                    <a:sym typeface="Symbol" panose="05050102010706020507" pitchFamily="18" charset="2"/>
                  </a:rPr>
                  <a:t> m/s </a:t>
                </a:r>
                <a:r>
                  <a:rPr lang="en-IE" dirty="0"/>
                  <a:t> </a:t>
                </a:r>
              </a:p>
              <a:p>
                <a:r>
                  <a:rPr lang="en-IE" dirty="0"/>
                  <a:t>A bit will travel 1 m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r>
                      <a:rPr lang="en-I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200,000,000</m:t>
                        </m:r>
                      </m:den>
                    </m:f>
                    <m:r>
                      <a:rPr lang="en-IE" i="1">
                        <a:latin typeface="Cambria Math" panose="02040503050406030204" pitchFamily="18" charset="0"/>
                      </a:rPr>
                      <m:t>=0.000000005</m:t>
                    </m:r>
                  </m:oMath>
                </a14:m>
                <a:r>
                  <a:rPr lang="en-IE" dirty="0"/>
                  <a:t> S or 0.005</a:t>
                </a:r>
                <a:r>
                  <a:rPr lang="en-IE" dirty="0">
                    <a:sym typeface="Symbol" panose="05050102010706020507" pitchFamily="18" charset="2"/>
                  </a:rPr>
                  <a:t>S</a:t>
                </a:r>
              </a:p>
              <a:p>
                <a:r>
                  <a:rPr lang="en-IE" dirty="0">
                    <a:sym typeface="Symbol" panose="05050102010706020507" pitchFamily="18" charset="2"/>
                  </a:rPr>
                  <a:t>A bit will travel 100m in 0.005S × 100 = 0.5S</a:t>
                </a:r>
              </a:p>
              <a:p>
                <a:r>
                  <a:rPr lang="en-IE" dirty="0">
                    <a:sym typeface="Symbol" panose="05050102010706020507" pitchFamily="18" charset="2"/>
                  </a:rPr>
                  <a:t>This might suggest that we could have a lot of 100m cable runs in the network</a:t>
                </a:r>
              </a:p>
              <a:p>
                <a:pPr lvl="1"/>
                <a:r>
                  <a:rPr lang="en-IE" dirty="0">
                    <a:sym typeface="Symbol" panose="05050102010706020507" pitchFamily="18" charset="2"/>
                  </a:rPr>
                  <a:t>But the devices (repeaters/hubs) connecting the cable runs can add a more significant delay</a:t>
                </a:r>
                <a:endParaRPr lang="en-I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34C9C43-9145-4595-A055-FE1B208CF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4" t="-1200" r="-157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662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48C5-F561-44A3-AE02-A65BB28C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5-4-3-2-1 Rule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E2CA69-7224-4888-998C-389C6170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F3EA2E-37C0-4D98-9837-67CC36F719A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Limit to how many segments and repeaters there can be on the one network</a:t>
            </a:r>
          </a:p>
          <a:p>
            <a:r>
              <a:rPr lang="en-IE" dirty="0"/>
              <a:t>There can be no more than 5 segments, 4 repeaters, only 3 segments can have hosts attached, 2 segments are inter-repeater links and it’s 1 collision domain.  </a:t>
            </a:r>
          </a:p>
          <a:p>
            <a:r>
              <a:rPr lang="en-IE" dirty="0"/>
              <a:t>A collision domain is the area where collisions happen and can be detected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7027F6-00EB-45AD-B8E7-EFE2D147D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05" y="5005036"/>
            <a:ext cx="907157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E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50753A2-57C7-47C6-845F-7434989C06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65368"/>
              </p:ext>
            </p:extLst>
          </p:nvPr>
        </p:nvGraphicFramePr>
        <p:xfrm>
          <a:off x="311513" y="5194176"/>
          <a:ext cx="8390093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389991" imgH="408946" progId="Visio.Drawing.11">
                  <p:embed/>
                </p:oleObj>
              </mc:Choice>
              <mc:Fallback>
                <p:oleObj r:id="rId2" imgW="6389991" imgH="40894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13" y="5194176"/>
                        <a:ext cx="8390093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476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9F37-3D1E-4B90-9D98-4EDFD251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Issues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81E1FC-966A-4181-91EC-B8329AD5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3DECD-00A0-4322-A943-CA460535E3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If there are a lot of devices on a network then there can be significant delays before a device has an opportunity to transmit</a:t>
            </a:r>
          </a:p>
          <a:p>
            <a:r>
              <a:rPr lang="en-IE" dirty="0"/>
              <a:t>There can be quite a lot of collisions, as the number of host on a network increases, the number of collisions and delays will also increase.  </a:t>
            </a:r>
          </a:p>
          <a:p>
            <a:r>
              <a:rPr lang="en-IE" dirty="0"/>
              <a:t>The designers of Ethernet say that the maximum utilisation that can be achieved is actually 37%</a:t>
            </a:r>
          </a:p>
        </p:txBody>
      </p:sp>
    </p:spTree>
    <p:extLst>
      <p:ext uri="{BB962C8B-B14F-4D97-AF65-F5344CB8AC3E}">
        <p14:creationId xmlns:p14="http://schemas.microsoft.com/office/powerpoint/2010/main" val="4270274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0202B-8378-4B33-BED7-AB3060D4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Fast Ethernet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48D712-24E7-42F9-AA5B-85BD6A8D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CD64E-944B-456D-BEFE-C88D3D77786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Standard Ethernet – coaxial cable with a repeater or UTP with a hub (10Base-T)</a:t>
            </a:r>
          </a:p>
          <a:p>
            <a:r>
              <a:rPr lang="en-IE" dirty="0"/>
              <a:t>UTP – CAT5 or CAT5e with a hub or a switch (100Base-T)</a:t>
            </a:r>
          </a:p>
          <a:p>
            <a:r>
              <a:rPr lang="en-IE" dirty="0"/>
              <a:t>No change to frame format</a:t>
            </a:r>
          </a:p>
          <a:p>
            <a:r>
              <a:rPr lang="en-IE" dirty="0"/>
              <a:t>No change to CSMA/CD</a:t>
            </a:r>
          </a:p>
          <a:p>
            <a:r>
              <a:rPr lang="en-IE" dirty="0"/>
              <a:t>Time to transmit the smallest frame only 5.12</a:t>
            </a:r>
            <a:r>
              <a:rPr lang="en-IE" dirty="0">
                <a:sym typeface="Symbol" panose="05050102010706020507" pitchFamily="18" charset="2"/>
              </a:rPr>
              <a:t>S</a:t>
            </a:r>
          </a:p>
          <a:p>
            <a:pPr lvl="1"/>
            <a:r>
              <a:rPr lang="en-IE" dirty="0">
                <a:sym typeface="Symbol" panose="05050102010706020507" pitchFamily="18" charset="2"/>
              </a:rPr>
              <a:t>Maximum network length 205m</a:t>
            </a:r>
          </a:p>
          <a:p>
            <a:pPr lvl="1"/>
            <a:r>
              <a:rPr lang="en-IE" dirty="0">
                <a:sym typeface="Symbol" panose="05050102010706020507" pitchFamily="18" charset="2"/>
              </a:rPr>
              <a:t>2 hubs, 5m apart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68143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2DD5-F88E-42E4-8839-8FFE0424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Gigabit Ethernet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63B4C1-7D47-4988-8B66-5934FD9C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E6B3E-10C5-4F0B-A9F2-316DD7AE29D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1000Base-T (UTP)</a:t>
            </a:r>
          </a:p>
          <a:p>
            <a:r>
              <a:rPr lang="en-IE" dirty="0"/>
              <a:t>Frame transmission, 0.512</a:t>
            </a:r>
            <a:r>
              <a:rPr lang="en-IE" dirty="0">
                <a:sym typeface="Symbol" panose="05050102010706020507" pitchFamily="18" charset="2"/>
              </a:rPr>
              <a:t>S, network diameter 20m/25m</a:t>
            </a:r>
          </a:p>
          <a:p>
            <a:pPr lvl="1"/>
            <a:r>
              <a:rPr lang="en-IE" dirty="0">
                <a:sym typeface="Symbol" panose="05050102010706020507" pitchFamily="18" charset="2"/>
              </a:rPr>
              <a:t>Ok for backbone, interconnecting devices in the comms room</a:t>
            </a:r>
          </a:p>
          <a:p>
            <a:r>
              <a:rPr lang="en-IE" dirty="0"/>
              <a:t>The original standard was 1000Base-CX and the medium used was </a:t>
            </a:r>
            <a:r>
              <a:rPr lang="en-IE" dirty="0" err="1"/>
              <a:t>twinaxial</a:t>
            </a:r>
            <a:r>
              <a:rPr lang="en-IE" dirty="0"/>
              <a:t> cable, which is like coax only it uses twin conductors as opposed to a single conductor in coax</a:t>
            </a:r>
          </a:p>
          <a:p>
            <a:r>
              <a:rPr lang="en-IE" dirty="0"/>
              <a:t>To run to the desktop, one solution was to increase the minimum frame size to 512 bytes (enough) – wasteful</a:t>
            </a:r>
          </a:p>
          <a:p>
            <a:r>
              <a:rPr lang="en-IE" dirty="0"/>
              <a:t>Alternative solution is to use switches and full duplex transmission</a:t>
            </a:r>
          </a:p>
        </p:txBody>
      </p:sp>
    </p:spTree>
    <p:extLst>
      <p:ext uri="{BB962C8B-B14F-4D97-AF65-F5344CB8AC3E}">
        <p14:creationId xmlns:p14="http://schemas.microsoft.com/office/powerpoint/2010/main" val="1498867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9F60-30DA-46F4-84F5-20E5505C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Full-Duplex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438BFE-995B-4A41-998D-9DA05D14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22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305F89-0608-42E4-A902-A641C4653B1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83568" y="1916832"/>
            <a:ext cx="7750424" cy="33123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EBC3F5-4909-DFBA-72B6-AF24EA4513A9}"/>
              </a:ext>
            </a:extLst>
          </p:cNvPr>
          <p:cNvSpPr txBox="1"/>
          <p:nvPr/>
        </p:nvSpPr>
        <p:spPr>
          <a:xfrm>
            <a:off x="3810049" y="1628800"/>
            <a:ext cx="748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2361847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1426</TotalTime>
  <Words>1418</Words>
  <Application>Microsoft Office PowerPoint</Application>
  <PresentationFormat>On-screen Show (4:3)</PresentationFormat>
  <Paragraphs>151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Cambria Math</vt:lpstr>
      <vt:lpstr>Franklin Gothic Book</vt:lpstr>
      <vt:lpstr>Perpetua</vt:lpstr>
      <vt:lpstr>Symbol</vt:lpstr>
      <vt:lpstr>Wingdings 2</vt:lpstr>
      <vt:lpstr>Equity</vt:lpstr>
      <vt:lpstr>Visio.Drawing.11</vt:lpstr>
      <vt:lpstr>Networking</vt:lpstr>
      <vt:lpstr>Ethernet</vt:lpstr>
      <vt:lpstr>Ethernet Frame Format</vt:lpstr>
      <vt:lpstr>Ethernet Frame Format</vt:lpstr>
      <vt:lpstr>Ethernet Frame Format</vt:lpstr>
      <vt:lpstr>Ethernet Frame Format</vt:lpstr>
      <vt:lpstr>Addressing</vt:lpstr>
      <vt:lpstr>Address Types</vt:lpstr>
      <vt:lpstr>Access Control</vt:lpstr>
      <vt:lpstr>Standard Ethernet</vt:lpstr>
      <vt:lpstr>CSMA/CD Operation</vt:lpstr>
      <vt:lpstr>CSMA/CD Operation</vt:lpstr>
      <vt:lpstr>CSMA/CD Operation</vt:lpstr>
      <vt:lpstr>CSMA/CD Operation</vt:lpstr>
      <vt:lpstr>Collision Detection</vt:lpstr>
      <vt:lpstr>Maths</vt:lpstr>
      <vt:lpstr>Maths</vt:lpstr>
      <vt:lpstr>5-4-3-2-1 Rule </vt:lpstr>
      <vt:lpstr>Issues</vt:lpstr>
      <vt:lpstr>Fast Ethernet</vt:lpstr>
      <vt:lpstr>Gigabit Ethernet</vt:lpstr>
      <vt:lpstr>Full-Duplex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Network Security</dc:title>
  <dc:creator>Sky</dc:creator>
  <cp:lastModifiedBy>Frances Byrne</cp:lastModifiedBy>
  <cp:revision>81</cp:revision>
  <dcterms:created xsi:type="dcterms:W3CDTF">2017-01-20T17:30:53Z</dcterms:created>
  <dcterms:modified xsi:type="dcterms:W3CDTF">2025-03-05T12:02:13Z</dcterms:modified>
</cp:coreProperties>
</file>