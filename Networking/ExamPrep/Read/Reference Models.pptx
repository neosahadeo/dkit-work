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custDataLst>
    <p:tags r:id="rId2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DF36AA-6C53-4C59-8B5F-5B50745A2FA9}" type="datetimeFigureOut">
              <a:rPr lang="en-IE" smtClean="0"/>
              <a:pPr/>
              <a:t>03/02/2025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0A602B-B0FE-4F78-8DA2-F29EB6A30FE6}" type="slidenum">
              <a:rPr lang="en-IE" smtClean="0"/>
              <a:pPr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2509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8538E-7F54-46CA-A56A-B66E84EE5291}" type="datetime1">
              <a:rPr lang="en-US" smtClean="0"/>
              <a:pPr/>
              <a:t>2/3/2025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 sz="1400" dirty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90B64-8072-47DE-95F0-9161E41773D6}" type="datetime1">
              <a:rPr lang="en-US" smtClean="0"/>
              <a:pPr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5315D-05FC-4CA7-8699-AA3CABB212ED}" type="datetime1">
              <a:rPr lang="en-US" smtClean="0"/>
              <a:pPr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0AE2B-2C8D-4FD1-9F22-C47A670F01C7}" type="datetime1">
              <a:rPr lang="en-US" smtClean="0"/>
              <a:pPr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3C1C9-49F5-4CA5-A8A8-2C776F31BCFE}" type="datetime1">
              <a:rPr lang="en-US" smtClean="0"/>
              <a:pPr/>
              <a:t>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2FD99-0A54-4958-AD10-12E35D51C3A3}" type="datetime1">
              <a:rPr lang="en-US" smtClean="0"/>
              <a:pPr/>
              <a:t>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E62F-4185-418E-8F12-61D34C4C97D3}" type="datetime1">
              <a:rPr lang="en-US" smtClean="0"/>
              <a:pPr/>
              <a:t>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B975E-2CF9-4DCB-B035-0602408F4037}" type="datetime1">
              <a:rPr lang="en-US" smtClean="0"/>
              <a:pPr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47B1B-63AC-41A0-B8F9-0F4E6C0B1426}" type="datetime1">
              <a:rPr lang="en-US" smtClean="0"/>
              <a:pPr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2EE97-B732-44CA-ADB4-58907883C9FE}" type="datetime1">
              <a:rPr lang="en-US" smtClean="0"/>
              <a:pPr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697D2-61F7-4EBC-A00C-B08EA4C35BCD}" type="datetime1">
              <a:rPr lang="en-US" smtClean="0"/>
              <a:pPr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fld id="{F2E45E9D-B291-436F-9F59-61DA74066548}" type="datetime1">
              <a:rPr lang="en-US" smtClean="0"/>
              <a:pPr algn="r" eaLnBrk="1" latinLnBrk="0" hangingPunct="1"/>
              <a:t>2/3/2025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1" latinLnBrk="0" hangingPunct="1"/>
            <a:fld id="{6F42FDE4-A7DD-41A7-A0A6-9B649FB43336}" type="slidenum">
              <a:rPr kumimoji="0" lang="en-US" smtClean="0"/>
              <a:pPr algn="ctr" eaLnBrk="1" latinLnBrk="0" hangingPunct="1"/>
              <a:t>‹#›</a:t>
            </a:fld>
            <a:endParaRPr kumimoji="0" lang="en-US" sz="14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Reference Models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/>
              <a:t>Networking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</a:t>
            </a:fld>
            <a:endParaRPr kumimoji="0" lang="en-US" sz="14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619CB-1615-4FFA-81A3-DDAEAB8D7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Protocol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5A0B69-A992-4B67-BF94-24DD4627F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2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5DEEA7-3DC6-4B89-9003-24537650C89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A protocol is a set of rules that make communication on a network possible</a:t>
            </a:r>
          </a:p>
          <a:p>
            <a:r>
              <a:rPr lang="en-IE" dirty="0"/>
              <a:t>Network communication process is complex</a:t>
            </a:r>
          </a:p>
          <a:p>
            <a:r>
              <a:rPr lang="en-IE" dirty="0"/>
              <a:t>Many functions or steps must be performed to accomplish the task of communication between two networked devices, </a:t>
            </a:r>
          </a:p>
          <a:p>
            <a:pPr lvl="1"/>
            <a:r>
              <a:rPr lang="en-IE" dirty="0"/>
              <a:t>There is generally a protocol for each of these functions</a:t>
            </a:r>
          </a:p>
          <a:p>
            <a:pPr lvl="1"/>
            <a:r>
              <a:rPr lang="en-IE" dirty="0"/>
              <a:t>A complete suite or family of protocols is necessary to do the complete job</a:t>
            </a:r>
          </a:p>
        </p:txBody>
      </p:sp>
    </p:spTree>
    <p:extLst>
      <p:ext uri="{BB962C8B-B14F-4D97-AF65-F5344CB8AC3E}">
        <p14:creationId xmlns:p14="http://schemas.microsoft.com/office/powerpoint/2010/main" val="2698482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C00E2-DFED-408D-A06D-2F2F13A8F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OSI Reference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E91B14-D844-4913-A394-37EB2069C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3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77ECC-4825-4EA1-9B13-0E084218B03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The International Standard Organization (ISO) developed a model in which each protocol is a "layer" that performs certain functions for the protocol (layer) above it</a:t>
            </a:r>
          </a:p>
          <a:p>
            <a:r>
              <a:rPr lang="en-IE" dirty="0"/>
              <a:t>The model is referred to as the OSI (open system interconnection) reference model</a:t>
            </a:r>
          </a:p>
          <a:p>
            <a:r>
              <a:rPr lang="en-IE" dirty="0"/>
              <a:t>Does not specify the exact details of each protocol</a:t>
            </a:r>
          </a:p>
          <a:p>
            <a:pPr lvl="1"/>
            <a:r>
              <a:rPr lang="en-IE" dirty="0"/>
              <a:t>It specifies a way of designing protocol suites, i.e., what layers should be present and what functions each layer should perform</a:t>
            </a:r>
          </a:p>
        </p:txBody>
      </p:sp>
    </p:spTree>
    <p:extLst>
      <p:ext uri="{BB962C8B-B14F-4D97-AF65-F5344CB8AC3E}">
        <p14:creationId xmlns:p14="http://schemas.microsoft.com/office/powerpoint/2010/main" val="4243316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8806C-CCD1-4585-A697-A918C4965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Advantages of Layering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A0B50F-C4BA-4152-BA8F-8DE810A6C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4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2ED8C3-E178-42EA-B271-B87A9C6B03D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It breaks network communication into smaller, simpler parts that are easier to develop.</a:t>
            </a:r>
          </a:p>
          <a:p>
            <a:r>
              <a:rPr lang="en-IE" dirty="0"/>
              <a:t>It facilitates the standardization of network components to allow multi-vendor development and support.</a:t>
            </a:r>
          </a:p>
          <a:p>
            <a:r>
              <a:rPr lang="en-IE" dirty="0"/>
              <a:t>It allows different types of hardware and software to communicate with each other.</a:t>
            </a:r>
          </a:p>
          <a:p>
            <a:r>
              <a:rPr lang="en-IE" dirty="0"/>
              <a:t>It prevents changes in one layer from affecting the other layers, so that they can develop more quickly</a:t>
            </a:r>
          </a:p>
          <a:p>
            <a:r>
              <a:rPr lang="en-IE" dirty="0"/>
              <a:t>It breaks network communication into smaller simpler parts to make learning it easier to understand.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066014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2A565-D934-4038-8E47-CFEBF9377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OSI Reference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3EFC42-B9D1-4F10-862D-C2AE257BE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5</a:t>
            </a:fld>
            <a:endParaRPr kumimoji="0"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73BEA4-7EB9-4C39-A944-6E695DDED5A1}"/>
              </a:ext>
            </a:extLst>
          </p:cNvPr>
          <p:cNvPicPr>
            <a:picLocks noGrp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0634" y="1709752"/>
            <a:ext cx="3279932" cy="404809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08064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E688A-9A19-493A-91EE-9AFEB228C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Application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27C6C6-E7C9-4E39-8A09-CF3F95FE9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6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7F1FD7-EB9F-4011-9569-C6C7824F84C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Closest to the user</a:t>
            </a:r>
          </a:p>
          <a:p>
            <a:pPr lvl="1"/>
            <a:r>
              <a:rPr lang="en-IE" dirty="0"/>
              <a:t>It provides network services to the user’s applications e.g. browsers. </a:t>
            </a:r>
          </a:p>
          <a:p>
            <a:r>
              <a:rPr lang="en-IE" dirty="0"/>
              <a:t>It differs from the other layers in that it does not provide services to any other OSI layer</a:t>
            </a:r>
          </a:p>
          <a:p>
            <a:r>
              <a:rPr lang="en-IE" dirty="0"/>
              <a:t>Establishes the availability of intended communication partners, synchronizes and establishes agreement on procedures for error recovery and control of data integrity</a:t>
            </a:r>
          </a:p>
        </p:txBody>
      </p:sp>
    </p:spTree>
    <p:extLst>
      <p:ext uri="{BB962C8B-B14F-4D97-AF65-F5344CB8AC3E}">
        <p14:creationId xmlns:p14="http://schemas.microsoft.com/office/powerpoint/2010/main" val="725420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6D35F-FAF6-454C-A789-DC43F9133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Presentation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D4584B-F175-4E9A-A1D2-416649695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7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A71F55-CAEB-4F4E-8176-FF1F2A95A58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Data Format</a:t>
            </a:r>
          </a:p>
          <a:p>
            <a:pPr lvl="1"/>
            <a:r>
              <a:rPr lang="en-IE" dirty="0"/>
              <a:t>Make sure the information that the application layer of one system sends out is readable by the application layer of another system</a:t>
            </a:r>
          </a:p>
          <a:p>
            <a:r>
              <a:rPr lang="en-IE" dirty="0"/>
              <a:t>Data Encryption</a:t>
            </a:r>
          </a:p>
          <a:p>
            <a:pPr lvl="1"/>
            <a:r>
              <a:rPr lang="en-IE" dirty="0"/>
              <a:t>Unreadable for 3</a:t>
            </a:r>
            <a:r>
              <a:rPr lang="en-IE" baseline="30000" dirty="0"/>
              <a:t>rd</a:t>
            </a:r>
            <a:r>
              <a:rPr lang="en-IE" dirty="0"/>
              <a:t> parties</a:t>
            </a:r>
          </a:p>
          <a:p>
            <a:r>
              <a:rPr lang="en-IE" dirty="0"/>
              <a:t>Data Compression</a:t>
            </a:r>
          </a:p>
          <a:p>
            <a:pPr lvl="1"/>
            <a:r>
              <a:rPr lang="en-IE" dirty="0"/>
              <a:t>Reduce the amount of data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692080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9FACC-CBD9-4447-B93E-649BC32D4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Session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8F6EEC-7D36-473D-8B6D-18307A174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8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420ECF-FE47-422D-9168-AE0BB7F1376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The user's interface to the network and contains the software necessary for a user to establish a connection with another computer</a:t>
            </a:r>
          </a:p>
          <a:p>
            <a:r>
              <a:rPr lang="en-IE" dirty="0"/>
              <a:t>The user can then log on and become an interactive user on that machine, or the user can access that machine simply to transfer a file</a:t>
            </a:r>
          </a:p>
          <a:p>
            <a:r>
              <a:rPr lang="en-IE" dirty="0"/>
              <a:t>There should be security mechanisms to protect against unauthorised access to the services or files provided on the network, and there should be mechanisms for graceful recovery from broken connections. </a:t>
            </a:r>
          </a:p>
        </p:txBody>
      </p:sp>
    </p:spTree>
    <p:extLst>
      <p:ext uri="{BB962C8B-B14F-4D97-AF65-F5344CB8AC3E}">
        <p14:creationId xmlns:p14="http://schemas.microsoft.com/office/powerpoint/2010/main" val="1210296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FCEB6-5528-4D75-8389-426FD7591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Transport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D279AD-F054-41E1-9FCA-57A6A60AC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9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BE3358-31FB-4250-AC10-A22B5F1C3A1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Interface between the higher application-oriented layers and the underlying network-dependent protocol layers</a:t>
            </a:r>
          </a:p>
          <a:p>
            <a:r>
              <a:rPr lang="en-IE" dirty="0"/>
              <a:t>Provides the session layer with a reliable message transfer facility that is independent of the underlying network type  </a:t>
            </a:r>
          </a:p>
          <a:p>
            <a:r>
              <a:rPr lang="en-IE" dirty="0"/>
              <a:t>Segments data from the sending host's system and reassembles the data into a data stream on the receiving host's system </a:t>
            </a:r>
          </a:p>
          <a:p>
            <a:r>
              <a:rPr lang="en-IE" dirty="0"/>
              <a:t>Can provide a reliable, sequenced, error-free transfer facility</a:t>
            </a:r>
          </a:p>
          <a:p>
            <a:r>
              <a:rPr lang="en-IE" dirty="0"/>
              <a:t>May also include some flow control that attempts to prevent faster computers from transmitting data too quickly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401046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5A6F4-530F-44A5-A4FD-A52388878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Network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DB6854-DA39-4456-8DA2-8776C4A71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10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3AC569-BA16-4E03-BEC8-FA6E3AA8F6B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Responsible for routing packets from source to destination i.e. selecting the best path</a:t>
            </a:r>
          </a:p>
          <a:p>
            <a:r>
              <a:rPr lang="en-IE" dirty="0"/>
              <a:t>Protocols at this layer provide a global addressing scheme; this is an address that will specify the destination regardless of which combination of transmission links is used</a:t>
            </a:r>
          </a:p>
          <a:p>
            <a:pPr lvl="1"/>
            <a:r>
              <a:rPr lang="en-IE" dirty="0"/>
              <a:t>IP addressing scheme</a:t>
            </a:r>
          </a:p>
        </p:txBody>
      </p:sp>
    </p:spTree>
    <p:extLst>
      <p:ext uri="{BB962C8B-B14F-4D97-AF65-F5344CB8AC3E}">
        <p14:creationId xmlns:p14="http://schemas.microsoft.com/office/powerpoint/2010/main" val="996171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4B064-927B-47AC-8EF5-5F6761C2E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Data Link Layer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66F831-7EFB-4D56-944B-A9C7B11E1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11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B39B59-6675-4279-8B80-8BD42D0DFA3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E" dirty="0"/>
              <a:t>Creates a Frame to carry data and control information</a:t>
            </a:r>
          </a:p>
          <a:p>
            <a:pPr lvl="1"/>
            <a:r>
              <a:rPr lang="en-IE" dirty="0"/>
              <a:t>Error detection / error correction</a:t>
            </a:r>
          </a:p>
          <a:p>
            <a:pPr lvl="1"/>
            <a:r>
              <a:rPr lang="en-IE" dirty="0"/>
              <a:t>Flow control</a:t>
            </a:r>
          </a:p>
          <a:p>
            <a:pPr lvl="1"/>
            <a:r>
              <a:rPr lang="en-IE" dirty="0"/>
              <a:t>Addresses</a:t>
            </a:r>
          </a:p>
          <a:p>
            <a:r>
              <a:rPr lang="en-IE" dirty="0"/>
              <a:t>The assembly and transmission of frames is accomplished by the data link layer</a:t>
            </a:r>
          </a:p>
          <a:p>
            <a:r>
              <a:rPr lang="en-IE" dirty="0"/>
              <a:t>Physical addressing </a:t>
            </a:r>
          </a:p>
          <a:p>
            <a:pPr lvl="1"/>
            <a:r>
              <a:rPr lang="en-IE" dirty="0"/>
              <a:t>MAC or Hardware (as opposed to logical addressing IP)</a:t>
            </a:r>
          </a:p>
          <a:p>
            <a:pPr lvl="1"/>
            <a:r>
              <a:rPr lang="en-IE" dirty="0"/>
              <a:t>Network (logical) topology</a:t>
            </a:r>
          </a:p>
          <a:p>
            <a:pPr lvl="1"/>
            <a:r>
              <a:rPr lang="en-IE" dirty="0"/>
              <a:t>Network media access (CSMA/CD)</a:t>
            </a:r>
          </a:p>
          <a:p>
            <a:r>
              <a:rPr lang="en-IE" dirty="0"/>
              <a:t>Typically implemented in hardware, but the functions of the layers above these are usually implemented in firmware or software 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67338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332DE-EEB1-4EAC-9ADA-26A69138E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Physical Layer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D56FDA-0649-4932-97A6-1D35D8D00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12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B243C-F621-4BE2-986B-9FA2804BBD5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The physical layer defines the electrical, mechanical, procedural, and functional specifications for activating, maintaining, and deactivating the physical link between end systems</a:t>
            </a:r>
          </a:p>
          <a:p>
            <a:r>
              <a:rPr lang="en-IE" dirty="0"/>
              <a:t>Voltage levels, timing of voltage changes, physical data rates, maximum transmission distances, physical connectors, and other, similar, attributes are defined by physical layer specifications</a:t>
            </a:r>
          </a:p>
          <a:p>
            <a:pPr lvl="1"/>
            <a:r>
              <a:rPr lang="en-IE" dirty="0"/>
              <a:t>Cables</a:t>
            </a:r>
          </a:p>
          <a:p>
            <a:pPr lvl="1"/>
            <a:r>
              <a:rPr lang="en-IE" dirty="0"/>
              <a:t>Connectors</a:t>
            </a:r>
          </a:p>
          <a:p>
            <a:pPr lvl="1"/>
            <a:r>
              <a:rPr lang="en-IE" dirty="0"/>
              <a:t>Patch Panels</a:t>
            </a:r>
          </a:p>
        </p:txBody>
      </p:sp>
    </p:spTree>
    <p:extLst>
      <p:ext uri="{BB962C8B-B14F-4D97-AF65-F5344CB8AC3E}">
        <p14:creationId xmlns:p14="http://schemas.microsoft.com/office/powerpoint/2010/main" val="2198533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5519E-C517-48CD-A4BF-7989FDE4F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TCP/IP Suite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E7AA22-CF7E-4DE7-9D04-323676E9D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13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39C21-E9C1-417E-9C22-55DE43AF7B1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Transmission Control Protocol / Internet Protocol</a:t>
            </a:r>
          </a:p>
          <a:p>
            <a:r>
              <a:rPr lang="en-IE" dirty="0"/>
              <a:t>Suite (group or family) of protocols that permit communication across a network</a:t>
            </a:r>
          </a:p>
          <a:p>
            <a:r>
              <a:rPr lang="en-IE" dirty="0"/>
              <a:t>The suite is called after 2 protocols in the suite</a:t>
            </a:r>
          </a:p>
          <a:p>
            <a:pPr lvl="1"/>
            <a:r>
              <a:rPr lang="en-IE" dirty="0"/>
              <a:t>TCP &amp; IP</a:t>
            </a:r>
          </a:p>
          <a:p>
            <a:r>
              <a:rPr lang="en-IE" dirty="0"/>
              <a:t>Other protocols include</a:t>
            </a:r>
          </a:p>
          <a:p>
            <a:pPr lvl="1"/>
            <a:r>
              <a:rPr lang="en-IE" dirty="0"/>
              <a:t>HTTP, HTTPS, DNS, FTP, SMTP</a:t>
            </a:r>
          </a:p>
          <a:p>
            <a:pPr lvl="1"/>
            <a:r>
              <a:rPr lang="en-IE" dirty="0"/>
              <a:t>UDP</a:t>
            </a:r>
          </a:p>
          <a:p>
            <a:pPr lvl="1"/>
            <a:r>
              <a:rPr lang="en-IE" dirty="0"/>
              <a:t>ICMP, ARP</a:t>
            </a:r>
          </a:p>
        </p:txBody>
      </p:sp>
    </p:spTree>
    <p:extLst>
      <p:ext uri="{BB962C8B-B14F-4D97-AF65-F5344CB8AC3E}">
        <p14:creationId xmlns:p14="http://schemas.microsoft.com/office/powerpoint/2010/main" val="49906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50A6C-F579-4020-BF25-AB5D3A0D6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OSI RM v TCP/IP RM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890CE6-1109-4B14-A8C6-34F7FFF3B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14</a:t>
            </a:fld>
            <a:endParaRPr kumimoji="0"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BB246E-58B4-4266-ACDC-3F31F32AE6C6}"/>
              </a:ext>
            </a:extLst>
          </p:cNvPr>
          <p:cNvPicPr>
            <a:picLocks noGrp="1"/>
          </p:cNvPicPr>
          <p:nvPr>
            <p:ph sz="quarter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376"/>
          <a:stretch/>
        </p:blipFill>
        <p:spPr bwMode="auto">
          <a:xfrm>
            <a:off x="1259632" y="1556792"/>
            <a:ext cx="4858871" cy="39604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92327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8B1E6-7B70-41C8-853C-FC404ABC2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Encapsulation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40318F-6F54-4DCC-BAB3-4660A1EBA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15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09313B-D552-41E8-A290-1379CE36D3C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All communications on a network originate at a source, and are sent to a destination</a:t>
            </a:r>
          </a:p>
          <a:p>
            <a:r>
              <a:rPr lang="en-IE" dirty="0"/>
              <a:t>The information that is sent on a network is referred to as a frame</a:t>
            </a:r>
          </a:p>
          <a:p>
            <a:r>
              <a:rPr lang="en-IE" dirty="0"/>
              <a:t>If one computer (host A) wants to send data to another computer (host B), the data must first be packaged by a process called encapsulation</a:t>
            </a:r>
          </a:p>
          <a:p>
            <a:r>
              <a:rPr lang="en-IE" dirty="0"/>
              <a:t>Encapsulation wraps data with the necessary protocol information before network transit</a:t>
            </a:r>
          </a:p>
          <a:p>
            <a:r>
              <a:rPr lang="en-IE" dirty="0"/>
              <a:t>As the data moves down through the layers of the OSI model, it receives headers, and in some cases trailers</a:t>
            </a:r>
          </a:p>
        </p:txBody>
      </p:sp>
    </p:spTree>
    <p:extLst>
      <p:ext uri="{BB962C8B-B14F-4D97-AF65-F5344CB8AC3E}">
        <p14:creationId xmlns:p14="http://schemas.microsoft.com/office/powerpoint/2010/main" val="1206944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8B1E6-7B70-41C8-853C-FC404ABC2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Encapsulation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40318F-6F54-4DCC-BAB3-4660A1EBA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16</a:t>
            </a:fld>
            <a:endParaRPr kumimoji="0"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0E520E-5529-4825-91A8-5726277BC473}"/>
              </a:ext>
            </a:extLst>
          </p:cNvPr>
          <p:cNvPicPr>
            <a:picLocks noGrp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38028" y="1628800"/>
            <a:ext cx="6022204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24384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DA7D6-57E1-4E04-B5FE-287CD01A8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Application Layer Protocols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079B62-6BF6-4E4F-B214-C88B0713F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17</a:t>
            </a:fld>
            <a:endParaRPr kumimoji="0"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B774F5-9C18-487E-9D22-6562FDF0AFF4}"/>
              </a:ext>
            </a:extLst>
          </p:cNvPr>
          <p:cNvPicPr>
            <a:picLocks noGrp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556792"/>
            <a:ext cx="5616624" cy="420099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815493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58755-C83D-4C90-A26F-105342D66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Application Layer Protocols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A3D5BE-78A7-4FA0-8F47-0F1E46B87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18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BCAF8-9CB2-4D6F-B8D3-1A0EA7EC89E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E" dirty="0"/>
              <a:t>Domain Name Service (DNS) is used to resolve Internet names to IP addresses </a:t>
            </a:r>
          </a:p>
          <a:p>
            <a:r>
              <a:rPr lang="en-IE" dirty="0"/>
              <a:t>Hypertext Transfer Protocol (HTTP) is used to transfer files that make up the Web pages of the World Wide Web. </a:t>
            </a:r>
          </a:p>
          <a:p>
            <a:r>
              <a:rPr lang="en-IE" dirty="0"/>
              <a:t>Simple Mail Transfer Protocol (SMTP) is used for the transfer of mail messages and attachments. </a:t>
            </a:r>
          </a:p>
          <a:p>
            <a:r>
              <a:rPr lang="en-IE" dirty="0"/>
              <a:t>Secure Shell (SSH) is a secure application which can provide remote access to servers and networking devices and file transfer.  </a:t>
            </a:r>
          </a:p>
          <a:p>
            <a:pPr lvl="1"/>
            <a:r>
              <a:rPr lang="en-IE" dirty="0"/>
              <a:t>Replaces TELNET. </a:t>
            </a:r>
          </a:p>
          <a:p>
            <a:r>
              <a:rPr lang="en-IE" dirty="0"/>
              <a:t>File Transfer Protocol (FTP) is used for interactive file transfer between devices</a:t>
            </a:r>
          </a:p>
          <a:p>
            <a:r>
              <a:rPr lang="en-IE" dirty="0"/>
              <a:t>Dynamic Host Configuration Protocol (DHCP) is used assign configuration information such as an IP address to end devices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4679458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A8CF2-657B-46E0-B051-B0A39FEA8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Transport Layer - UDP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1BFCC3-F47E-4F1E-89CB-93B108F79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19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12E09E-A39F-4A46-9E16-4978744A424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User Datagram Protocol</a:t>
            </a:r>
          </a:p>
          <a:p>
            <a:pPr lvl="1"/>
            <a:r>
              <a:rPr lang="en-IE" dirty="0"/>
              <a:t>Simple, connectionless, best effort</a:t>
            </a:r>
          </a:p>
          <a:p>
            <a:pPr lvl="1"/>
            <a:r>
              <a:rPr lang="en-IE" dirty="0"/>
              <a:t>Data sent in datagrams</a:t>
            </a:r>
          </a:p>
          <a:p>
            <a:r>
              <a:rPr lang="en-IE" dirty="0"/>
              <a:t>Used by</a:t>
            </a:r>
          </a:p>
          <a:p>
            <a:pPr lvl="1"/>
            <a:r>
              <a:rPr lang="en-IE" dirty="0"/>
              <a:t>Domain Name System (DNS)</a:t>
            </a:r>
          </a:p>
          <a:p>
            <a:pPr lvl="1"/>
            <a:r>
              <a:rPr lang="en-IE" dirty="0"/>
              <a:t>Video Streaming</a:t>
            </a:r>
          </a:p>
          <a:p>
            <a:pPr lvl="1"/>
            <a:r>
              <a:rPr lang="en-IE" dirty="0"/>
              <a:t>Voice over IP (VoIP)</a:t>
            </a:r>
          </a:p>
          <a:p>
            <a:r>
              <a:rPr lang="en-IE" dirty="0"/>
              <a:t>The UDP datagram consists of a UDP header and a block of data</a:t>
            </a:r>
          </a:p>
          <a:p>
            <a:pPr lvl="1"/>
            <a:r>
              <a:rPr lang="en-IE" dirty="0"/>
              <a:t>The header is only 8 bytes and is much smaller and simpler than the TCP header</a:t>
            </a:r>
          </a:p>
        </p:txBody>
      </p:sp>
    </p:spTree>
    <p:extLst>
      <p:ext uri="{BB962C8B-B14F-4D97-AF65-F5344CB8AC3E}">
        <p14:creationId xmlns:p14="http://schemas.microsoft.com/office/powerpoint/2010/main" val="17092221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7641-2726-4FC0-A96A-8A85269D9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UDP Header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81CEF1-9340-402F-B46A-71BDA6BBA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20</a:t>
            </a:fld>
            <a:endParaRPr kumimoji="0"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F444A5-BD9E-4292-A4A0-FE440E5575CA}"/>
              </a:ext>
            </a:extLst>
          </p:cNvPr>
          <p:cNvPicPr>
            <a:picLocks noGrp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195736" y="2348880"/>
            <a:ext cx="4464496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8911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E0D50-069F-4E91-98E5-622C5E689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Transport Layer - TCP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D1F181-60B6-472E-A90D-C04728FE4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21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1B925-EB69-4FB7-BEDD-559D179BFC4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Transmission Control Protocol</a:t>
            </a:r>
          </a:p>
          <a:p>
            <a:pPr lvl="1"/>
            <a:r>
              <a:rPr lang="en-IE" dirty="0"/>
              <a:t>Connection-oriented protocol	</a:t>
            </a:r>
          </a:p>
          <a:p>
            <a:pPr lvl="1"/>
            <a:r>
              <a:rPr lang="en-IE" dirty="0"/>
              <a:t>Additional overhead to ensure ordered delivery, reliable delivery, and flow control</a:t>
            </a:r>
          </a:p>
          <a:p>
            <a:r>
              <a:rPr lang="en-IE" dirty="0"/>
              <a:t>Each TCP segment has a minimum 20 bytes of overhead in the header encapsulating the Application layer data.  Applications that use TCP are: -</a:t>
            </a:r>
          </a:p>
          <a:p>
            <a:pPr lvl="1"/>
            <a:r>
              <a:rPr lang="en-IE" dirty="0"/>
              <a:t>Web Browsers </a:t>
            </a:r>
          </a:p>
          <a:p>
            <a:pPr lvl="1"/>
            <a:r>
              <a:rPr lang="en-IE" dirty="0"/>
              <a:t>E-mail </a:t>
            </a:r>
          </a:p>
          <a:p>
            <a:pPr lvl="1"/>
            <a:r>
              <a:rPr lang="en-IE" dirty="0"/>
              <a:t>File Transfers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3183778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77197-6CB4-4B49-A4E5-A84E32C04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TCP Header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1902BC-D7A7-456B-A368-CD4823CD8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22</a:t>
            </a:fld>
            <a:endParaRPr kumimoji="0"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F1A52C-8957-4EC1-AD95-36640659BEE8}"/>
              </a:ext>
            </a:extLst>
          </p:cNvPr>
          <p:cNvPicPr>
            <a:picLocks noGrp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914400" y="1844824"/>
            <a:ext cx="6753944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7067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8FA28-D9AD-4C32-A924-AAD722C1B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Network Layer Protocols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95CD2A-3293-4321-BEEE-09424FD4F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23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172A7-3092-4932-A7D3-BE5064B30EF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IPv4</a:t>
            </a:r>
          </a:p>
          <a:p>
            <a:r>
              <a:rPr lang="en-IE" dirty="0"/>
              <a:t>IPv6</a:t>
            </a:r>
          </a:p>
          <a:p>
            <a:r>
              <a:rPr lang="en-IE" dirty="0"/>
              <a:t>Internet Control Message Protocol (ICMP)</a:t>
            </a:r>
          </a:p>
          <a:p>
            <a:pPr lvl="1"/>
            <a:r>
              <a:rPr lang="en-IE" dirty="0"/>
              <a:t>Provides control and testing for the network, for example ping and traceroute</a:t>
            </a:r>
          </a:p>
        </p:txBody>
      </p:sp>
    </p:spTree>
    <p:extLst>
      <p:ext uri="{BB962C8B-B14F-4D97-AF65-F5344CB8AC3E}">
        <p14:creationId xmlns:p14="http://schemas.microsoft.com/office/powerpoint/2010/main" val="23225873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E91AA-6AA5-4CC2-8FA7-84A89B8E0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IPv4 Header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9A2022-7A6F-41F9-B0B3-B383BED9D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24</a:t>
            </a:fld>
            <a:endParaRPr kumimoji="0"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932405-317B-40F6-9154-C9406E19C67E}"/>
              </a:ext>
            </a:extLst>
          </p:cNvPr>
          <p:cNvPicPr>
            <a:picLocks noGrp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187624" y="1628800"/>
            <a:ext cx="6624736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75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ACB1D-6CFB-46BC-A1DC-3695D9D66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IPv6 Header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5E185B-90F2-4A69-90AE-A9438F91E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25</a:t>
            </a:fld>
            <a:endParaRPr kumimoji="0"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76DAC7-B482-49D9-AA16-A84115070F16}"/>
              </a:ext>
            </a:extLst>
          </p:cNvPr>
          <p:cNvPicPr>
            <a:picLocks noGrp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115616" y="1417638"/>
            <a:ext cx="6840760" cy="4099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3375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1216</TotalTime>
  <Words>1129</Words>
  <Application>Microsoft Office PowerPoint</Application>
  <PresentationFormat>On-screen Show (4:3)</PresentationFormat>
  <Paragraphs>141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Calibri</vt:lpstr>
      <vt:lpstr>Franklin Gothic Book</vt:lpstr>
      <vt:lpstr>Perpetua</vt:lpstr>
      <vt:lpstr>Wingdings 2</vt:lpstr>
      <vt:lpstr>Equity</vt:lpstr>
      <vt:lpstr>Networking</vt:lpstr>
      <vt:lpstr>Protocol</vt:lpstr>
      <vt:lpstr>OSI Reference Model</vt:lpstr>
      <vt:lpstr>Advantages of Layering</vt:lpstr>
      <vt:lpstr>OSI Reference Model</vt:lpstr>
      <vt:lpstr>Application</vt:lpstr>
      <vt:lpstr>Presentation</vt:lpstr>
      <vt:lpstr>Session</vt:lpstr>
      <vt:lpstr>Transport</vt:lpstr>
      <vt:lpstr>Network</vt:lpstr>
      <vt:lpstr>Data Link Layer</vt:lpstr>
      <vt:lpstr>Physical Layer</vt:lpstr>
      <vt:lpstr>TCP/IP Suite</vt:lpstr>
      <vt:lpstr>OSI RM v TCP/IP RM</vt:lpstr>
      <vt:lpstr>Encapsulation</vt:lpstr>
      <vt:lpstr>Encapsulation</vt:lpstr>
      <vt:lpstr>Application Layer Protocols</vt:lpstr>
      <vt:lpstr>Application Layer Protocols</vt:lpstr>
      <vt:lpstr>Transport Layer - UDP</vt:lpstr>
      <vt:lpstr>UDP Header</vt:lpstr>
      <vt:lpstr>Transport Layer - TCP</vt:lpstr>
      <vt:lpstr>TCP Header</vt:lpstr>
      <vt:lpstr>Network Layer Protocols</vt:lpstr>
      <vt:lpstr>IPv4 Header</vt:lpstr>
      <vt:lpstr>IPv6 Header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Network Security</dc:title>
  <dc:creator>Sky</dc:creator>
  <cp:lastModifiedBy>Frances Byrne</cp:lastModifiedBy>
  <cp:revision>69</cp:revision>
  <dcterms:created xsi:type="dcterms:W3CDTF">2017-01-20T17:30:53Z</dcterms:created>
  <dcterms:modified xsi:type="dcterms:W3CDTF">2025-02-03T20:15:01Z</dcterms:modified>
</cp:coreProperties>
</file>