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81" r:id="rId9"/>
    <p:sldId id="285" r:id="rId10"/>
    <p:sldId id="286" r:id="rId11"/>
    <p:sldId id="287" r:id="rId12"/>
    <p:sldId id="289" r:id="rId13"/>
    <p:sldId id="280" r:id="rId14"/>
    <p:sldId id="290" r:id="rId15"/>
    <p:sldId id="291" r:id="rId16"/>
    <p:sldId id="292" r:id="rId17"/>
    <p:sldId id="293" r:id="rId18"/>
    <p:sldId id="262" r:id="rId19"/>
    <p:sldId id="263" r:id="rId20"/>
    <p:sldId id="264" r:id="rId21"/>
    <p:sldId id="294" r:id="rId22"/>
    <p:sldId id="295" r:id="rId23"/>
    <p:sldId id="296" r:id="rId24"/>
    <p:sldId id="297" r:id="rId25"/>
    <p:sldId id="298" r:id="rId26"/>
    <p:sldId id="299" r:id="rId27"/>
    <p:sldId id="282" r:id="rId28"/>
    <p:sldId id="283" r:id="rId29"/>
    <p:sldId id="284" r:id="rId30"/>
    <p:sldId id="300" r:id="rId31"/>
    <p:sldId id="301" r:id="rId32"/>
    <p:sldId id="302" r:id="rId33"/>
    <p:sldId id="288" r:id="rId34"/>
    <p:sldId id="303" r:id="rId35"/>
  </p:sldIdLst>
  <p:sldSz cx="9144000" cy="6858000" type="screen4x3"/>
  <p:notesSz cx="6858000" cy="9144000"/>
  <p:custDataLst>
    <p:tags r:id="rId3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98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F36AA-6C53-4C59-8B5F-5B50745A2FA9}" type="datetimeFigureOut">
              <a:rPr lang="en-IE" smtClean="0"/>
              <a:pPr/>
              <a:t>24/02/2025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A602B-B0FE-4F78-8DA2-F29EB6A30FE6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50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538E-7F54-46CA-A56A-B66E84EE5291}" type="datetime1">
              <a:rPr lang="en-US" smtClean="0"/>
              <a:pPr/>
              <a:t>2/24/2025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90B64-8072-47DE-95F0-9161E41773D6}" type="datetime1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5315D-05FC-4CA7-8699-AA3CABB212ED}" type="datetime1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0AE2B-2C8D-4FD1-9F22-C47A670F01C7}" type="datetime1">
              <a:rPr lang="en-US" smtClean="0"/>
              <a:pPr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3C1C9-49F5-4CA5-A8A8-2C776F31BCFE}" type="datetime1">
              <a:rPr lang="en-US" smtClean="0"/>
              <a:pPr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FD99-0A54-4958-AD10-12E35D51C3A3}" type="datetime1">
              <a:rPr lang="en-US" smtClean="0"/>
              <a:pPr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E62F-4185-418E-8F12-61D34C4C97D3}" type="datetime1">
              <a:rPr lang="en-US" smtClean="0"/>
              <a:pPr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B975E-2CF9-4DCB-B035-0602408F4037}" type="datetime1">
              <a:rPr lang="en-US" smtClean="0"/>
              <a:pPr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7B1B-63AC-41A0-B8F9-0F4E6C0B1426}" type="datetime1">
              <a:rPr lang="en-US" smtClean="0"/>
              <a:pPr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2EE97-B732-44CA-ADB4-58907883C9FE}" type="datetime1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697D2-61F7-4EBC-A00C-B08EA4C35BCD}" type="datetime1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F2E45E9D-B291-436F-9F59-61DA74066548}" type="datetime1">
              <a:rPr lang="en-US" smtClean="0"/>
              <a:pPr algn="r" eaLnBrk="1" latinLnBrk="0" hangingPunct="1"/>
              <a:t>2/24/2025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‹#›</a:t>
            </a:fld>
            <a:endParaRPr kumimoji="0"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Wireless Ethernet – IEEE 802.11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Networking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What is wireless technologies?</a:t>
            </a:r>
          </a:p>
          <a:p>
            <a:pPr lvl="1"/>
            <a:r>
              <a:rPr lang="en-IE" dirty="0"/>
              <a:t>Transmission of information without the use of cables</a:t>
            </a:r>
          </a:p>
        </p:txBody>
      </p:sp>
    </p:spTree>
    <p:extLst>
      <p:ext uri="{BB962C8B-B14F-4D97-AF65-F5344CB8AC3E}">
        <p14:creationId xmlns:p14="http://schemas.microsoft.com/office/powerpoint/2010/main" val="270996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Advantages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Mobility </a:t>
            </a:r>
          </a:p>
          <a:p>
            <a:r>
              <a:rPr lang="en-IE" dirty="0"/>
              <a:t>Quick installation and deployment </a:t>
            </a:r>
          </a:p>
          <a:p>
            <a:r>
              <a:rPr lang="en-IE" dirty="0"/>
              <a:t>Flexibility</a:t>
            </a:r>
          </a:p>
          <a:p>
            <a:r>
              <a:rPr lang="en-IE" dirty="0"/>
              <a:t>Scalability </a:t>
            </a:r>
          </a:p>
          <a:p>
            <a:r>
              <a:rPr lang="en-IE" dirty="0"/>
              <a:t>Cost savings</a:t>
            </a:r>
          </a:p>
        </p:txBody>
      </p:sp>
    </p:spTree>
    <p:extLst>
      <p:ext uri="{BB962C8B-B14F-4D97-AF65-F5344CB8AC3E}">
        <p14:creationId xmlns:p14="http://schemas.microsoft.com/office/powerpoint/2010/main" val="2447119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Issues with Wireless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Quality of transmission</a:t>
            </a:r>
          </a:p>
          <a:p>
            <a:r>
              <a:rPr lang="en-IE" dirty="0"/>
              <a:t>Interference and noise</a:t>
            </a:r>
          </a:p>
          <a:p>
            <a:r>
              <a:rPr lang="en-IE" dirty="0"/>
              <a:t>Capacity of the network</a:t>
            </a:r>
          </a:p>
          <a:p>
            <a:r>
              <a:rPr lang="en-IE" dirty="0"/>
              <a:t>Security requirements</a:t>
            </a:r>
          </a:p>
          <a:p>
            <a:r>
              <a:rPr lang="en-IE" dirty="0"/>
              <a:t>Effects of mobility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24186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Affects of Mobility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Significant benefits for the end user </a:t>
            </a:r>
          </a:p>
          <a:p>
            <a:r>
              <a:rPr lang="en-IE" dirty="0"/>
              <a:t>Challenges</a:t>
            </a:r>
          </a:p>
          <a:p>
            <a:pPr lvl="1"/>
            <a:r>
              <a:rPr lang="en-IE" dirty="0"/>
              <a:t>Hardware must become lighter, more robust and consume less power.  </a:t>
            </a:r>
          </a:p>
          <a:p>
            <a:pPr lvl="1"/>
            <a:r>
              <a:rPr lang="en-IE" dirty="0"/>
              <a:t>The network interface and protocol must be adapted  </a:t>
            </a:r>
          </a:p>
          <a:p>
            <a:pPr lvl="1"/>
            <a:r>
              <a:rPr lang="en-IE" dirty="0"/>
              <a:t>Applications must also adapt to varying levels and quality of service</a:t>
            </a:r>
          </a:p>
          <a:p>
            <a:pPr lvl="1"/>
            <a:r>
              <a:rPr lang="en-IE" dirty="0"/>
              <a:t>Security is a bigger issue, while end user authentication becomes harder to implement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1538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Types of Wireless 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PAN – Cordless keyboard, headset</a:t>
            </a:r>
          </a:p>
          <a:p>
            <a:pPr lvl="1"/>
            <a:r>
              <a:rPr lang="en-IE" dirty="0"/>
              <a:t>IEEE 802.15 – Wireless Personal Area Networks – Wireless Specialty Networks (WSN) standards</a:t>
            </a:r>
          </a:p>
          <a:p>
            <a:pPr lvl="2"/>
            <a:r>
              <a:rPr lang="en-IE" dirty="0"/>
              <a:t>Bluetooth, Internet of Things, body area networks, wearables, …</a:t>
            </a:r>
          </a:p>
          <a:p>
            <a:r>
              <a:rPr lang="en-IE" dirty="0"/>
              <a:t>LAN – </a:t>
            </a:r>
            <a:r>
              <a:rPr lang="en-IE" dirty="0" err="1"/>
              <a:t>WiFi</a:t>
            </a:r>
            <a:endParaRPr lang="en-IE" dirty="0"/>
          </a:p>
          <a:p>
            <a:pPr lvl="1"/>
            <a:r>
              <a:rPr lang="en-IE" dirty="0"/>
              <a:t>IEEE 802.11</a:t>
            </a:r>
          </a:p>
          <a:p>
            <a:r>
              <a:rPr lang="en-IE" dirty="0"/>
              <a:t>MAN – </a:t>
            </a:r>
            <a:r>
              <a:rPr lang="en-IE" dirty="0" err="1"/>
              <a:t>WiMax</a:t>
            </a:r>
            <a:endParaRPr lang="en-IE" dirty="0"/>
          </a:p>
          <a:p>
            <a:pPr lvl="1"/>
            <a:r>
              <a:rPr lang="en-IE" dirty="0"/>
              <a:t>IEEE 802.16, LTE, 5G</a:t>
            </a:r>
          </a:p>
          <a:p>
            <a:r>
              <a:rPr lang="en-IE" dirty="0"/>
              <a:t>WAN – Satellite phones, radio, TV, data communications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18923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Industrial, Scientific, and Medical (ISM) Band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Initially reserved for non-communications uses of RF energy, such as microwave ovens, radio-frequency heating, and similar purposes</a:t>
            </a:r>
          </a:p>
          <a:p>
            <a:r>
              <a:rPr lang="en-IE" dirty="0"/>
              <a:t>However, the most popular use of these bands is short-range low-power communications systems. </a:t>
            </a:r>
          </a:p>
          <a:p>
            <a:pPr lvl="1"/>
            <a:r>
              <a:rPr lang="en-IE" dirty="0"/>
              <a:t>Cordless telephones, wireless networks, and  Bluetooth devices all use the ISM bands. </a:t>
            </a:r>
          </a:p>
          <a:p>
            <a:pPr lvl="1"/>
            <a:r>
              <a:rPr lang="en-IE" dirty="0"/>
              <a:t>ISM devices do not have regulatory protection against interference from other users of the band </a:t>
            </a:r>
          </a:p>
        </p:txBody>
      </p:sp>
    </p:spTree>
    <p:extLst>
      <p:ext uri="{BB962C8B-B14F-4D97-AF65-F5344CB8AC3E}">
        <p14:creationId xmlns:p14="http://schemas.microsoft.com/office/powerpoint/2010/main" val="2163530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ISM Bands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787006962"/>
              </p:ext>
            </p:extLst>
          </p:nvPr>
        </p:nvGraphicFramePr>
        <p:xfrm>
          <a:off x="273646" y="1344930"/>
          <a:ext cx="8596708" cy="53225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0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0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Frequency Range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Bandwidth 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Centre Frequency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Availability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1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433.050 MHz - 434.790 MHz 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1.84  MHz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433.920 MHz 	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Region 1 (Europe, Africa, Middle East) only and subject to local acceptance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902.000 MHz - 928.000 MHz 	</a:t>
                      </a:r>
                      <a:endParaRPr lang="en-IE" sz="2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26  MHz 	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915.000 MHz 	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Region 2 (Americas, Pacific Islands, Greenland) only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03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2.400 GHz - 2.500 GHz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>
                          <a:effectLst/>
                        </a:rPr>
                        <a:t>100 MHz</a:t>
                      </a:r>
                      <a:endParaRPr lang="en-IE" sz="2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2.450 GHz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 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03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5.725 GHz - 5.875 GHz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150 MHz 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5.800 GHz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200" dirty="0">
                          <a:effectLst/>
                        </a:rPr>
                        <a:t> </a:t>
                      </a:r>
                      <a:endParaRPr lang="en-IE" sz="2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010" marR="5101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237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Wired/Wireless Differences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217110743"/>
              </p:ext>
            </p:extLst>
          </p:nvPr>
        </p:nvGraphicFramePr>
        <p:xfrm>
          <a:off x="367781" y="1502269"/>
          <a:ext cx="8280919" cy="4663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0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6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Characteristics</a:t>
                      </a:r>
                      <a:endParaRPr lang="en-I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802.11 Wireless LAN</a:t>
                      </a:r>
                      <a:endParaRPr lang="en-IE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802.3 Ethernet LAN</a:t>
                      </a:r>
                      <a:endParaRPr lang="en-IE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6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Physical Layer</a:t>
                      </a:r>
                      <a:endParaRPr lang="en-I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Radio Frequency (RF)</a:t>
                      </a:r>
                      <a:endParaRPr lang="en-I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Cable</a:t>
                      </a:r>
                      <a:endParaRPr lang="en-IE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6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Media Access</a:t>
                      </a:r>
                      <a:endParaRPr lang="en-I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Collision Avoidance</a:t>
                      </a:r>
                      <a:endParaRPr lang="en-I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Collision Detection</a:t>
                      </a:r>
                      <a:endParaRPr lang="en-I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243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Availability</a:t>
                      </a:r>
                      <a:endParaRPr lang="en-IE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Anybody with a radio NIC in range of the wireless network</a:t>
                      </a:r>
                      <a:endParaRPr lang="en-I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Cable connection required</a:t>
                      </a:r>
                      <a:endParaRPr lang="en-I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6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Signal Interference</a:t>
                      </a:r>
                      <a:endParaRPr lang="en-IE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Yes</a:t>
                      </a:r>
                      <a:endParaRPr lang="en-IE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N/A</a:t>
                      </a:r>
                      <a:endParaRPr lang="en-I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752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Regulation</a:t>
                      </a:r>
                      <a:endParaRPr lang="en-IE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Additional regulation by local authorities</a:t>
                      </a:r>
                      <a:endParaRPr lang="en-IE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IEEE Standard</a:t>
                      </a:r>
                      <a:endParaRPr lang="en-IE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634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Wired/Wireless Differences (Cont’d)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AP/Switch</a:t>
            </a:r>
          </a:p>
          <a:p>
            <a:r>
              <a:rPr lang="en-IE" dirty="0"/>
              <a:t>Battery power issues</a:t>
            </a:r>
          </a:p>
          <a:p>
            <a:r>
              <a:rPr lang="en-IE" dirty="0"/>
              <a:t>Wireless network devices may not detect a collision</a:t>
            </a:r>
          </a:p>
          <a:p>
            <a:pPr lvl="1"/>
            <a:r>
              <a:rPr lang="en-IE" dirty="0"/>
              <a:t>Actively avoid collisions</a:t>
            </a:r>
          </a:p>
          <a:p>
            <a:r>
              <a:rPr lang="en-IE" dirty="0"/>
              <a:t>Different frame format</a:t>
            </a:r>
          </a:p>
          <a:p>
            <a:r>
              <a:rPr lang="en-IE" dirty="0"/>
              <a:t>More privacy/security issues</a:t>
            </a:r>
          </a:p>
        </p:txBody>
      </p:sp>
    </p:spTree>
    <p:extLst>
      <p:ext uri="{BB962C8B-B14F-4D97-AF65-F5344CB8AC3E}">
        <p14:creationId xmlns:p14="http://schemas.microsoft.com/office/powerpoint/2010/main" val="3962757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Wireless Standards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35562"/>
          </a:xfrm>
        </p:spPr>
        <p:txBody>
          <a:bodyPr/>
          <a:lstStyle/>
          <a:p>
            <a:r>
              <a:rPr lang="en-IE" dirty="0"/>
              <a:t>IEEE 802.11 </a:t>
            </a:r>
            <a:r>
              <a:rPr lang="en-IE" dirty="0">
                <a:sym typeface="Symbol"/>
              </a:rPr>
              <a:t> 1997, 1 to 2 Mbps</a:t>
            </a:r>
          </a:p>
          <a:p>
            <a:r>
              <a:rPr lang="en-IE" dirty="0">
                <a:sym typeface="Symbol"/>
              </a:rPr>
              <a:t>IEEE 802.11a  1999, 5GHz, 54 Mbps  </a:t>
            </a:r>
            <a:r>
              <a:rPr lang="en-IE" dirty="0" err="1">
                <a:sym typeface="Symbol"/>
              </a:rPr>
              <a:t>Wifi</a:t>
            </a:r>
            <a:r>
              <a:rPr lang="en-IE" dirty="0">
                <a:sym typeface="Symbol"/>
              </a:rPr>
              <a:t> 2</a:t>
            </a:r>
          </a:p>
          <a:p>
            <a:r>
              <a:rPr lang="en-IE" dirty="0">
                <a:sym typeface="Symbol"/>
              </a:rPr>
              <a:t>IEEE 802.11b  1999, 2.4 GHz, 11 Mbps  </a:t>
            </a:r>
            <a:r>
              <a:rPr lang="en-IE" dirty="0" err="1">
                <a:sym typeface="Symbol"/>
              </a:rPr>
              <a:t>Wifi</a:t>
            </a:r>
            <a:r>
              <a:rPr lang="en-IE" dirty="0">
                <a:sym typeface="Symbol"/>
              </a:rPr>
              <a:t> 1</a:t>
            </a:r>
          </a:p>
          <a:p>
            <a:r>
              <a:rPr lang="en-IE" dirty="0">
                <a:sym typeface="Symbol"/>
              </a:rPr>
              <a:t>IEEE 802.11g  2003, 2.4 GHz, 54 Mbps  </a:t>
            </a:r>
            <a:r>
              <a:rPr lang="en-IE" dirty="0" err="1">
                <a:sym typeface="Symbol"/>
              </a:rPr>
              <a:t>Wifi</a:t>
            </a:r>
            <a:r>
              <a:rPr lang="en-IE" dirty="0">
                <a:sym typeface="Symbol"/>
              </a:rPr>
              <a:t> 3</a:t>
            </a:r>
          </a:p>
          <a:p>
            <a:r>
              <a:rPr lang="en-IE" dirty="0">
                <a:sym typeface="Symbol"/>
              </a:rPr>
              <a:t>IEEE 802.11n  2009, 2.4 &amp; 5 GHz, 150/300/600 Mbps, MIMO  </a:t>
            </a:r>
            <a:r>
              <a:rPr lang="en-IE" dirty="0" err="1">
                <a:sym typeface="Symbol"/>
              </a:rPr>
              <a:t>Wifi</a:t>
            </a:r>
            <a:r>
              <a:rPr lang="en-IE" dirty="0">
                <a:sym typeface="Symbol"/>
              </a:rPr>
              <a:t> 4</a:t>
            </a:r>
          </a:p>
          <a:p>
            <a:r>
              <a:rPr lang="en-IE" dirty="0">
                <a:sym typeface="Symbol"/>
              </a:rPr>
              <a:t>IEEE 802.11ac  2014, 1.3/ 3.5 Gbps  </a:t>
            </a:r>
            <a:r>
              <a:rPr lang="en-IE" dirty="0" err="1">
                <a:sym typeface="Symbol"/>
              </a:rPr>
              <a:t>Wifi</a:t>
            </a:r>
            <a:r>
              <a:rPr lang="en-IE" dirty="0">
                <a:sym typeface="Symbol"/>
              </a:rPr>
              <a:t> 5</a:t>
            </a:r>
          </a:p>
          <a:p>
            <a:r>
              <a:rPr lang="en-IE" dirty="0">
                <a:sym typeface="Symbol"/>
              </a:rPr>
              <a:t>IEEE 802.11ax  2019, IoT, sensors, low battery usage, better range, 9.6 Gbps  </a:t>
            </a:r>
            <a:r>
              <a:rPr lang="en-IE" dirty="0" err="1">
                <a:sym typeface="Symbol"/>
              </a:rPr>
              <a:t>Wifi</a:t>
            </a:r>
            <a:r>
              <a:rPr lang="en-IE" dirty="0">
                <a:sym typeface="Symbol"/>
              </a:rPr>
              <a:t> 6</a:t>
            </a:r>
          </a:p>
          <a:p>
            <a:r>
              <a:rPr lang="en-IE" dirty="0">
                <a:sym typeface="Symbol"/>
              </a:rPr>
              <a:t>IEEE 802.11be  2024, 2.4, 5 &amp; 6 GHz, 30Gbps  </a:t>
            </a:r>
            <a:r>
              <a:rPr lang="en-IE" dirty="0" err="1">
                <a:sym typeface="Symbol"/>
              </a:rPr>
              <a:t>Wifi</a:t>
            </a:r>
            <a:r>
              <a:rPr lang="en-IE" dirty="0">
                <a:sym typeface="Symbol"/>
              </a:rPr>
              <a:t> 7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77933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Wireless Standards &amp; Certification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Standards ensure interoperability </a:t>
            </a:r>
          </a:p>
          <a:p>
            <a:r>
              <a:rPr lang="en-IE" dirty="0"/>
              <a:t>Internationally, the 3 key organizations influencing WLAN standards are:</a:t>
            </a:r>
          </a:p>
          <a:p>
            <a:pPr lvl="1"/>
            <a:r>
              <a:rPr lang="en-IE" dirty="0"/>
              <a:t>ITU-R regulates allocation of RF bands </a:t>
            </a:r>
          </a:p>
          <a:p>
            <a:pPr lvl="1"/>
            <a:r>
              <a:rPr lang="en-IE" dirty="0"/>
              <a:t>IEEE specifies how RF is modulated to carry information</a:t>
            </a:r>
          </a:p>
          <a:p>
            <a:pPr lvl="1"/>
            <a:r>
              <a:rPr lang="en-IE" dirty="0"/>
              <a:t>Wi-Fi Alliance ensures that vendors make devices that are interoperable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2044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2708-39EB-457A-92D4-D30E4736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MAC Specification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68A760-6A01-46A0-BA9A-CF78906D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13</a:t>
            </a:fld>
            <a:endParaRPr kumimoji="0" lang="en-US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FC5CC88E-2E93-4AD1-A0B0-47C80D0F271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83568" y="1700808"/>
            <a:ext cx="8219536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0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7226-D7A4-49A8-8410-5A519E7F6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MAC Challenges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AD5219-53B1-4E30-9535-96C905793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EFF24-3684-4A8C-93A1-0A1F51F2A27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Multiple frame types</a:t>
            </a:r>
          </a:p>
          <a:p>
            <a:r>
              <a:rPr lang="en-IE" dirty="0"/>
              <a:t>Security</a:t>
            </a:r>
          </a:p>
          <a:p>
            <a:r>
              <a:rPr lang="en-IE" dirty="0"/>
              <a:t>Susceptibility to noise</a:t>
            </a:r>
          </a:p>
          <a:p>
            <a:r>
              <a:rPr lang="en-IE" dirty="0"/>
              <a:t>Hidden node problems</a:t>
            </a:r>
          </a:p>
        </p:txBody>
      </p:sp>
    </p:spTree>
    <p:extLst>
      <p:ext uri="{BB962C8B-B14F-4D97-AF65-F5344CB8AC3E}">
        <p14:creationId xmlns:p14="http://schemas.microsoft.com/office/powerpoint/2010/main" val="4281435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RF Link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Wired </a:t>
            </a:r>
            <a:r>
              <a:rPr lang="en-IE" dirty="0">
                <a:sym typeface="Wingdings 3"/>
              </a:rPr>
              <a:t> assume that transmitted frames have been received correctly</a:t>
            </a:r>
          </a:p>
          <a:p>
            <a:r>
              <a:rPr lang="en-IE" dirty="0">
                <a:sym typeface="Wingdings 3"/>
              </a:rPr>
              <a:t>Radio  unlicensed spectrum = interference + noise</a:t>
            </a:r>
          </a:p>
          <a:p>
            <a:r>
              <a:rPr lang="en-IE" dirty="0">
                <a:sym typeface="Wingdings 3"/>
              </a:rPr>
              <a:t>Wireless devices assume there will be interference </a:t>
            </a:r>
          </a:p>
          <a:p>
            <a:pPr lvl="1"/>
            <a:r>
              <a:rPr lang="en-IE" dirty="0">
                <a:sym typeface="Wingdings 3"/>
              </a:rPr>
              <a:t>Use positive acknowledgements</a:t>
            </a:r>
          </a:p>
          <a:p>
            <a:pPr lvl="1"/>
            <a:r>
              <a:rPr lang="en-IE" dirty="0">
                <a:sym typeface="Wingdings 3"/>
              </a:rPr>
              <a:t>All transmitted frames must be acknowledged</a:t>
            </a:r>
            <a:endParaRPr lang="en-IE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Atomic Operation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  <p:pic>
        <p:nvPicPr>
          <p:cNvPr id="8" name="Content Placeholder 7"/>
          <p:cNvPicPr>
            <a:picLocks noGrp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876300" y="1743075"/>
            <a:ext cx="3695700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5394325" y="1447800"/>
            <a:ext cx="3749675" cy="4572000"/>
          </a:xfrm>
        </p:spPr>
        <p:txBody>
          <a:bodyPr/>
          <a:lstStyle/>
          <a:p>
            <a:r>
              <a:rPr lang="en-IE" dirty="0"/>
              <a:t>802.11 makes sure that atomic sequences are not interrupted by other stations sending frames</a:t>
            </a:r>
          </a:p>
          <a:p>
            <a:r>
              <a:rPr lang="en-IE" dirty="0"/>
              <a:t>Lock out contention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Hidden Nodes Problem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9EDE50-4235-4E69-B7FA-6E629D939EEB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  <p:pic>
        <p:nvPicPr>
          <p:cNvPr id="7" name="Content Placeholder 6" descr="http://upload.wikimedia.org/wikipedia/commons/thumb/2/2b/Wifi_hidden_station_problem.svg/250px-Wifi_hidden_station_problem.svg.png"/>
          <p:cNvPicPr>
            <a:picLocks noGrp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259632" y="2204864"/>
            <a:ext cx="238125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4716016" y="1484784"/>
            <a:ext cx="3749675" cy="4572000"/>
          </a:xfrm>
        </p:spPr>
        <p:txBody>
          <a:bodyPr/>
          <a:lstStyle/>
          <a:p>
            <a:r>
              <a:rPr lang="en-IE" dirty="0"/>
              <a:t>A is transmitting to B</a:t>
            </a:r>
          </a:p>
          <a:p>
            <a:r>
              <a:rPr lang="en-IE" dirty="0"/>
              <a:t>C is out of range of A so it won’t hear A’s transmission</a:t>
            </a:r>
          </a:p>
          <a:p>
            <a:r>
              <a:rPr lang="en-IE" dirty="0"/>
              <a:t>C thinks medium is free and transmits – collision</a:t>
            </a:r>
          </a:p>
          <a:p>
            <a:r>
              <a:rPr lang="en-IE" dirty="0"/>
              <a:t>A &amp; C are hidden from each other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CSMA/CA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9EDE50-4235-4E69-B7FA-6E629D939EEB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Wireless = shared medium </a:t>
            </a:r>
            <a:r>
              <a:rPr lang="en-IE" dirty="0">
                <a:sym typeface="Wingdings 3"/>
              </a:rPr>
              <a:t> deal with collisions</a:t>
            </a:r>
          </a:p>
          <a:p>
            <a:r>
              <a:rPr lang="en-IE" dirty="0"/>
              <a:t>IEEE 802.3 uses CSMA/CD</a:t>
            </a:r>
          </a:p>
          <a:p>
            <a:pPr lvl="1"/>
            <a:r>
              <a:rPr lang="en-IE" dirty="0"/>
              <a:t>Won’t work in 802.11 because of hidden nodes</a:t>
            </a:r>
          </a:p>
          <a:p>
            <a:r>
              <a:rPr lang="en-IE" dirty="0"/>
              <a:t>Wireless nodes may not be able to detect collisions</a:t>
            </a:r>
          </a:p>
          <a:p>
            <a:pPr lvl="1"/>
            <a:r>
              <a:rPr lang="en-IE" dirty="0"/>
              <a:t>If collisions can’t be detected they must be avoided</a:t>
            </a:r>
          </a:p>
          <a:p>
            <a:r>
              <a:rPr lang="en-IE" dirty="0"/>
              <a:t>CSMA/CA uses a physical and virtual carrier sense mechanism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Virtual Carrier Sense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Nodes wishing to transmit must first send a RTS</a:t>
            </a:r>
          </a:p>
          <a:p>
            <a:r>
              <a:rPr lang="en-IE" dirty="0"/>
              <a:t>The receiving station responds with a CTS</a:t>
            </a:r>
          </a:p>
          <a:p>
            <a:r>
              <a:rPr lang="en-IE" dirty="0"/>
              <a:t>The RTS &amp; CTS contain a network allocation vector (NAV) which indicates the amount of time the medium is reserved for</a:t>
            </a:r>
          </a:p>
          <a:p>
            <a:pPr lvl="1"/>
            <a:r>
              <a:rPr lang="en-IE" dirty="0"/>
              <a:t>NAV = data frame + ACK + </a:t>
            </a:r>
            <a:r>
              <a:rPr lang="en-IE" dirty="0" err="1"/>
              <a:t>interframe</a:t>
            </a:r>
            <a:r>
              <a:rPr lang="en-IE" dirty="0"/>
              <a:t> spaces</a:t>
            </a:r>
          </a:p>
          <a:p>
            <a:r>
              <a:rPr lang="en-IE" dirty="0"/>
              <a:t>All stations in the range of the RTS &amp; CTS learns about the medium reservation</a:t>
            </a:r>
          </a:p>
          <a:p>
            <a:pPr lvl="1"/>
            <a:r>
              <a:rPr lang="en-IE" dirty="0"/>
              <a:t>How does this help with the hidden node problem?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Virtual Carrier Sense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Stations countdown from NAV to 0</a:t>
            </a:r>
          </a:p>
          <a:p>
            <a:r>
              <a:rPr lang="en-IE" dirty="0"/>
              <a:t>While NAV </a:t>
            </a:r>
            <a:r>
              <a:rPr lang="en-IE" dirty="0">
                <a:sym typeface="Symbol"/>
              </a:rPr>
              <a:t> 0, the medium is busy</a:t>
            </a:r>
          </a:p>
          <a:p>
            <a:r>
              <a:rPr lang="en-IE" dirty="0">
                <a:sym typeface="Symbol"/>
              </a:rPr>
              <a:t>When NAV = 0, the medium is idle</a:t>
            </a:r>
          </a:p>
          <a:p>
            <a:pPr>
              <a:buNone/>
            </a:pP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RF Link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Wired </a:t>
            </a:r>
            <a:r>
              <a:rPr lang="en-IE" dirty="0">
                <a:sym typeface="Wingdings 3"/>
              </a:rPr>
              <a:t> assume that transmitted frames have been received correctly</a:t>
            </a:r>
          </a:p>
          <a:p>
            <a:r>
              <a:rPr lang="en-IE" dirty="0">
                <a:sym typeface="Wingdings 3"/>
              </a:rPr>
              <a:t>Radio  unlicensed spectrum = interference + noise</a:t>
            </a:r>
          </a:p>
          <a:p>
            <a:r>
              <a:rPr lang="en-IE" dirty="0">
                <a:sym typeface="Wingdings 3"/>
              </a:rPr>
              <a:t>Wireless devices assume there will be interference </a:t>
            </a:r>
          </a:p>
          <a:p>
            <a:pPr lvl="1"/>
            <a:r>
              <a:rPr lang="en-IE" dirty="0">
                <a:sym typeface="Wingdings 3"/>
              </a:rPr>
              <a:t>Use positive acknowledgements</a:t>
            </a:r>
          </a:p>
          <a:p>
            <a:pPr lvl="1"/>
            <a:r>
              <a:rPr lang="en-IE" dirty="0">
                <a:sym typeface="Wingdings 3"/>
              </a:rPr>
              <a:t>All transmitted frames must be acknowledged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Atomic Operation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E" dirty="0"/>
              <a:t>802.11 makes sure that atomic sequences are not interrupted by other stations sending frames</a:t>
            </a:r>
          </a:p>
          <a:p>
            <a:r>
              <a:rPr lang="en-IE" dirty="0"/>
              <a:t>Lock out contention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  <p:pic>
        <p:nvPicPr>
          <p:cNvPr id="8" name="Content Placeholder 7"/>
          <p:cNvPicPr>
            <a:picLocks noGrp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2045" y="2726373"/>
            <a:ext cx="2956560" cy="2697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Hidden Nodes Problem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E" dirty="0"/>
              <a:t>A is transmitting to B</a:t>
            </a:r>
          </a:p>
          <a:p>
            <a:r>
              <a:rPr lang="en-IE" dirty="0"/>
              <a:t>C is out of range of A so it won’t hear A’s transmission</a:t>
            </a:r>
          </a:p>
          <a:p>
            <a:r>
              <a:rPr lang="en-IE" dirty="0"/>
              <a:t>C thinks medium is free and transmits – collision</a:t>
            </a:r>
          </a:p>
          <a:p>
            <a:r>
              <a:rPr lang="en-IE" dirty="0"/>
              <a:t>A &amp; C are hidden from each other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9EDE50-4235-4E69-B7FA-6E629D939EEB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  <p:pic>
        <p:nvPicPr>
          <p:cNvPr id="7" name="Content Placeholder 6" descr="http://upload.wikimedia.org/wikipedia/commons/thumb/2/2b/Wifi_hidden_station_problem.svg/250px-Wifi_hidden_station_problem.svg.png"/>
          <p:cNvPicPr>
            <a:picLocks noGrp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348880"/>
            <a:ext cx="3312368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CSMA/CA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Wireless = shared medium </a:t>
            </a:r>
            <a:r>
              <a:rPr lang="en-IE" dirty="0">
                <a:sym typeface="Wingdings 3"/>
              </a:rPr>
              <a:t> deal with collisions</a:t>
            </a:r>
          </a:p>
          <a:p>
            <a:r>
              <a:rPr lang="en-IE" dirty="0"/>
              <a:t>IEEE 802.3 uses CSMA/CD</a:t>
            </a:r>
          </a:p>
          <a:p>
            <a:pPr lvl="1"/>
            <a:r>
              <a:rPr lang="en-IE" dirty="0"/>
              <a:t>Won’t work in 802.11 because of hidden nodes</a:t>
            </a:r>
          </a:p>
          <a:p>
            <a:r>
              <a:rPr lang="en-IE" dirty="0"/>
              <a:t>Wireless nodes may not be able to detect collisions</a:t>
            </a:r>
          </a:p>
          <a:p>
            <a:pPr lvl="1"/>
            <a:r>
              <a:rPr lang="en-IE" dirty="0"/>
              <a:t>If collisions can’t be detected they must be avoided</a:t>
            </a:r>
          </a:p>
          <a:p>
            <a:r>
              <a:rPr lang="en-IE" dirty="0"/>
              <a:t>CSMA/CA uses a physical and virtual carrier sense mechanism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9EDE50-4235-4E69-B7FA-6E629D939EEB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Frame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Management frames </a:t>
            </a:r>
            <a:r>
              <a:rPr lang="en-GB" dirty="0">
                <a:sym typeface="Wingdings 3"/>
              </a:rPr>
              <a:t></a:t>
            </a:r>
            <a:r>
              <a:rPr lang="en-GB" dirty="0"/>
              <a:t> Used for joining and leaving a wireless cell.  Management frame types include association request, association response, and </a:t>
            </a:r>
            <a:r>
              <a:rPr lang="en-GB" dirty="0" err="1"/>
              <a:t>reassociation</a:t>
            </a:r>
            <a:r>
              <a:rPr lang="en-GB" dirty="0"/>
              <a:t> request</a:t>
            </a:r>
            <a:endParaRPr lang="en-IE" dirty="0"/>
          </a:p>
          <a:p>
            <a:pPr lvl="0"/>
            <a:r>
              <a:rPr lang="en-GB" dirty="0"/>
              <a:t>Control frames </a:t>
            </a:r>
            <a:r>
              <a:rPr lang="en-GB" dirty="0">
                <a:sym typeface="Wingdings 3"/>
              </a:rPr>
              <a:t></a:t>
            </a:r>
            <a:r>
              <a:rPr lang="en-GB" dirty="0"/>
              <a:t> Used to acknowledge when data frames are received. </a:t>
            </a:r>
            <a:endParaRPr lang="en-IE" dirty="0"/>
          </a:p>
          <a:p>
            <a:pPr lvl="0"/>
            <a:r>
              <a:rPr lang="en-GB" dirty="0"/>
              <a:t>Data frames </a:t>
            </a:r>
            <a:r>
              <a:rPr lang="en-GB" dirty="0">
                <a:sym typeface="Wingdings 3"/>
              </a:rPr>
              <a:t></a:t>
            </a:r>
            <a:r>
              <a:rPr lang="en-GB" dirty="0"/>
              <a:t> Frames that contain data.</a:t>
            </a:r>
            <a:endParaRPr lang="en-IE" dirty="0"/>
          </a:p>
          <a:p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911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Frame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4 address fields – not all used</a:t>
            </a:r>
          </a:p>
          <a:p>
            <a:r>
              <a:rPr lang="en-IE" dirty="0"/>
              <a:t>No preamble (physical layer), no length or type field (LLC)</a:t>
            </a:r>
          </a:p>
          <a:p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  <p:pic>
        <p:nvPicPr>
          <p:cNvPr id="6" name="Picture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933056"/>
            <a:ext cx="8208912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18353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Frame Control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27</a:t>
            </a:fld>
            <a:endParaRPr lang="en-GB"/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492896"/>
            <a:ext cx="8280920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788850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ToDS</a:t>
            </a:r>
            <a:r>
              <a:rPr lang="en-IE" dirty="0"/>
              <a:t> / </a:t>
            </a:r>
            <a:r>
              <a:rPr lang="en-IE" dirty="0" err="1"/>
              <a:t>FromDS</a:t>
            </a:r>
            <a:endParaRPr lang="en-IE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71600" y="2204864"/>
          <a:ext cx="7560841" cy="38884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4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8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To DS=0 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To DS=1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48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From DS=0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All management and control frames.  Data frames within an IBSS (never infrastructure data frames)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Data frames transmitted from a wireless station in an infrastructure network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48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From DS=1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Data frames received for a wireless station in an infrastructure network. Data frames on a "wireless bridge"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396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Duration/ID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Bit 15 = 0 </a:t>
            </a:r>
            <a:r>
              <a:rPr lang="en-IE" dirty="0">
                <a:sym typeface="Symbol"/>
              </a:rPr>
              <a:t> NAV in s</a:t>
            </a:r>
          </a:p>
          <a:p>
            <a:r>
              <a:rPr lang="en-IE" dirty="0">
                <a:sym typeface="Symbol"/>
              </a:rPr>
              <a:t>Bit 0 - 14 = 0, </a:t>
            </a:r>
            <a:r>
              <a:rPr lang="en-IE" dirty="0"/>
              <a:t>Bit 15 = 1 </a:t>
            </a:r>
            <a:r>
              <a:rPr lang="en-IE" dirty="0">
                <a:sym typeface="Symbol"/>
              </a:rPr>
              <a:t> contention free period</a:t>
            </a:r>
          </a:p>
          <a:p>
            <a:r>
              <a:rPr lang="en-IE" dirty="0"/>
              <a:t>Bit 14, 15 = 0 </a:t>
            </a:r>
            <a:r>
              <a:rPr lang="en-IE" dirty="0">
                <a:sym typeface="Symbol"/>
              </a:rPr>
              <a:t> PS-Poll frame, battery saving</a:t>
            </a:r>
            <a:r>
              <a:rPr lang="en-IE" dirty="0"/>
              <a:t>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429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Address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Destination Address – final recipient</a:t>
            </a:r>
          </a:p>
          <a:p>
            <a:r>
              <a:rPr lang="en-IE" dirty="0"/>
              <a:t>Source Address – original source</a:t>
            </a:r>
          </a:p>
          <a:p>
            <a:r>
              <a:rPr lang="en-IE" dirty="0"/>
              <a:t>Receiver Address – next device</a:t>
            </a:r>
          </a:p>
          <a:p>
            <a:r>
              <a:rPr lang="en-IE" dirty="0"/>
              <a:t>Transmitter Address – only used in wireless bridging,  wireless interface transmitting the frame</a:t>
            </a:r>
          </a:p>
          <a:p>
            <a:r>
              <a:rPr lang="en-IE" dirty="0"/>
              <a:t>BSSID Address – wireless interface on the AP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589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Address Field Usage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99592" y="2132858"/>
          <a:ext cx="7776864" cy="37853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0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0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1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15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3610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Function 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</a:rPr>
                        <a:t>ToDS</a:t>
                      </a:r>
                      <a:r>
                        <a:rPr lang="en-GB" sz="1800" dirty="0">
                          <a:effectLst/>
                        </a:rPr>
                        <a:t> 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</a:rPr>
                        <a:t>FromDS</a:t>
                      </a:r>
                      <a:r>
                        <a:rPr lang="en-GB" sz="1800" dirty="0">
                          <a:effectLst/>
                        </a:rPr>
                        <a:t> 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Address 1 </a:t>
                      </a:r>
                      <a:r>
                        <a:rPr lang="en-GB" sz="1200" dirty="0">
                          <a:effectLst/>
                        </a:rPr>
                        <a:t>(RX)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Address 2 </a:t>
                      </a:r>
                      <a:r>
                        <a:rPr lang="en-GB" sz="1100" dirty="0">
                          <a:effectLst/>
                        </a:rPr>
                        <a:t>(TX)</a:t>
                      </a:r>
                      <a:endParaRPr lang="en-IE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Address 3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Address 4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5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IBSS 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0 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0 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DA 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SA 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BSSID 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not used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89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To AP (infra.) 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1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 0 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BSSID 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SA 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DA 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not used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89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From AP (infra.) 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0 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1 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DA 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BSSID 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SA 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not used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89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WDS (bridge)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1 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1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 RA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 TA</a:t>
                      </a:r>
                      <a:endParaRPr lang="en-IE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 DA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 SA</a:t>
                      </a:r>
                      <a:endParaRPr lang="en-IE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163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Sequence Control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 byte </a:t>
            </a:r>
            <a:r>
              <a:rPr lang="en-GB" dirty="0">
                <a:sym typeface="Symbol"/>
              </a:rPr>
              <a:t></a:t>
            </a:r>
            <a:r>
              <a:rPr lang="en-GB" dirty="0"/>
              <a:t> defragmentation and discarding duplicate frames</a:t>
            </a:r>
          </a:p>
          <a:p>
            <a:r>
              <a:rPr lang="en-GB" dirty="0"/>
              <a:t>4-bit fragment number field and a 12-bit sequence number field</a:t>
            </a:r>
          </a:p>
          <a:p>
            <a:r>
              <a:rPr lang="en-GB" dirty="0"/>
              <a:t>Each upper layer PDU is given a sequence number – modulo 4096</a:t>
            </a:r>
          </a:p>
          <a:p>
            <a:r>
              <a:rPr lang="en-GB" dirty="0"/>
              <a:t>Fragments are assigned the same sequence number 1</a:t>
            </a:r>
            <a:r>
              <a:rPr lang="en-GB" baseline="30000" dirty="0"/>
              <a:t>st</a:t>
            </a:r>
            <a:r>
              <a:rPr lang="en-GB" dirty="0"/>
              <a:t> fragment = 0</a:t>
            </a:r>
          </a:p>
          <a:p>
            <a:r>
              <a:rPr lang="en-GB" dirty="0"/>
              <a:t>Retransmissions get the same sequence number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08929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Frame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Maximum payload of 2,304 bytes </a:t>
            </a:r>
          </a:p>
          <a:p>
            <a:r>
              <a:rPr lang="en-GB" dirty="0"/>
              <a:t>Increases to 2,312 bytes to accommodate WEP overhead</a:t>
            </a:r>
          </a:p>
          <a:p>
            <a:r>
              <a:rPr lang="en-GB" dirty="0"/>
              <a:t>802.2 LLC headers use 8 bytes for a maximum network protocol payload of 2,296 bytes</a:t>
            </a:r>
          </a:p>
          <a:p>
            <a:r>
              <a:rPr lang="en-GB" dirty="0"/>
              <a:t>On IP networks, Path MTU Discovery (RFC 1191) will prevent the transmission of frames with data fields larger than 1,500 bytes</a:t>
            </a:r>
            <a:endParaRPr lang="en-IE" dirty="0"/>
          </a:p>
          <a:p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0560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Calculated over the entire frame – header + data</a:t>
            </a:r>
          </a:p>
          <a:p>
            <a:r>
              <a:rPr lang="en-IE" dirty="0"/>
              <a:t>Same as 802.3 but must be recalculated by the AP since the headers change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Dundalk Institute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FA4C04-2C61-4B46-AA44-91C080DBACA9}" type="slidenum">
              <a:rPr lang="en-GB" smtClean="0"/>
              <a:pPr>
                <a:defRPr/>
              </a:pPr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1265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1458</TotalTime>
  <Words>1487</Words>
  <Application>Microsoft Office PowerPoint</Application>
  <PresentationFormat>On-screen Show (4:3)</PresentationFormat>
  <Paragraphs>287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Calibri</vt:lpstr>
      <vt:lpstr>Franklin Gothic Book</vt:lpstr>
      <vt:lpstr>Perpetua</vt:lpstr>
      <vt:lpstr>Wingdings 2</vt:lpstr>
      <vt:lpstr>Equity</vt:lpstr>
      <vt:lpstr>Networking</vt:lpstr>
      <vt:lpstr>Introduction</vt:lpstr>
      <vt:lpstr>Advantages</vt:lpstr>
      <vt:lpstr>Issues with Wireless</vt:lpstr>
      <vt:lpstr>Affects of Mobility</vt:lpstr>
      <vt:lpstr>Types of Wireless Systems</vt:lpstr>
      <vt:lpstr>Industrial, Scientific, and Medical (ISM) Band</vt:lpstr>
      <vt:lpstr>ISM Bands</vt:lpstr>
      <vt:lpstr>Wired/Wireless Differences</vt:lpstr>
      <vt:lpstr>Wired/Wireless Differences (Cont’d)</vt:lpstr>
      <vt:lpstr>Wireless Standards</vt:lpstr>
      <vt:lpstr>Wireless Standards &amp; Certification</vt:lpstr>
      <vt:lpstr>MAC Specification</vt:lpstr>
      <vt:lpstr>MAC Challenges</vt:lpstr>
      <vt:lpstr>RF Link Quality</vt:lpstr>
      <vt:lpstr>Atomic Operation</vt:lpstr>
      <vt:lpstr>Hidden Nodes Problem</vt:lpstr>
      <vt:lpstr>CSMA/CA</vt:lpstr>
      <vt:lpstr>Virtual Carrier Sense</vt:lpstr>
      <vt:lpstr>Virtual Carrier Sense</vt:lpstr>
      <vt:lpstr>RF Link Quality</vt:lpstr>
      <vt:lpstr>Atomic Operation</vt:lpstr>
      <vt:lpstr>Hidden Nodes Problem</vt:lpstr>
      <vt:lpstr>CSMA/CA</vt:lpstr>
      <vt:lpstr>Frame Types</vt:lpstr>
      <vt:lpstr>Frame Format</vt:lpstr>
      <vt:lpstr>Frame Control</vt:lpstr>
      <vt:lpstr>ToDS / FromDS</vt:lpstr>
      <vt:lpstr>Duration/ID</vt:lpstr>
      <vt:lpstr>Address Fields</vt:lpstr>
      <vt:lpstr>Address Field Usage</vt:lpstr>
      <vt:lpstr>Sequence Control Field</vt:lpstr>
      <vt:lpstr>Frame Body</vt:lpstr>
      <vt:lpstr>FCS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Network Security</dc:title>
  <dc:creator>Sky</dc:creator>
  <cp:lastModifiedBy>Frances Byrne</cp:lastModifiedBy>
  <cp:revision>85</cp:revision>
  <dcterms:created xsi:type="dcterms:W3CDTF">2017-01-20T17:30:53Z</dcterms:created>
  <dcterms:modified xsi:type="dcterms:W3CDTF">2025-02-24T15:29:05Z</dcterms:modified>
</cp:coreProperties>
</file>